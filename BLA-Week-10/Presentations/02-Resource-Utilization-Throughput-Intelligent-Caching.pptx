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buNone/>
    </a:defPPr>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83" d="100"/>
          <a:sy n="83" d="100"/>
        </p:scale>
        <p:origin x="408"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4FF70-7B0D-46EF-9370-2E0876ADA95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6FB0E0C3-4F51-40DA-AAE3-FD73C0994075}"/>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6082BE8A-046D-47C6-BEBC-B460CA3CC598}"/>
              </a:ext>
            </a:extLst>
          </p:cNvPr>
          <p:cNvSpPr>
            <a:spLocks noGrp="1"/>
          </p:cNvSpPr>
          <p:nvPr>
            <p:ph type="dt" idx="10"/>
          </p:nvPr>
        </p:nvSpPr>
        <p:spPr/>
        <p:txBody>
          <a:bodyPr/>
          <a:lstStyle/>
          <a:p>
            <a:fld id="{5BCAD085-E8A6-8845-BD4E-CB4CCA059FC4}" type="datetimeFigureOut">
              <a:t>10/27/2026</a:t>
            </a:fld>
            <a:endParaRPr/>
          </a:p>
        </p:txBody>
      </p:sp>
      <p:sp>
        <p:nvSpPr>
          <p:cNvPr id="5" name="Footer Placeholder 4">
            <a:extLst>
              <a:ext uri="{FF2B5EF4-FFF2-40B4-BE49-F238E27FC236}">
                <a16:creationId xmlns:a16="http://schemas.microsoft.com/office/drawing/2014/main" id="{FDB00967-5BB9-4349-BDF7-85EEAA41B6F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7763380-2382-4044-B93D-82160D22BA9A}"/>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BF021-5533-4BD3-BBFA-F94C24120EE2}"/>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77A0A35-AE93-4C08-AB2E-D01FC0E734D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06225EC-6A3B-4533-8AB6-E8319D4A8E7D}"/>
              </a:ext>
            </a:extLst>
          </p:cNvPr>
          <p:cNvSpPr>
            <a:spLocks noGrp="1"/>
          </p:cNvSpPr>
          <p:nvPr>
            <p:ph type="dt" idx="10"/>
          </p:nvPr>
        </p:nvSpPr>
        <p:spPr/>
        <p:txBody>
          <a:bodyPr/>
          <a:lstStyle/>
          <a:p>
            <a:fld id="{5BCAD085-E8A6-8845-BD4E-CB4CCA059FC4}" type="datetimeFigureOut">
              <a:t>10/27/2026</a:t>
            </a:fld>
            <a:endParaRPr/>
          </a:p>
        </p:txBody>
      </p:sp>
      <p:sp>
        <p:nvSpPr>
          <p:cNvPr id="5" name="Footer Placeholder 4">
            <a:extLst>
              <a:ext uri="{FF2B5EF4-FFF2-40B4-BE49-F238E27FC236}">
                <a16:creationId xmlns:a16="http://schemas.microsoft.com/office/drawing/2014/main" id="{D8A0A92E-79F3-436D-A705-7A014E88AF5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13A8B7F-5CF2-4454-8177-EAB3C66A7A0E}"/>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FCC6D-0E23-4FFC-A1CD-70C656D35AF9}"/>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E7B1481B-8314-40C2-8794-4A5DEC395AD7}"/>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5A18E847-6478-428A-84AC-8674F4668901}"/>
              </a:ext>
            </a:extLst>
          </p:cNvPr>
          <p:cNvSpPr>
            <a:spLocks noGrp="1"/>
          </p:cNvSpPr>
          <p:nvPr>
            <p:ph type="dt" idx="10"/>
          </p:nvPr>
        </p:nvSpPr>
        <p:spPr/>
        <p:txBody>
          <a:bodyPr/>
          <a:lstStyle/>
          <a:p>
            <a:fld id="{5BCAD085-E8A6-8845-BD4E-CB4CCA059FC4}" type="datetimeFigureOut">
              <a:t>10/27/2026</a:t>
            </a:fld>
            <a:endParaRPr/>
          </a:p>
        </p:txBody>
      </p:sp>
      <p:sp>
        <p:nvSpPr>
          <p:cNvPr id="5" name="Footer Placeholder 4">
            <a:extLst>
              <a:ext uri="{FF2B5EF4-FFF2-40B4-BE49-F238E27FC236}">
                <a16:creationId xmlns:a16="http://schemas.microsoft.com/office/drawing/2014/main" id="{2C838575-0679-4BAF-9BC3-C1394E27DB3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9223A4C-B27E-4CF1-BE86-15CEBC7638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1050C-1840-485C-A8AF-CF8D03C39EC5}"/>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E7FC634B-4F63-483D-AEB3-36A92D28987C}"/>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F2AA5B91-50D5-4AA1-A27E-448722F8AC71}"/>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22EC1C2B-EAF9-44C3-AFD1-267E3F0C18F6}"/>
              </a:ext>
            </a:extLst>
          </p:cNvPr>
          <p:cNvSpPr>
            <a:spLocks noGrp="1"/>
          </p:cNvSpPr>
          <p:nvPr>
            <p:ph type="dt" idx="10"/>
          </p:nvPr>
        </p:nvSpPr>
        <p:spPr/>
        <p:txBody>
          <a:bodyPr/>
          <a:lstStyle/>
          <a:p>
            <a:fld id="{5BCAD085-E8A6-8845-BD4E-CB4CCA059FC4}" type="datetimeFigureOut">
              <a:t>10/27/2026</a:t>
            </a:fld>
            <a:endParaRPr/>
          </a:p>
        </p:txBody>
      </p:sp>
      <p:sp>
        <p:nvSpPr>
          <p:cNvPr id="6" name="Footer Placeholder 5">
            <a:extLst>
              <a:ext uri="{FF2B5EF4-FFF2-40B4-BE49-F238E27FC236}">
                <a16:creationId xmlns:a16="http://schemas.microsoft.com/office/drawing/2014/main" id="{FA4B82C6-929D-4D08-98F9-D94607C64EE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22D0AEF-B0EB-43B3-8D2D-0E31E268F12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CDD8D-E65B-43B4-98AC-7917A6BD4D6B}"/>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BE1950F6-D557-41DD-9A35-77F9908D09A1}"/>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9849A920-929B-43BB-9D1D-316C304EF1EA}"/>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B9C739AC-0A9B-4E36-99EA-E82C4425707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74B97230-7FB2-4970-974F-1BFE1059A5E6}"/>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A3B16892-A4D9-408A-866A-B12CE8D725E9}"/>
              </a:ext>
            </a:extLst>
          </p:cNvPr>
          <p:cNvSpPr>
            <a:spLocks noGrp="1"/>
          </p:cNvSpPr>
          <p:nvPr>
            <p:ph type="dt" idx="10"/>
          </p:nvPr>
        </p:nvSpPr>
        <p:spPr/>
        <p:txBody>
          <a:bodyPr/>
          <a:lstStyle/>
          <a:p>
            <a:fld id="{5BCAD085-E8A6-8845-BD4E-CB4CCA059FC4}" type="datetimeFigureOut">
              <a:t>10/27/2026</a:t>
            </a:fld>
            <a:endParaRPr/>
          </a:p>
        </p:txBody>
      </p:sp>
      <p:sp>
        <p:nvSpPr>
          <p:cNvPr id="8" name="Footer Placeholder 7">
            <a:extLst>
              <a:ext uri="{FF2B5EF4-FFF2-40B4-BE49-F238E27FC236}">
                <a16:creationId xmlns:a16="http://schemas.microsoft.com/office/drawing/2014/main" id="{462A5F7D-FF46-4642-8085-E84D2D70831F}"/>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71DE863B-A9D5-466E-874C-0A920B9567D6}"/>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86A30-1666-412A-97BD-BC01E5F5E274}"/>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EDFAA03-71E6-472F-9485-A791C4AE36A3}"/>
              </a:ext>
            </a:extLst>
          </p:cNvPr>
          <p:cNvSpPr>
            <a:spLocks noGrp="1"/>
          </p:cNvSpPr>
          <p:nvPr>
            <p:ph type="dt" idx="10"/>
          </p:nvPr>
        </p:nvSpPr>
        <p:spPr/>
        <p:txBody>
          <a:bodyPr/>
          <a:lstStyle/>
          <a:p>
            <a:fld id="{5BCAD085-E8A6-8845-BD4E-CB4CCA059FC4}" type="datetimeFigureOut">
              <a:t>10/27/2026</a:t>
            </a:fld>
            <a:endParaRPr/>
          </a:p>
        </p:txBody>
      </p:sp>
      <p:sp>
        <p:nvSpPr>
          <p:cNvPr id="4" name="Footer Placeholder 3">
            <a:extLst>
              <a:ext uri="{FF2B5EF4-FFF2-40B4-BE49-F238E27FC236}">
                <a16:creationId xmlns:a16="http://schemas.microsoft.com/office/drawing/2014/main" id="{5FB23C89-56D7-42E0-85D0-D0742DCF0589}"/>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34FD0E76-4DD7-4264-B139-6CE40680DC36}"/>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C3D622-2A83-449D-8101-4159959BA88C}"/>
              </a:ext>
            </a:extLst>
          </p:cNvPr>
          <p:cNvSpPr>
            <a:spLocks noGrp="1"/>
          </p:cNvSpPr>
          <p:nvPr>
            <p:ph type="dt" idx="10"/>
          </p:nvPr>
        </p:nvSpPr>
        <p:spPr/>
        <p:txBody>
          <a:bodyPr/>
          <a:lstStyle/>
          <a:p>
            <a:fld id="{5BCAD085-E8A6-8845-BD4E-CB4CCA059FC4}" type="datetimeFigureOut">
              <a:t>10/27/2026</a:t>
            </a:fld>
            <a:endParaRPr/>
          </a:p>
        </p:txBody>
      </p:sp>
      <p:sp>
        <p:nvSpPr>
          <p:cNvPr id="3" name="Footer Placeholder 2">
            <a:extLst>
              <a:ext uri="{FF2B5EF4-FFF2-40B4-BE49-F238E27FC236}">
                <a16:creationId xmlns:a16="http://schemas.microsoft.com/office/drawing/2014/main" id="{44DC0EC1-52F7-49FA-9E2B-FF47B1AC7E1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83D327E4-0E2D-40EE-9585-966EFBE3D09E}"/>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50BF2-1CDE-4E5A-AC7C-7A5759D8D3E7}"/>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E90C5AC1-9409-43DF-8301-BD5BDB7B2F88}"/>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A89166DD-EBA7-4D82-957C-1C423B3BC9F6}"/>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85F9A380-3897-4AF2-9074-18DB99F8DD53}"/>
              </a:ext>
            </a:extLst>
          </p:cNvPr>
          <p:cNvSpPr>
            <a:spLocks noGrp="1"/>
          </p:cNvSpPr>
          <p:nvPr>
            <p:ph type="dt" idx="10"/>
          </p:nvPr>
        </p:nvSpPr>
        <p:spPr/>
        <p:txBody>
          <a:bodyPr/>
          <a:lstStyle/>
          <a:p>
            <a:fld id="{5BCAD085-E8A6-8845-BD4E-CB4CCA059FC4}" type="datetimeFigureOut">
              <a:t>10/27/2026</a:t>
            </a:fld>
            <a:endParaRPr/>
          </a:p>
        </p:txBody>
      </p:sp>
      <p:sp>
        <p:nvSpPr>
          <p:cNvPr id="6" name="Footer Placeholder 5">
            <a:extLst>
              <a:ext uri="{FF2B5EF4-FFF2-40B4-BE49-F238E27FC236}">
                <a16:creationId xmlns:a16="http://schemas.microsoft.com/office/drawing/2014/main" id="{6FEAADF1-67D2-4BAB-8881-7037D847F1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F5EE48A-AF47-48E4-B913-B788057D164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79A3A-6DB1-49BD-9DBF-92B5857817E5}"/>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2556259A-036B-4BAE-965A-09C7EE90E337}"/>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5FC04663-55E0-4C7F-89D2-1C9A86BA7595}"/>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8C57794F-9EDF-419C-A0E2-AF8903921CF2}"/>
              </a:ext>
            </a:extLst>
          </p:cNvPr>
          <p:cNvSpPr>
            <a:spLocks noGrp="1"/>
          </p:cNvSpPr>
          <p:nvPr>
            <p:ph type="dt" idx="10"/>
          </p:nvPr>
        </p:nvSpPr>
        <p:spPr/>
        <p:txBody>
          <a:bodyPr/>
          <a:lstStyle/>
          <a:p>
            <a:fld id="{5BCAD085-E8A6-8845-BD4E-CB4CCA059FC4}" type="datetimeFigureOut">
              <a:t>10/27/2026</a:t>
            </a:fld>
            <a:endParaRPr/>
          </a:p>
        </p:txBody>
      </p:sp>
      <p:sp>
        <p:nvSpPr>
          <p:cNvPr id="6" name="Footer Placeholder 5">
            <a:extLst>
              <a:ext uri="{FF2B5EF4-FFF2-40B4-BE49-F238E27FC236}">
                <a16:creationId xmlns:a16="http://schemas.microsoft.com/office/drawing/2014/main" id="{45B5A1F9-4069-4FEC-BD4E-83D2FD09685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C813D10-DB5F-4236-A014-2748AC5A562D}"/>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5D4D9-287E-4A40-AD12-E5A5EE232AC5}"/>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BDC419E8-2772-4AD4-A5F8-FAFB35DA7E45}"/>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2828723-94D2-4095-B097-28C4FE91F1A4}"/>
              </a:ext>
            </a:extLst>
          </p:cNvPr>
          <p:cNvSpPr>
            <a:spLocks noGrp="1"/>
          </p:cNvSpPr>
          <p:nvPr>
            <p:ph type="dt" idx="10"/>
          </p:nvPr>
        </p:nvSpPr>
        <p:spPr/>
        <p:txBody>
          <a:bodyPr/>
          <a:lstStyle/>
          <a:p>
            <a:fld id="{5BCAD085-E8A6-8845-BD4E-CB4CCA059FC4}" type="datetimeFigureOut">
              <a:t>10/27/2026</a:t>
            </a:fld>
            <a:endParaRPr/>
          </a:p>
        </p:txBody>
      </p:sp>
      <p:sp>
        <p:nvSpPr>
          <p:cNvPr id="5" name="Footer Placeholder 4">
            <a:extLst>
              <a:ext uri="{FF2B5EF4-FFF2-40B4-BE49-F238E27FC236}">
                <a16:creationId xmlns:a16="http://schemas.microsoft.com/office/drawing/2014/main" id="{BFD34CD9-8293-48CA-8918-3BF2254CF93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941ED8A-79D3-4124-A99D-0B0FC5491E36}"/>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BD6AD8-C351-46D7-81A1-9834DB1412B5}"/>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F6234AA3-490C-45F9-BEED-162252F384AC}"/>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B1EC0A6-A79F-4647-8330-67B9C1D00CBF}"/>
              </a:ext>
            </a:extLst>
          </p:cNvPr>
          <p:cNvSpPr>
            <a:spLocks noGrp="1"/>
          </p:cNvSpPr>
          <p:nvPr>
            <p:ph type="dt" idx="10"/>
          </p:nvPr>
        </p:nvSpPr>
        <p:spPr/>
        <p:txBody>
          <a:bodyPr/>
          <a:lstStyle/>
          <a:p>
            <a:fld id="{5BCAD085-E8A6-8845-BD4E-CB4CCA059FC4}" type="datetimeFigureOut">
              <a:t>10/27/2026</a:t>
            </a:fld>
            <a:endParaRPr/>
          </a:p>
        </p:txBody>
      </p:sp>
      <p:sp>
        <p:nvSpPr>
          <p:cNvPr id="5" name="Footer Placeholder 4">
            <a:extLst>
              <a:ext uri="{FF2B5EF4-FFF2-40B4-BE49-F238E27FC236}">
                <a16:creationId xmlns:a16="http://schemas.microsoft.com/office/drawing/2014/main" id="{B3A47B09-5D70-486F-A26D-8710AE4F76F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2D99F2AF-13DF-4103-8E88-F904E688FA72}"/>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B20497-31D4-4A29-9450-BC0E2BF0A316}"/>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9E9EC655-240C-496A-A348-FE1A4A75829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5369D7E5-AD5F-4F5C-AF2D-BF66124118E2}"/>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10/27/2026</a:t>
            </a:fld>
            <a:endParaRPr/>
          </a:p>
        </p:txBody>
      </p:sp>
      <p:sp>
        <p:nvSpPr>
          <p:cNvPr id="5" name="Footer Placeholder 4">
            <a:extLst>
              <a:ext uri="{FF2B5EF4-FFF2-40B4-BE49-F238E27FC236}">
                <a16:creationId xmlns:a16="http://schemas.microsoft.com/office/drawing/2014/main" id="{48F96C7D-1E1D-445F-9E7C-707F50B09483}"/>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DCBAC9F7-4C74-4E9E-822D-4414D3C54D93}"/>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5ABA13-62CA-47E3-879B-12DF7539B072}"/>
              </a:ext>
            </a:extLst>
          </p:cNvPr>
          <p:cNvSpPr>
            <a:spLocks noGrp="1"/>
          </p:cNvSpPr>
          <p:nvPr/>
        </p:nvSpPr>
        <p:spPr>
          <a:xfrm>
            <a:off x="0" y="0"/>
            <a:ext cx="12191695" cy="6858000"/>
          </a:xfrm>
          <a:prstGeom prst="rect">
            <a:avLst/>
          </a:prstGeom>
          <a:solidFill>
            <a:srgbClr val="1C343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E3A9B73F-41B4-4C52-BE76-2824624B474F}"/>
              </a:ext>
            </a:extLst>
          </p:cNvPr>
          <p:cNvSpPr>
            <a:spLocks noGrp="1"/>
          </p:cNvSpPr>
          <p:nvPr/>
        </p:nvSpPr>
        <p:spPr>
          <a:xfrm>
            <a:off x="8138160" y="0"/>
            <a:ext cx="4114800" cy="1920240"/>
          </a:xfrm>
          <a:prstGeom prst="rect">
            <a:avLst/>
          </a:prstGeom>
          <a:solidFill>
            <a:srgbClr val="3268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Rectangle 3">
            <a:extLst>
              <a:ext uri="{FF2B5EF4-FFF2-40B4-BE49-F238E27FC236}">
                <a16:creationId xmlns:a16="http://schemas.microsoft.com/office/drawing/2014/main" id="{835C2F6E-7CC5-4636-A9D4-21AA1DCFB95A}"/>
              </a:ext>
            </a:extLst>
          </p:cNvPr>
          <p:cNvSpPr>
            <a:spLocks noGrp="1"/>
          </p:cNvSpPr>
          <p:nvPr/>
        </p:nvSpPr>
        <p:spPr>
          <a:xfrm>
            <a:off x="9144000" y="1828800"/>
            <a:ext cx="3108960" cy="5029200"/>
          </a:xfrm>
          <a:prstGeom prst="rect">
            <a:avLst/>
          </a:prstGeom>
          <a:solidFill>
            <a:srgbClr val="DE7E4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78AD979C-91C6-40B6-9F5E-A9ED64F5C36D}"/>
              </a:ext>
            </a:extLst>
          </p:cNvPr>
          <p:cNvSpPr>
            <a:spLocks noGrp="1"/>
          </p:cNvSpPr>
          <p:nvPr/>
        </p:nvSpPr>
        <p:spPr>
          <a:xfrm>
            <a:off x="7223760" y="4983480"/>
            <a:ext cx="2103120" cy="1874519"/>
          </a:xfrm>
          <a:prstGeom prst="rect">
            <a:avLst/>
          </a:prstGeom>
          <a:solidFill>
            <a:srgbClr val="E8BA5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882EA13-63A4-43FE-B68F-E4474542C4E5}"/>
              </a:ext>
            </a:extLst>
          </p:cNvPr>
          <p:cNvSpPr>
            <a:spLocks noGrp="1"/>
          </p:cNvSpPr>
          <p:nvPr/>
        </p:nvSpPr>
        <p:spPr>
          <a:xfrm>
            <a:off x="713232" y="914400"/>
            <a:ext cx="6675120" cy="1371600"/>
          </a:xfrm>
          <a:prstGeom prst="rect">
            <a:avLst/>
          </a:prstGeom>
          <a:noFill/>
        </p:spPr>
        <p:txBody>
          <a:bodyPr wrap="square" lIns="0" tIns="0" rIns="0" bIns="0">
            <a:spAutoFit/>
          </a:bodyPr>
          <a:lstStyle/>
          <a:p>
            <a:pPr algn="l">
              <a:buNone/>
              <a:defRPr sz="3000" b="1">
                <a:solidFill>
                  <a:srgbClr val="FFFFFF"/>
                </a:solidFill>
                <a:latin typeface="Aptos Display"/>
                <a:ea typeface="Aptos Display"/>
                <a:cs typeface="Aptos Display"/>
              </a:defRPr>
            </a:pPr>
            <a:r>
              <a:t>Resource Utilization, Throughput, and Intelligent Caching</a:t>
            </a:r>
          </a:p>
        </p:txBody>
      </p:sp>
      <p:sp>
        <p:nvSpPr>
          <p:cNvPr id="7" name="TextBox 6">
            <a:extLst>
              <a:ext uri="{FF2B5EF4-FFF2-40B4-BE49-F238E27FC236}">
                <a16:creationId xmlns:a16="http://schemas.microsoft.com/office/drawing/2014/main" id="{D4810DB2-9358-41B6-A1FB-276EE396981A}"/>
              </a:ext>
            </a:extLst>
          </p:cNvPr>
          <p:cNvSpPr>
            <a:spLocks noGrp="1"/>
          </p:cNvSpPr>
          <p:nvPr/>
        </p:nvSpPr>
        <p:spPr>
          <a:xfrm>
            <a:off x="731520" y="2331720"/>
            <a:ext cx="6400800" cy="731520"/>
          </a:xfrm>
          <a:prstGeom prst="rect">
            <a:avLst/>
          </a:prstGeom>
          <a:noFill/>
        </p:spPr>
        <p:txBody>
          <a:bodyPr wrap="square" lIns="0" tIns="0" rIns="0" bIns="0">
            <a:spAutoFit/>
          </a:bodyPr>
          <a:lstStyle/>
          <a:p>
            <a:pPr algn="l">
              <a:buNone/>
              <a:defRPr sz="1800" b="0">
                <a:solidFill>
                  <a:srgbClr val="DCEBE2"/>
                </a:solidFill>
                <a:latin typeface="Aptos"/>
                <a:ea typeface="Aptos"/>
                <a:cs typeface="Aptos"/>
              </a:defRPr>
            </a:pPr>
            <a:r>
              <a:rPr dirty="0"/>
              <a:t>Making Generative AI Applications More Efficient on AWS</a:t>
            </a:r>
          </a:p>
        </p:txBody>
      </p:sp>
      <p:sp>
        <p:nvSpPr>
          <p:cNvPr id="8" name="TextBox 7">
            <a:extLst>
              <a:ext uri="{FF2B5EF4-FFF2-40B4-BE49-F238E27FC236}">
                <a16:creationId xmlns:a16="http://schemas.microsoft.com/office/drawing/2014/main" id="{05C7B06E-21CD-4F7D-AC1F-E95D0BF8AF13}"/>
              </a:ext>
            </a:extLst>
          </p:cNvPr>
          <p:cNvSpPr>
            <a:spLocks noGrp="1"/>
          </p:cNvSpPr>
          <p:nvPr/>
        </p:nvSpPr>
        <p:spPr>
          <a:xfrm>
            <a:off x="731520" y="4069080"/>
            <a:ext cx="5029200" cy="320040"/>
          </a:xfrm>
          <a:prstGeom prst="rect">
            <a:avLst/>
          </a:prstGeom>
          <a:noFill/>
        </p:spPr>
        <p:txBody>
          <a:bodyPr wrap="square" lIns="0" tIns="0" rIns="0" bIns="0">
            <a:spAutoFit/>
          </a:bodyPr>
          <a:lstStyle/>
          <a:p>
            <a:pPr algn="l">
              <a:buNone/>
              <a:defRPr sz="1400" b="1">
                <a:solidFill>
                  <a:srgbClr val="FFFFFF"/>
                </a:solidFill>
                <a:latin typeface="Aptos"/>
                <a:ea typeface="Aptos"/>
                <a:cs typeface="Aptos"/>
              </a:defRPr>
            </a:pPr>
            <a:r>
              <a:rPr dirty="0"/>
              <a:t>AWS Generative AI Learning Series</a:t>
            </a:r>
          </a:p>
        </p:txBody>
      </p:sp>
      <p:sp>
        <p:nvSpPr>
          <p:cNvPr id="9" name="TextBox 8">
            <a:extLst>
              <a:ext uri="{FF2B5EF4-FFF2-40B4-BE49-F238E27FC236}">
                <a16:creationId xmlns:a16="http://schemas.microsoft.com/office/drawing/2014/main" id="{3A32DC0C-07D7-4953-8D40-051EC48E8E63}"/>
              </a:ext>
            </a:extLst>
          </p:cNvPr>
          <p:cNvSpPr>
            <a:spLocks noGrp="1"/>
          </p:cNvSpPr>
          <p:nvPr/>
        </p:nvSpPr>
        <p:spPr>
          <a:xfrm>
            <a:off x="731520" y="4617720"/>
            <a:ext cx="4114800" cy="274320"/>
          </a:xfrm>
          <a:prstGeom prst="rect">
            <a:avLst/>
          </a:prstGeom>
          <a:noFill/>
        </p:spPr>
        <p:txBody>
          <a:bodyPr wrap="square" lIns="0" tIns="0" rIns="0" bIns="0">
            <a:spAutoFit/>
          </a:bodyPr>
          <a:lstStyle/>
          <a:p>
            <a:pPr algn="l">
              <a:buNone/>
              <a:defRPr sz="1400" b="0">
                <a:solidFill>
                  <a:srgbClr val="FFFFFF"/>
                </a:solidFill>
                <a:latin typeface="Aptos"/>
                <a:ea typeface="Aptos"/>
                <a:cs typeface="Aptos"/>
              </a:defRPr>
            </a:pPr>
            <a:r>
              <a:t>Presented by: Akash Patel</a:t>
            </a:r>
          </a:p>
        </p:txBody>
      </p:sp>
      <p:sp>
        <p:nvSpPr>
          <p:cNvPr id="10" name="TextBox 9">
            <a:extLst>
              <a:ext uri="{FF2B5EF4-FFF2-40B4-BE49-F238E27FC236}">
                <a16:creationId xmlns:a16="http://schemas.microsoft.com/office/drawing/2014/main" id="{9D829F9E-5DB2-4807-951A-B8AE1AFC081B}"/>
              </a:ext>
            </a:extLst>
          </p:cNvPr>
          <p:cNvSpPr>
            <a:spLocks noGrp="1"/>
          </p:cNvSpPr>
          <p:nvPr/>
        </p:nvSpPr>
        <p:spPr>
          <a:xfrm>
            <a:off x="731520" y="5010912"/>
            <a:ext cx="4114800" cy="274320"/>
          </a:xfrm>
          <a:prstGeom prst="rect">
            <a:avLst/>
          </a:prstGeom>
          <a:noFill/>
        </p:spPr>
        <p:txBody>
          <a:bodyPr wrap="square" lIns="0" tIns="0" rIns="0" bIns="0">
            <a:spAutoFit/>
          </a:bodyPr>
          <a:lstStyle/>
          <a:p>
            <a:pPr algn="l">
              <a:buNone/>
              <a:defRPr sz="1400" b="0">
                <a:solidFill>
                  <a:srgbClr val="FFFFFF"/>
                </a:solidFill>
                <a:latin typeface="Aptos"/>
                <a:ea typeface="Aptos"/>
                <a:cs typeface="Aptos"/>
              </a:defRPr>
            </a:pPr>
            <a:r>
              <a:t>Concordia University Chicago</a:t>
            </a:r>
          </a:p>
        </p:txBody>
      </p:sp>
    </p:spTree>
    <p:extLst>
      <p:ext uri="{BB962C8B-B14F-4D97-AF65-F5344CB8AC3E}">
        <p14:creationId xmlns:p14="http://schemas.microsoft.com/office/powerpoint/2010/main" val="841805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050E5C-77B0-417D-A9CD-61519A23C0A3}"/>
              </a:ext>
            </a:extLst>
          </p:cNvPr>
          <p:cNvSpPr>
            <a:spLocks noGrp="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dirty="0"/>
          </a:p>
        </p:txBody>
      </p:sp>
      <p:sp>
        <p:nvSpPr>
          <p:cNvPr id="3" name="TextBox 2">
            <a:extLst>
              <a:ext uri="{FF2B5EF4-FFF2-40B4-BE49-F238E27FC236}">
                <a16:creationId xmlns:a16="http://schemas.microsoft.com/office/drawing/2014/main" id="{860081E9-C8CE-4B14-ABC1-A362F99252DE}"/>
              </a:ext>
            </a:extLst>
          </p:cNvPr>
          <p:cNvSpPr>
            <a:spLocks noGrp="1"/>
          </p:cNvSpPr>
          <p:nvPr/>
        </p:nvSpPr>
        <p:spPr>
          <a:xfrm>
            <a:off x="640080" y="411480"/>
            <a:ext cx="10149840" cy="566928"/>
          </a:xfrm>
          <a:prstGeom prst="rect">
            <a:avLst/>
          </a:prstGeom>
          <a:noFill/>
        </p:spPr>
        <p:txBody>
          <a:bodyPr wrap="square" lIns="0" tIns="0" rIns="0" bIns="0">
            <a:spAutoFit/>
          </a:bodyPr>
          <a:lstStyle/>
          <a:p>
            <a:pPr algn="l">
              <a:buNone/>
              <a:defRPr sz="2500" b="1">
                <a:solidFill>
                  <a:srgbClr val="1C3430"/>
                </a:solidFill>
                <a:latin typeface="Aptos Display"/>
                <a:ea typeface="Aptos Display"/>
                <a:cs typeface="Aptos Display"/>
              </a:defRPr>
            </a:pPr>
            <a:r>
              <a:t>Why Resource Utilization Matters</a:t>
            </a:r>
          </a:p>
        </p:txBody>
      </p:sp>
      <p:sp>
        <p:nvSpPr>
          <p:cNvPr id="4" name="Rectangle 3">
            <a:extLst>
              <a:ext uri="{FF2B5EF4-FFF2-40B4-BE49-F238E27FC236}">
                <a16:creationId xmlns:a16="http://schemas.microsoft.com/office/drawing/2014/main" id="{F670D3EA-0720-46D5-B513-5B72D7185828}"/>
              </a:ext>
            </a:extLst>
          </p:cNvPr>
          <p:cNvSpPr>
            <a:spLocks noGrp="1"/>
          </p:cNvSpPr>
          <p:nvPr/>
        </p:nvSpPr>
        <p:spPr>
          <a:xfrm>
            <a:off x="658368" y="1024128"/>
            <a:ext cx="1051560" cy="54864"/>
          </a:xfrm>
          <a:prstGeom prst="rect">
            <a:avLst/>
          </a:prstGeom>
          <a:solidFill>
            <a:srgbClr val="DE7E4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D3E12738-D24E-4915-B048-25D220AB6591}"/>
              </a:ext>
            </a:extLst>
          </p:cNvPr>
          <p:cNvSpPr>
            <a:spLocks noGrp="1"/>
          </p:cNvSpPr>
          <p:nvPr/>
        </p:nvSpPr>
        <p:spPr>
          <a:xfrm>
            <a:off x="11018520" y="320040"/>
            <a:ext cx="530352" cy="384048"/>
          </a:xfrm>
          <a:prstGeom prst="roundRect">
            <a:avLst/>
          </a:prstGeom>
          <a:solidFill>
            <a:srgbClr val="1C343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EFF3C66-A6C7-4E8F-9AB3-071FE7DC2CD1}"/>
              </a:ext>
            </a:extLst>
          </p:cNvPr>
          <p:cNvSpPr>
            <a:spLocks noGrp="1"/>
          </p:cNvSpPr>
          <p:nvPr/>
        </p:nvSpPr>
        <p:spPr>
          <a:xfrm>
            <a:off x="11018520" y="384048"/>
            <a:ext cx="530352" cy="210312"/>
          </a:xfrm>
          <a:prstGeom prst="rect">
            <a:avLst/>
          </a:prstGeom>
          <a:noFill/>
        </p:spPr>
        <p:txBody>
          <a:bodyPr wrap="square" lIns="0" tIns="0" rIns="0" bIns="0">
            <a:spAutoFit/>
          </a:bodyPr>
          <a:lstStyle/>
          <a:p>
            <a:pPr algn="ctr">
              <a:buNone/>
              <a:defRPr sz="1300" b="1">
                <a:solidFill>
                  <a:srgbClr val="FFFFFF"/>
                </a:solidFill>
                <a:latin typeface="Aptos"/>
                <a:ea typeface="Aptos"/>
                <a:cs typeface="Aptos"/>
              </a:defRPr>
            </a:pPr>
            <a:r>
              <a:t>2</a:t>
            </a:r>
          </a:p>
        </p:txBody>
      </p:sp>
      <p:sp>
        <p:nvSpPr>
          <p:cNvPr id="7" name="TextBox 6">
            <a:extLst>
              <a:ext uri="{FF2B5EF4-FFF2-40B4-BE49-F238E27FC236}">
                <a16:creationId xmlns:a16="http://schemas.microsoft.com/office/drawing/2014/main" id="{9BC5F247-2E29-4AB8-A19C-A5D77BA5D83C}"/>
              </a:ext>
            </a:extLst>
          </p:cNvPr>
          <p:cNvSpPr>
            <a:spLocks noGrp="1"/>
          </p:cNvSpPr>
          <p:nvPr/>
        </p:nvSpPr>
        <p:spPr>
          <a:xfrm>
            <a:off x="685800" y="1298448"/>
            <a:ext cx="7360920" cy="3934923"/>
          </a:xfrm>
          <a:prstGeom prst="rect">
            <a:avLst/>
          </a:prstGeom>
          <a:noFill/>
        </p:spPr>
        <p:txBody>
          <a:bodyPr wrap="square" lIns="18288" tIns="9144" rIns="18288" bIns="9144">
            <a:spAutoFit/>
          </a:bodyPr>
          <a:lstStyle/>
          <a:p>
            <a:pPr marL="285750" indent="-285750">
              <a:spcBef>
                <a:spcPts val="600"/>
              </a:spcBef>
              <a:spcAft>
                <a:spcPts val="600"/>
              </a:spcAft>
              <a:buFont typeface="Arial" panose="020B0604020202020204" pitchFamily="34" charset="0"/>
              <a:buChar char="•"/>
              <a:defRPr sz="1650">
                <a:solidFill>
                  <a:srgbClr val="2C3230"/>
                </a:solidFill>
                <a:latin typeface="Aptos"/>
                <a:ea typeface="Aptos"/>
                <a:cs typeface="Aptos"/>
              </a:defRPr>
            </a:pPr>
            <a:r>
              <a:rPr dirty="0"/>
              <a:t>A Generative AI application does not only consume tokens. It also uses model capacity, network connections, compute resources, and supporting AWS services.</a:t>
            </a:r>
          </a:p>
          <a:p>
            <a:pPr marL="285750" indent="-285750">
              <a:spcBef>
                <a:spcPts val="600"/>
              </a:spcBef>
              <a:spcAft>
                <a:spcPts val="600"/>
              </a:spcAft>
              <a:buFont typeface="Arial" panose="020B0604020202020204" pitchFamily="34" charset="0"/>
              <a:buChar char="•"/>
              <a:defRPr sz="1650">
                <a:solidFill>
                  <a:srgbClr val="2C3230"/>
                </a:solidFill>
                <a:latin typeface="Aptos"/>
                <a:ea typeface="Aptos"/>
                <a:cs typeface="Aptos"/>
              </a:defRPr>
            </a:pPr>
            <a:r>
              <a:rPr dirty="0"/>
              <a:t>If resources are not used efficiently, the application may become more expensive or may not respond well when many users send requests at the same time.</a:t>
            </a:r>
          </a:p>
          <a:p>
            <a:pPr marL="285750" indent="-285750">
              <a:spcBef>
                <a:spcPts val="600"/>
              </a:spcBef>
              <a:spcAft>
                <a:spcPts val="600"/>
              </a:spcAft>
              <a:buFont typeface="Arial" panose="020B0604020202020204" pitchFamily="34" charset="0"/>
              <a:buChar char="•"/>
              <a:defRPr sz="1650">
                <a:solidFill>
                  <a:srgbClr val="2C3230"/>
                </a:solidFill>
                <a:latin typeface="Aptos"/>
                <a:ea typeface="Aptos"/>
                <a:cs typeface="Aptos"/>
              </a:defRPr>
            </a:pPr>
            <a:r>
              <a:rPr dirty="0"/>
              <a:t>Resource utilization means understanding how much work the system is doing, how often resources are being used, and whether the available capacity matches the workload.</a:t>
            </a:r>
          </a:p>
          <a:p>
            <a:pPr marL="285750" indent="-285750">
              <a:spcBef>
                <a:spcPts val="600"/>
              </a:spcBef>
              <a:spcAft>
                <a:spcPts val="600"/>
              </a:spcAft>
              <a:buFont typeface="Arial" panose="020B0604020202020204" pitchFamily="34" charset="0"/>
              <a:buChar char="•"/>
              <a:defRPr sz="1650">
                <a:solidFill>
                  <a:srgbClr val="2C3230"/>
                </a:solidFill>
                <a:latin typeface="Aptos"/>
                <a:ea typeface="Aptos"/>
                <a:cs typeface="Aptos"/>
              </a:defRPr>
            </a:pPr>
            <a:r>
              <a:rPr dirty="0"/>
              <a:t>A system that is underused may waste reserved capacity, while a system that is overloaded may experience throttling, delays, or failed requests.</a:t>
            </a:r>
          </a:p>
          <a:p>
            <a:pPr marL="285750" indent="-285750">
              <a:spcBef>
                <a:spcPts val="600"/>
              </a:spcBef>
              <a:spcAft>
                <a:spcPts val="600"/>
              </a:spcAft>
              <a:buFont typeface="Arial" panose="020B0604020202020204" pitchFamily="34" charset="0"/>
              <a:buChar char="•"/>
              <a:defRPr sz="1650">
                <a:solidFill>
                  <a:srgbClr val="2C3230"/>
                </a:solidFill>
                <a:latin typeface="Aptos"/>
                <a:ea typeface="Aptos"/>
                <a:cs typeface="Aptos"/>
              </a:defRPr>
            </a:pPr>
            <a:r>
              <a:rPr dirty="0"/>
              <a:t>The goal is to use enough resources for reliable performance without paying for more capacity than the application actually needs.</a:t>
            </a:r>
          </a:p>
        </p:txBody>
      </p:sp>
      <p:sp>
        <p:nvSpPr>
          <p:cNvPr id="8" name="Rounded Rectangle 7">
            <a:extLst>
              <a:ext uri="{FF2B5EF4-FFF2-40B4-BE49-F238E27FC236}">
                <a16:creationId xmlns:a16="http://schemas.microsoft.com/office/drawing/2014/main" id="{3546A10A-433D-4597-871D-BC4834C23E57}"/>
              </a:ext>
            </a:extLst>
          </p:cNvPr>
          <p:cNvSpPr>
            <a:spLocks noGrp="1"/>
          </p:cNvSpPr>
          <p:nvPr/>
        </p:nvSpPr>
        <p:spPr>
          <a:xfrm>
            <a:off x="8366760" y="1572768"/>
            <a:ext cx="3017520" cy="3383280"/>
          </a:xfrm>
          <a:prstGeom prst="roundRect">
            <a:avLst/>
          </a:prstGeom>
          <a:solidFill>
            <a:srgbClr val="DCEBE2"/>
          </a:solidFill>
          <a:ln>
            <a:solidFill>
              <a:srgbClr val="32685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Oval 8">
            <a:extLst>
              <a:ext uri="{FF2B5EF4-FFF2-40B4-BE49-F238E27FC236}">
                <a16:creationId xmlns:a16="http://schemas.microsoft.com/office/drawing/2014/main" id="{C2591BED-42EE-44DE-A095-D9752FECC780}"/>
              </a:ext>
            </a:extLst>
          </p:cNvPr>
          <p:cNvSpPr>
            <a:spLocks noGrp="1"/>
          </p:cNvSpPr>
          <p:nvPr/>
        </p:nvSpPr>
        <p:spPr>
          <a:xfrm>
            <a:off x="9326880" y="1874519"/>
            <a:ext cx="1051560" cy="1051560"/>
          </a:xfrm>
          <a:prstGeom prst="ellipse">
            <a:avLst/>
          </a:prstGeom>
          <a:solidFill>
            <a:srgbClr val="3268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5EB4C2BE-1BB2-4C70-A34E-85E8152307C3}"/>
              </a:ext>
            </a:extLst>
          </p:cNvPr>
          <p:cNvSpPr>
            <a:spLocks noGrp="1"/>
          </p:cNvSpPr>
          <p:nvPr/>
        </p:nvSpPr>
        <p:spPr>
          <a:xfrm>
            <a:off x="8915400" y="2185416"/>
            <a:ext cx="1874519" cy="256032"/>
          </a:xfrm>
          <a:prstGeom prst="rect">
            <a:avLst/>
          </a:prstGeom>
          <a:noFill/>
        </p:spPr>
        <p:txBody>
          <a:bodyPr wrap="square" lIns="0" tIns="0" rIns="0" bIns="0">
            <a:spAutoFit/>
          </a:bodyPr>
          <a:lstStyle/>
          <a:p>
            <a:pPr algn="ctr">
              <a:buNone/>
              <a:defRPr sz="1200" b="1">
                <a:solidFill>
                  <a:srgbClr val="FFFFFF"/>
                </a:solidFill>
                <a:latin typeface="Aptos"/>
                <a:ea typeface="Aptos"/>
                <a:cs typeface="Aptos"/>
              </a:defRPr>
            </a:pPr>
            <a:r>
              <a:t>LOAD</a:t>
            </a:r>
          </a:p>
        </p:txBody>
      </p:sp>
      <p:sp>
        <p:nvSpPr>
          <p:cNvPr id="11" name="TextBox 10">
            <a:extLst>
              <a:ext uri="{FF2B5EF4-FFF2-40B4-BE49-F238E27FC236}">
                <a16:creationId xmlns:a16="http://schemas.microsoft.com/office/drawing/2014/main" id="{9FDADB21-0FF3-4E02-AA77-10C10AA772A5}"/>
              </a:ext>
            </a:extLst>
          </p:cNvPr>
          <p:cNvSpPr>
            <a:spLocks noGrp="1"/>
          </p:cNvSpPr>
          <p:nvPr/>
        </p:nvSpPr>
        <p:spPr>
          <a:xfrm>
            <a:off x="8668512" y="3246120"/>
            <a:ext cx="2423160" cy="1269578"/>
          </a:xfrm>
          <a:prstGeom prst="rect">
            <a:avLst/>
          </a:prstGeom>
          <a:noFill/>
        </p:spPr>
        <p:txBody>
          <a:bodyPr wrap="square" lIns="0" tIns="0" rIns="0" bIns="0">
            <a:spAutoFit/>
          </a:bodyPr>
          <a:lstStyle/>
          <a:p>
            <a:pPr>
              <a:spcBef>
                <a:spcPts val="300"/>
              </a:spcBef>
              <a:buNone/>
              <a:defRPr sz="1600" b="1">
                <a:solidFill>
                  <a:srgbClr val="1C3430"/>
                </a:solidFill>
                <a:latin typeface="Aptos"/>
                <a:ea typeface="Aptos"/>
                <a:cs typeface="Aptos"/>
              </a:defRPr>
            </a:pPr>
            <a:r>
              <a:rPr dirty="0"/>
              <a:t>Main Idea: </a:t>
            </a:r>
            <a:endParaRPr lang="en-US" dirty="0"/>
          </a:p>
          <a:p>
            <a:pPr>
              <a:spcBef>
                <a:spcPts val="300"/>
              </a:spcBef>
              <a:buNone/>
              <a:defRPr sz="1600" b="1">
                <a:solidFill>
                  <a:srgbClr val="1C3430"/>
                </a:solidFill>
                <a:latin typeface="Aptos"/>
                <a:ea typeface="Aptos"/>
                <a:cs typeface="Aptos"/>
              </a:defRPr>
            </a:pPr>
            <a:r>
              <a:rPr dirty="0"/>
              <a:t>Good optimization means matching available resources with the actual workload.</a:t>
            </a:r>
          </a:p>
        </p:txBody>
      </p:sp>
    </p:spTree>
    <p:extLst>
      <p:ext uri="{BB962C8B-B14F-4D97-AF65-F5344CB8AC3E}">
        <p14:creationId xmlns:p14="http://schemas.microsoft.com/office/powerpoint/2010/main" val="1832171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6FE7E9-75EC-4A4D-BCCB-505E2FC860E0}"/>
              </a:ext>
            </a:extLst>
          </p:cNvPr>
          <p:cNvSpPr>
            <a:spLocks noGrp="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A1E480DD-3AD9-4E0D-8424-0778B476389E}"/>
              </a:ext>
            </a:extLst>
          </p:cNvPr>
          <p:cNvSpPr>
            <a:spLocks noGrp="1"/>
          </p:cNvSpPr>
          <p:nvPr/>
        </p:nvSpPr>
        <p:spPr>
          <a:xfrm>
            <a:off x="640080" y="411480"/>
            <a:ext cx="10149840" cy="566928"/>
          </a:xfrm>
          <a:prstGeom prst="rect">
            <a:avLst/>
          </a:prstGeom>
          <a:noFill/>
        </p:spPr>
        <p:txBody>
          <a:bodyPr wrap="square" lIns="0" tIns="0" rIns="0" bIns="0">
            <a:spAutoFit/>
          </a:bodyPr>
          <a:lstStyle/>
          <a:p>
            <a:pPr algn="l">
              <a:buNone/>
              <a:defRPr sz="2500" b="1">
                <a:solidFill>
                  <a:srgbClr val="1C3430"/>
                </a:solidFill>
                <a:latin typeface="Aptos Display"/>
                <a:ea typeface="Aptos Display"/>
                <a:cs typeface="Aptos Display"/>
              </a:defRPr>
            </a:pPr>
            <a:r>
              <a:t>What Is Throughput in Generative AI?</a:t>
            </a:r>
          </a:p>
        </p:txBody>
      </p:sp>
      <p:sp>
        <p:nvSpPr>
          <p:cNvPr id="4" name="Rectangle 3">
            <a:extLst>
              <a:ext uri="{FF2B5EF4-FFF2-40B4-BE49-F238E27FC236}">
                <a16:creationId xmlns:a16="http://schemas.microsoft.com/office/drawing/2014/main" id="{506129B6-BD43-4656-AD3F-33880CDC583E}"/>
              </a:ext>
            </a:extLst>
          </p:cNvPr>
          <p:cNvSpPr>
            <a:spLocks noGrp="1"/>
          </p:cNvSpPr>
          <p:nvPr/>
        </p:nvSpPr>
        <p:spPr>
          <a:xfrm>
            <a:off x="658368" y="1024128"/>
            <a:ext cx="1051560" cy="54864"/>
          </a:xfrm>
          <a:prstGeom prst="rect">
            <a:avLst/>
          </a:prstGeom>
          <a:solidFill>
            <a:srgbClr val="DE7E4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53383E75-7882-4AEF-BF57-026B47D8A396}"/>
              </a:ext>
            </a:extLst>
          </p:cNvPr>
          <p:cNvSpPr>
            <a:spLocks noGrp="1"/>
          </p:cNvSpPr>
          <p:nvPr/>
        </p:nvSpPr>
        <p:spPr>
          <a:xfrm>
            <a:off x="11018520" y="320040"/>
            <a:ext cx="530352" cy="384048"/>
          </a:xfrm>
          <a:prstGeom prst="roundRect">
            <a:avLst/>
          </a:prstGeom>
          <a:solidFill>
            <a:srgbClr val="1C343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A3A7FE43-7D73-4222-929D-6EF97BBA3803}"/>
              </a:ext>
            </a:extLst>
          </p:cNvPr>
          <p:cNvSpPr>
            <a:spLocks noGrp="1"/>
          </p:cNvSpPr>
          <p:nvPr/>
        </p:nvSpPr>
        <p:spPr>
          <a:xfrm>
            <a:off x="11018520" y="384048"/>
            <a:ext cx="530352" cy="210312"/>
          </a:xfrm>
          <a:prstGeom prst="rect">
            <a:avLst/>
          </a:prstGeom>
          <a:noFill/>
        </p:spPr>
        <p:txBody>
          <a:bodyPr wrap="square" lIns="0" tIns="0" rIns="0" bIns="0">
            <a:spAutoFit/>
          </a:bodyPr>
          <a:lstStyle/>
          <a:p>
            <a:pPr algn="ctr">
              <a:buNone/>
              <a:defRPr sz="1300" b="1">
                <a:solidFill>
                  <a:srgbClr val="FFFFFF"/>
                </a:solidFill>
                <a:latin typeface="Aptos"/>
                <a:ea typeface="Aptos"/>
                <a:cs typeface="Aptos"/>
              </a:defRPr>
            </a:pPr>
            <a:r>
              <a:t>3</a:t>
            </a:r>
          </a:p>
        </p:txBody>
      </p:sp>
      <p:sp>
        <p:nvSpPr>
          <p:cNvPr id="7" name="TextBox 6">
            <a:extLst>
              <a:ext uri="{FF2B5EF4-FFF2-40B4-BE49-F238E27FC236}">
                <a16:creationId xmlns:a16="http://schemas.microsoft.com/office/drawing/2014/main" id="{6948C2A9-76A4-4F2E-A6A2-BE72CFB76C8C}"/>
              </a:ext>
            </a:extLst>
          </p:cNvPr>
          <p:cNvSpPr>
            <a:spLocks noGrp="1"/>
          </p:cNvSpPr>
          <p:nvPr/>
        </p:nvSpPr>
        <p:spPr>
          <a:xfrm>
            <a:off x="685800" y="1389888"/>
            <a:ext cx="6720840" cy="3376309"/>
          </a:xfrm>
          <a:prstGeom prst="rect">
            <a:avLst/>
          </a:prstGeom>
          <a:noFill/>
        </p:spPr>
        <p:txBody>
          <a:bodyPr wrap="square" lIns="18288" tIns="9144" rIns="18288" bIns="9144">
            <a:spAutoFit/>
          </a:bodyPr>
          <a:lstStyle/>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Throughput describes how much work a system can process during a certain period of time.</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In Generative AI systems, throughput can be affected by the number of requests, the size of prompts, the number of generated tokens, and the capacity available for the selected model.</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Two important ideas are requests per minute and tokens per minute.</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A small number of very large requests can sometimes use as much capacity as many smaller requests because token usage also affects the workload.</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Understanding throughput helps developers plan how the application will behave when usage increases.</a:t>
            </a:r>
          </a:p>
        </p:txBody>
      </p:sp>
      <p:sp>
        <p:nvSpPr>
          <p:cNvPr id="8" name="Rounded Rectangle 7">
            <a:extLst>
              <a:ext uri="{FF2B5EF4-FFF2-40B4-BE49-F238E27FC236}">
                <a16:creationId xmlns:a16="http://schemas.microsoft.com/office/drawing/2014/main" id="{03756136-424E-4009-BC84-4AFCFC5BB828}"/>
              </a:ext>
            </a:extLst>
          </p:cNvPr>
          <p:cNvSpPr>
            <a:spLocks noGrp="1"/>
          </p:cNvSpPr>
          <p:nvPr/>
        </p:nvSpPr>
        <p:spPr>
          <a:xfrm>
            <a:off x="7726679" y="1417320"/>
            <a:ext cx="3611880" cy="2148840"/>
          </a:xfrm>
          <a:prstGeom prst="roundRect">
            <a:avLst/>
          </a:prstGeom>
          <a:solidFill>
            <a:srgbClr val="EEF1EB"/>
          </a:solidFill>
          <a:ln>
            <a:solidFill>
              <a:srgbClr val="E8BA5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918E1A-8A61-42BF-94C3-93DCFCE6555F}"/>
              </a:ext>
            </a:extLst>
          </p:cNvPr>
          <p:cNvSpPr>
            <a:spLocks noGrp="1"/>
          </p:cNvSpPr>
          <p:nvPr/>
        </p:nvSpPr>
        <p:spPr>
          <a:xfrm>
            <a:off x="8001000" y="1719072"/>
            <a:ext cx="3063240" cy="1208023"/>
          </a:xfrm>
          <a:prstGeom prst="rect">
            <a:avLst/>
          </a:prstGeom>
          <a:noFill/>
        </p:spPr>
        <p:txBody>
          <a:bodyPr wrap="square" lIns="0" tIns="0" rIns="0" bIns="0">
            <a:spAutoFit/>
          </a:bodyPr>
          <a:lstStyle/>
          <a:p>
            <a:pPr algn="l">
              <a:spcBef>
                <a:spcPts val="300"/>
              </a:spcBef>
              <a:buNone/>
              <a:defRPr sz="1520" b="0">
                <a:solidFill>
                  <a:srgbClr val="2C3230"/>
                </a:solidFill>
                <a:latin typeface="Aptos"/>
                <a:ea typeface="Aptos"/>
                <a:cs typeface="Aptos"/>
              </a:defRPr>
            </a:pPr>
            <a:r>
              <a:rPr b="1" dirty="0"/>
              <a:t>Simple Example: </a:t>
            </a:r>
            <a:endParaRPr lang="en-US" b="1" dirty="0"/>
          </a:p>
          <a:p>
            <a:pPr algn="l">
              <a:spcBef>
                <a:spcPts val="300"/>
              </a:spcBef>
              <a:buNone/>
              <a:defRPr sz="1520" b="0">
                <a:solidFill>
                  <a:srgbClr val="2C3230"/>
                </a:solidFill>
                <a:latin typeface="Aptos"/>
                <a:ea typeface="Aptos"/>
                <a:cs typeface="Aptos"/>
              </a:defRPr>
            </a:pPr>
            <a:r>
              <a:rPr lang="en-IN" dirty="0"/>
              <a:t>1</a:t>
            </a:r>
            <a:r>
              <a:rPr dirty="0"/>
              <a:t>0 small requests and 2 very large requests may create very different workloads even if the request count looks low.</a:t>
            </a:r>
          </a:p>
        </p:txBody>
      </p:sp>
      <p:sp>
        <p:nvSpPr>
          <p:cNvPr id="10" name="Rounded Rectangle 9">
            <a:extLst>
              <a:ext uri="{FF2B5EF4-FFF2-40B4-BE49-F238E27FC236}">
                <a16:creationId xmlns:a16="http://schemas.microsoft.com/office/drawing/2014/main" id="{38A560C2-2348-465A-A332-D804C5DCB902}"/>
              </a:ext>
            </a:extLst>
          </p:cNvPr>
          <p:cNvSpPr>
            <a:spLocks noGrp="1"/>
          </p:cNvSpPr>
          <p:nvPr/>
        </p:nvSpPr>
        <p:spPr>
          <a:xfrm>
            <a:off x="7726679" y="3822191"/>
            <a:ext cx="3611880" cy="1554480"/>
          </a:xfrm>
          <a:prstGeom prst="roundRect">
            <a:avLst/>
          </a:prstGeom>
          <a:solidFill>
            <a:srgbClr val="1C343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D03428B-672B-46E3-9BC3-8DDB6AF00192}"/>
              </a:ext>
            </a:extLst>
          </p:cNvPr>
          <p:cNvSpPr>
            <a:spLocks noGrp="1"/>
          </p:cNvSpPr>
          <p:nvPr/>
        </p:nvSpPr>
        <p:spPr>
          <a:xfrm>
            <a:off x="8001000" y="4133087"/>
            <a:ext cx="3063240" cy="974113"/>
          </a:xfrm>
          <a:prstGeom prst="rect">
            <a:avLst/>
          </a:prstGeom>
          <a:noFill/>
        </p:spPr>
        <p:txBody>
          <a:bodyPr wrap="square" lIns="0" tIns="0" rIns="0" bIns="0">
            <a:spAutoFit/>
          </a:bodyPr>
          <a:lstStyle/>
          <a:p>
            <a:pPr>
              <a:spcBef>
                <a:spcPts val="300"/>
              </a:spcBef>
              <a:buNone/>
              <a:defRPr sz="1520" b="1">
                <a:solidFill>
                  <a:srgbClr val="FFFFFF"/>
                </a:solidFill>
                <a:latin typeface="Aptos"/>
                <a:ea typeface="Aptos"/>
                <a:cs typeface="Aptos"/>
              </a:defRPr>
            </a:pPr>
            <a:r>
              <a:rPr dirty="0"/>
              <a:t>Main Lesson: </a:t>
            </a:r>
            <a:endParaRPr lang="en-US" dirty="0"/>
          </a:p>
          <a:p>
            <a:pPr>
              <a:spcBef>
                <a:spcPts val="300"/>
              </a:spcBef>
              <a:buNone/>
              <a:defRPr sz="1520" b="1">
                <a:solidFill>
                  <a:srgbClr val="FFFFFF"/>
                </a:solidFill>
                <a:latin typeface="Aptos"/>
                <a:ea typeface="Aptos"/>
                <a:cs typeface="Aptos"/>
              </a:defRPr>
            </a:pPr>
            <a:r>
              <a:rPr dirty="0"/>
              <a:t>Request count alone does not tell the whole story. Token volume also matters.</a:t>
            </a:r>
          </a:p>
        </p:txBody>
      </p:sp>
    </p:spTree>
    <p:extLst>
      <p:ext uri="{BB962C8B-B14F-4D97-AF65-F5344CB8AC3E}">
        <p14:creationId xmlns:p14="http://schemas.microsoft.com/office/powerpoint/2010/main" val="932431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B71D1E-6F6D-4C12-90A8-962DB2FB02C2}"/>
              </a:ext>
            </a:extLst>
          </p:cNvPr>
          <p:cNvSpPr>
            <a:spLocks noGrp="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A6321DC9-13C3-41DA-A479-0AD471821462}"/>
              </a:ext>
            </a:extLst>
          </p:cNvPr>
          <p:cNvSpPr>
            <a:spLocks noGrp="1"/>
          </p:cNvSpPr>
          <p:nvPr/>
        </p:nvSpPr>
        <p:spPr>
          <a:xfrm>
            <a:off x="640080" y="411480"/>
            <a:ext cx="10149840" cy="566928"/>
          </a:xfrm>
          <a:prstGeom prst="rect">
            <a:avLst/>
          </a:prstGeom>
          <a:noFill/>
        </p:spPr>
        <p:txBody>
          <a:bodyPr wrap="square" lIns="0" tIns="0" rIns="0" bIns="0">
            <a:spAutoFit/>
          </a:bodyPr>
          <a:lstStyle/>
          <a:p>
            <a:pPr algn="l">
              <a:buNone/>
              <a:defRPr sz="2500" b="1">
                <a:solidFill>
                  <a:srgbClr val="1C3430"/>
                </a:solidFill>
                <a:latin typeface="Aptos Display"/>
                <a:ea typeface="Aptos Display"/>
                <a:cs typeface="Aptos Display"/>
              </a:defRPr>
            </a:pPr>
            <a:r>
              <a:t>Service Quotas and Capacity Limits</a:t>
            </a:r>
          </a:p>
        </p:txBody>
      </p:sp>
      <p:sp>
        <p:nvSpPr>
          <p:cNvPr id="4" name="Rectangle 3">
            <a:extLst>
              <a:ext uri="{FF2B5EF4-FFF2-40B4-BE49-F238E27FC236}">
                <a16:creationId xmlns:a16="http://schemas.microsoft.com/office/drawing/2014/main" id="{A27405B7-260C-43AE-9BD7-9205E6F00CDD}"/>
              </a:ext>
            </a:extLst>
          </p:cNvPr>
          <p:cNvSpPr>
            <a:spLocks noGrp="1"/>
          </p:cNvSpPr>
          <p:nvPr/>
        </p:nvSpPr>
        <p:spPr>
          <a:xfrm>
            <a:off x="658368" y="1024128"/>
            <a:ext cx="1051560" cy="54864"/>
          </a:xfrm>
          <a:prstGeom prst="rect">
            <a:avLst/>
          </a:prstGeom>
          <a:solidFill>
            <a:srgbClr val="DE7E4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4DC5915C-EF19-455B-A601-507412D7256D}"/>
              </a:ext>
            </a:extLst>
          </p:cNvPr>
          <p:cNvSpPr>
            <a:spLocks noGrp="1"/>
          </p:cNvSpPr>
          <p:nvPr/>
        </p:nvSpPr>
        <p:spPr>
          <a:xfrm>
            <a:off x="11018520" y="320040"/>
            <a:ext cx="530352" cy="384048"/>
          </a:xfrm>
          <a:prstGeom prst="roundRect">
            <a:avLst/>
          </a:prstGeom>
          <a:solidFill>
            <a:srgbClr val="1C343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62796E0-19BD-48BB-8DE9-1CB2779AC1F2}"/>
              </a:ext>
            </a:extLst>
          </p:cNvPr>
          <p:cNvSpPr>
            <a:spLocks noGrp="1"/>
          </p:cNvSpPr>
          <p:nvPr/>
        </p:nvSpPr>
        <p:spPr>
          <a:xfrm>
            <a:off x="11018520" y="384048"/>
            <a:ext cx="530352" cy="210312"/>
          </a:xfrm>
          <a:prstGeom prst="rect">
            <a:avLst/>
          </a:prstGeom>
          <a:noFill/>
        </p:spPr>
        <p:txBody>
          <a:bodyPr wrap="square" lIns="0" tIns="0" rIns="0" bIns="0">
            <a:spAutoFit/>
          </a:bodyPr>
          <a:lstStyle/>
          <a:p>
            <a:pPr algn="ctr">
              <a:buNone/>
              <a:defRPr sz="1300" b="1">
                <a:solidFill>
                  <a:srgbClr val="FFFFFF"/>
                </a:solidFill>
                <a:latin typeface="Aptos"/>
                <a:ea typeface="Aptos"/>
                <a:cs typeface="Aptos"/>
              </a:defRPr>
            </a:pPr>
            <a:r>
              <a:t>4</a:t>
            </a:r>
          </a:p>
        </p:txBody>
      </p:sp>
      <p:sp>
        <p:nvSpPr>
          <p:cNvPr id="7" name="TextBox 6">
            <a:extLst>
              <a:ext uri="{FF2B5EF4-FFF2-40B4-BE49-F238E27FC236}">
                <a16:creationId xmlns:a16="http://schemas.microsoft.com/office/drawing/2014/main" id="{4784525D-A2FF-4467-81AF-56B00124336D}"/>
              </a:ext>
            </a:extLst>
          </p:cNvPr>
          <p:cNvSpPr>
            <a:spLocks noGrp="1"/>
          </p:cNvSpPr>
          <p:nvPr/>
        </p:nvSpPr>
        <p:spPr>
          <a:xfrm>
            <a:off x="640080" y="1389888"/>
            <a:ext cx="6720840" cy="3127010"/>
          </a:xfrm>
          <a:prstGeom prst="rect">
            <a:avLst/>
          </a:prstGeom>
          <a:noFill/>
        </p:spPr>
        <p:txBody>
          <a:bodyPr wrap="square" lIns="18288" tIns="9144" rIns="18288" bIns="9144">
            <a:spAutoFit/>
          </a:bodyPr>
          <a:lstStyle/>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AWS services have Service Quotas that define how much of a resource an account can use within a certain limit.</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For Generative AI workloads, these limits can include request rates, token rates, or other capacity-related restrictions.</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If an application sends more requests than the allowed capacity, it may experience throttling.</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Developers should review the expected workload before production use instead of waiting until users start receiving errors.</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Quotas can also help identify when the application needs a different architecture, higher capacity, or an approved quota increase.</a:t>
            </a:r>
          </a:p>
        </p:txBody>
      </p:sp>
      <p:sp>
        <p:nvSpPr>
          <p:cNvPr id="8" name="Rounded Rectangle 7">
            <a:extLst>
              <a:ext uri="{FF2B5EF4-FFF2-40B4-BE49-F238E27FC236}">
                <a16:creationId xmlns:a16="http://schemas.microsoft.com/office/drawing/2014/main" id="{6EB731B6-B893-499D-AF02-CDC6FB430918}"/>
              </a:ext>
            </a:extLst>
          </p:cNvPr>
          <p:cNvSpPr>
            <a:spLocks noGrp="1"/>
          </p:cNvSpPr>
          <p:nvPr/>
        </p:nvSpPr>
        <p:spPr>
          <a:xfrm>
            <a:off x="7726679" y="1417320"/>
            <a:ext cx="3611880" cy="2148840"/>
          </a:xfrm>
          <a:prstGeom prst="roundRect">
            <a:avLst/>
          </a:prstGeom>
          <a:solidFill>
            <a:srgbClr val="EEF1EB"/>
          </a:solidFill>
          <a:ln>
            <a:solidFill>
              <a:srgbClr val="E8BA5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EAB4B27-99E6-4801-8704-7158A5E713D1}"/>
              </a:ext>
            </a:extLst>
          </p:cNvPr>
          <p:cNvSpPr>
            <a:spLocks noGrp="1"/>
          </p:cNvSpPr>
          <p:nvPr/>
        </p:nvSpPr>
        <p:spPr>
          <a:xfrm>
            <a:off x="8001000" y="1719072"/>
            <a:ext cx="3063240" cy="1441933"/>
          </a:xfrm>
          <a:prstGeom prst="rect">
            <a:avLst/>
          </a:prstGeom>
          <a:noFill/>
        </p:spPr>
        <p:txBody>
          <a:bodyPr wrap="square" lIns="0" tIns="0" rIns="0" bIns="0">
            <a:spAutoFit/>
          </a:bodyPr>
          <a:lstStyle/>
          <a:p>
            <a:pPr algn="l">
              <a:spcBef>
                <a:spcPts val="300"/>
              </a:spcBef>
              <a:buNone/>
              <a:defRPr sz="1520" b="0">
                <a:solidFill>
                  <a:srgbClr val="2C3230"/>
                </a:solidFill>
                <a:latin typeface="Aptos"/>
                <a:ea typeface="Aptos"/>
                <a:cs typeface="Aptos"/>
              </a:defRPr>
            </a:pPr>
            <a:r>
              <a:rPr dirty="0"/>
              <a:t>Example: </a:t>
            </a:r>
            <a:endParaRPr lang="en-US" dirty="0"/>
          </a:p>
          <a:p>
            <a:pPr algn="l">
              <a:spcBef>
                <a:spcPts val="300"/>
              </a:spcBef>
              <a:buNone/>
              <a:defRPr sz="1520" b="0">
                <a:solidFill>
                  <a:srgbClr val="2C3230"/>
                </a:solidFill>
                <a:latin typeface="Aptos"/>
                <a:ea typeface="Aptos"/>
                <a:cs typeface="Aptos"/>
              </a:defRPr>
            </a:pPr>
            <a:r>
              <a:rPr dirty="0"/>
              <a:t>If a model supports a certain number of requests per minute and the application suddenly receives much more traffic, some requests may need to wait or retry.</a:t>
            </a:r>
          </a:p>
        </p:txBody>
      </p:sp>
      <p:sp>
        <p:nvSpPr>
          <p:cNvPr id="10" name="Rounded Rectangle 9">
            <a:extLst>
              <a:ext uri="{FF2B5EF4-FFF2-40B4-BE49-F238E27FC236}">
                <a16:creationId xmlns:a16="http://schemas.microsoft.com/office/drawing/2014/main" id="{68EF7FFF-C31C-489D-9C9C-59A56F084EA0}"/>
              </a:ext>
            </a:extLst>
          </p:cNvPr>
          <p:cNvSpPr>
            <a:spLocks noGrp="1"/>
          </p:cNvSpPr>
          <p:nvPr/>
        </p:nvSpPr>
        <p:spPr>
          <a:xfrm>
            <a:off x="7726679" y="3822191"/>
            <a:ext cx="3611880" cy="1554480"/>
          </a:xfrm>
          <a:prstGeom prst="roundRect">
            <a:avLst/>
          </a:prstGeom>
          <a:solidFill>
            <a:srgbClr val="1C343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spcBef>
                <a:spcPts val="300"/>
              </a:spcBef>
              <a:buNone/>
            </a:pPr>
            <a:endParaRPr/>
          </a:p>
        </p:txBody>
      </p:sp>
      <p:sp>
        <p:nvSpPr>
          <p:cNvPr id="11" name="TextBox 10">
            <a:extLst>
              <a:ext uri="{FF2B5EF4-FFF2-40B4-BE49-F238E27FC236}">
                <a16:creationId xmlns:a16="http://schemas.microsoft.com/office/drawing/2014/main" id="{38E6F088-8CF5-48EC-8A83-0CFDF87E111A}"/>
              </a:ext>
            </a:extLst>
          </p:cNvPr>
          <p:cNvSpPr>
            <a:spLocks noGrp="1"/>
          </p:cNvSpPr>
          <p:nvPr/>
        </p:nvSpPr>
        <p:spPr>
          <a:xfrm>
            <a:off x="8001000" y="4133087"/>
            <a:ext cx="3063240" cy="974113"/>
          </a:xfrm>
          <a:prstGeom prst="rect">
            <a:avLst/>
          </a:prstGeom>
          <a:noFill/>
        </p:spPr>
        <p:txBody>
          <a:bodyPr wrap="square" lIns="0" tIns="0" rIns="0" bIns="0">
            <a:spAutoFit/>
          </a:bodyPr>
          <a:lstStyle/>
          <a:p>
            <a:pPr>
              <a:spcBef>
                <a:spcPts val="300"/>
              </a:spcBef>
              <a:buNone/>
              <a:defRPr sz="1520" b="1">
                <a:solidFill>
                  <a:srgbClr val="FFFFFF"/>
                </a:solidFill>
                <a:latin typeface="Aptos"/>
                <a:ea typeface="Aptos"/>
                <a:cs typeface="Aptos"/>
              </a:defRPr>
            </a:pPr>
            <a:r>
              <a:rPr dirty="0"/>
              <a:t>Main Idea: </a:t>
            </a:r>
            <a:endParaRPr lang="en-US" dirty="0"/>
          </a:p>
          <a:p>
            <a:pPr>
              <a:spcBef>
                <a:spcPts val="300"/>
              </a:spcBef>
              <a:buNone/>
              <a:defRPr sz="1520" b="1">
                <a:solidFill>
                  <a:srgbClr val="FFFFFF"/>
                </a:solidFill>
                <a:latin typeface="Aptos"/>
                <a:ea typeface="Aptos"/>
                <a:cs typeface="Aptos"/>
              </a:defRPr>
            </a:pPr>
            <a:r>
              <a:rPr dirty="0"/>
              <a:t>Capacity planning should happen before the application reaches its limits.</a:t>
            </a:r>
          </a:p>
        </p:txBody>
      </p:sp>
    </p:spTree>
    <p:extLst>
      <p:ext uri="{BB962C8B-B14F-4D97-AF65-F5344CB8AC3E}">
        <p14:creationId xmlns:p14="http://schemas.microsoft.com/office/powerpoint/2010/main" val="75694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C97D70-E6F9-4E83-8B3D-048633F42BDB}"/>
              </a:ext>
            </a:extLst>
          </p:cNvPr>
          <p:cNvSpPr>
            <a:spLocks noGrp="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71503F40-3A60-4C0D-90C4-4FE642F29E88}"/>
              </a:ext>
            </a:extLst>
          </p:cNvPr>
          <p:cNvSpPr>
            <a:spLocks noGrp="1"/>
          </p:cNvSpPr>
          <p:nvPr/>
        </p:nvSpPr>
        <p:spPr>
          <a:xfrm>
            <a:off x="640080" y="411480"/>
            <a:ext cx="10149840" cy="566928"/>
          </a:xfrm>
          <a:prstGeom prst="rect">
            <a:avLst/>
          </a:prstGeom>
          <a:noFill/>
        </p:spPr>
        <p:txBody>
          <a:bodyPr wrap="square" lIns="0" tIns="0" rIns="0" bIns="0">
            <a:spAutoFit/>
          </a:bodyPr>
          <a:lstStyle/>
          <a:p>
            <a:pPr algn="l">
              <a:buNone/>
              <a:defRPr sz="2500" b="1">
                <a:solidFill>
                  <a:srgbClr val="1C3430"/>
                </a:solidFill>
                <a:latin typeface="Aptos Display"/>
                <a:ea typeface="Aptos Display"/>
                <a:cs typeface="Aptos Display"/>
              </a:defRPr>
            </a:pPr>
            <a:r>
              <a:t>What Is Batch Processing?</a:t>
            </a:r>
          </a:p>
        </p:txBody>
      </p:sp>
      <p:sp>
        <p:nvSpPr>
          <p:cNvPr id="4" name="Rectangle 3">
            <a:extLst>
              <a:ext uri="{FF2B5EF4-FFF2-40B4-BE49-F238E27FC236}">
                <a16:creationId xmlns:a16="http://schemas.microsoft.com/office/drawing/2014/main" id="{B25CAD4F-0CFB-4860-A3F6-EB1C431B0D13}"/>
              </a:ext>
            </a:extLst>
          </p:cNvPr>
          <p:cNvSpPr>
            <a:spLocks noGrp="1"/>
          </p:cNvSpPr>
          <p:nvPr/>
        </p:nvSpPr>
        <p:spPr>
          <a:xfrm>
            <a:off x="658368" y="1024128"/>
            <a:ext cx="1051560" cy="54864"/>
          </a:xfrm>
          <a:prstGeom prst="rect">
            <a:avLst/>
          </a:prstGeom>
          <a:solidFill>
            <a:srgbClr val="DE7E4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E2F45E86-87A2-432E-A05E-661E2BAF2F82}"/>
              </a:ext>
            </a:extLst>
          </p:cNvPr>
          <p:cNvSpPr>
            <a:spLocks noGrp="1"/>
          </p:cNvSpPr>
          <p:nvPr/>
        </p:nvSpPr>
        <p:spPr>
          <a:xfrm>
            <a:off x="11018520" y="320040"/>
            <a:ext cx="530352" cy="384048"/>
          </a:xfrm>
          <a:prstGeom prst="roundRect">
            <a:avLst/>
          </a:prstGeom>
          <a:solidFill>
            <a:srgbClr val="1C343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9C2D9FF-287C-4B10-BDAA-27D66F7E1EF4}"/>
              </a:ext>
            </a:extLst>
          </p:cNvPr>
          <p:cNvSpPr>
            <a:spLocks noGrp="1"/>
          </p:cNvSpPr>
          <p:nvPr/>
        </p:nvSpPr>
        <p:spPr>
          <a:xfrm>
            <a:off x="11018520" y="384048"/>
            <a:ext cx="530352" cy="210312"/>
          </a:xfrm>
          <a:prstGeom prst="rect">
            <a:avLst/>
          </a:prstGeom>
          <a:noFill/>
        </p:spPr>
        <p:txBody>
          <a:bodyPr wrap="square" lIns="0" tIns="0" rIns="0" bIns="0">
            <a:spAutoFit/>
          </a:bodyPr>
          <a:lstStyle/>
          <a:p>
            <a:pPr algn="ctr">
              <a:buNone/>
              <a:defRPr sz="1300" b="1">
                <a:solidFill>
                  <a:srgbClr val="FFFFFF"/>
                </a:solidFill>
                <a:latin typeface="Aptos"/>
                <a:ea typeface="Aptos"/>
                <a:cs typeface="Aptos"/>
              </a:defRPr>
            </a:pPr>
            <a:r>
              <a:t>5</a:t>
            </a:r>
          </a:p>
        </p:txBody>
      </p:sp>
      <p:sp>
        <p:nvSpPr>
          <p:cNvPr id="7" name="TextBox 6">
            <a:extLst>
              <a:ext uri="{FF2B5EF4-FFF2-40B4-BE49-F238E27FC236}">
                <a16:creationId xmlns:a16="http://schemas.microsoft.com/office/drawing/2014/main" id="{63F9D6C3-C1DD-41B5-A966-AB650069EA94}"/>
              </a:ext>
            </a:extLst>
          </p:cNvPr>
          <p:cNvSpPr>
            <a:spLocks noGrp="1"/>
          </p:cNvSpPr>
          <p:nvPr/>
        </p:nvSpPr>
        <p:spPr>
          <a:xfrm>
            <a:off x="685800" y="1298448"/>
            <a:ext cx="7360920" cy="3834896"/>
          </a:xfrm>
          <a:prstGeom prst="rect">
            <a:avLst/>
          </a:prstGeom>
          <a:noFill/>
        </p:spPr>
        <p:txBody>
          <a:bodyPr wrap="square" lIns="18288" tIns="9144" rIns="18288" bIns="9144">
            <a:spAutoFit/>
          </a:bodyPr>
          <a:lstStyle/>
          <a:p>
            <a:pPr marL="285750" indent="-285750">
              <a:spcBef>
                <a:spcPts val="600"/>
              </a:spcBef>
              <a:spcAft>
                <a:spcPts val="600"/>
              </a:spcAft>
              <a:buFont typeface="Arial" panose="020B0604020202020204" pitchFamily="34" charset="0"/>
              <a:buChar char="•"/>
              <a:defRPr sz="1650">
                <a:solidFill>
                  <a:srgbClr val="2C3230"/>
                </a:solidFill>
                <a:latin typeface="Aptos"/>
                <a:ea typeface="Aptos"/>
                <a:cs typeface="Aptos"/>
              </a:defRPr>
            </a:pPr>
            <a:r>
              <a:rPr dirty="0"/>
              <a:t>Some AI workloads do not require an immediate response for every individual request.</a:t>
            </a:r>
          </a:p>
          <a:p>
            <a:pPr marL="285750" indent="-285750">
              <a:spcBef>
                <a:spcPts val="600"/>
              </a:spcBef>
              <a:spcAft>
                <a:spcPts val="600"/>
              </a:spcAft>
              <a:buFont typeface="Arial" panose="020B0604020202020204" pitchFamily="34" charset="0"/>
              <a:buChar char="•"/>
              <a:defRPr sz="1650">
                <a:solidFill>
                  <a:srgbClr val="2C3230"/>
                </a:solidFill>
                <a:latin typeface="Aptos"/>
                <a:ea typeface="Aptos"/>
                <a:cs typeface="Aptos"/>
              </a:defRPr>
            </a:pPr>
            <a:r>
              <a:rPr dirty="0"/>
              <a:t>In these cases, many requests can be collected and processed together using batch processing.</a:t>
            </a:r>
          </a:p>
          <a:p>
            <a:pPr marL="285750" indent="-285750">
              <a:spcBef>
                <a:spcPts val="600"/>
              </a:spcBef>
              <a:spcAft>
                <a:spcPts val="600"/>
              </a:spcAft>
              <a:buFont typeface="Arial" panose="020B0604020202020204" pitchFamily="34" charset="0"/>
              <a:buChar char="•"/>
              <a:defRPr sz="1650">
                <a:solidFill>
                  <a:srgbClr val="2C3230"/>
                </a:solidFill>
                <a:latin typeface="Aptos"/>
                <a:ea typeface="Aptos"/>
                <a:cs typeface="Aptos"/>
              </a:defRPr>
            </a:pPr>
            <a:r>
              <a:rPr dirty="0"/>
              <a:t>Batch processing is useful for jobs such as summarizing a large collection of documents, classifying many records, or processing a dataset overnight.</a:t>
            </a:r>
          </a:p>
          <a:p>
            <a:pPr marL="285750" indent="-285750">
              <a:spcBef>
                <a:spcPts val="600"/>
              </a:spcBef>
              <a:spcAft>
                <a:spcPts val="600"/>
              </a:spcAft>
              <a:buFont typeface="Arial" panose="020B0604020202020204" pitchFamily="34" charset="0"/>
              <a:buChar char="•"/>
              <a:defRPr sz="1650">
                <a:solidFill>
                  <a:srgbClr val="2C3230"/>
                </a:solidFill>
                <a:latin typeface="Aptos"/>
                <a:ea typeface="Aptos"/>
                <a:cs typeface="Aptos"/>
              </a:defRPr>
            </a:pPr>
            <a:r>
              <a:rPr dirty="0"/>
              <a:t>Instead of creating a separate real-time interaction for every item, the application can prepare a batch of inputs and process them as one larger job.</a:t>
            </a:r>
          </a:p>
          <a:p>
            <a:pPr marL="285750" indent="-285750">
              <a:spcBef>
                <a:spcPts val="600"/>
              </a:spcBef>
              <a:spcAft>
                <a:spcPts val="600"/>
              </a:spcAft>
              <a:buFont typeface="Arial" panose="020B0604020202020204" pitchFamily="34" charset="0"/>
              <a:buChar char="•"/>
              <a:defRPr sz="1650">
                <a:solidFill>
                  <a:srgbClr val="2C3230"/>
                </a:solidFill>
                <a:latin typeface="Aptos"/>
                <a:ea typeface="Aptos"/>
                <a:cs typeface="Aptos"/>
              </a:defRPr>
            </a:pPr>
            <a:r>
              <a:rPr dirty="0"/>
              <a:t>This can be more practical and cost-efficient when users do not need instant results.</a:t>
            </a:r>
          </a:p>
          <a:p>
            <a:pPr marL="285750" indent="-285750">
              <a:spcBef>
                <a:spcPts val="600"/>
              </a:spcBef>
              <a:spcAft>
                <a:spcPts val="600"/>
              </a:spcAft>
              <a:buFont typeface="Arial" panose="020B0604020202020204" pitchFamily="34" charset="0"/>
              <a:buChar char="•"/>
              <a:defRPr sz="1650">
                <a:solidFill>
                  <a:srgbClr val="2C3230"/>
                </a:solidFill>
                <a:latin typeface="Aptos"/>
                <a:ea typeface="Aptos"/>
                <a:cs typeface="Aptos"/>
              </a:defRPr>
            </a:pPr>
            <a:r>
              <a:rPr dirty="0"/>
              <a:t>Example Use Cases: Summarize 5,000 support tickets. Classify thousands of customer comments. Generate descriptions for a large product catalog.</a:t>
            </a:r>
          </a:p>
        </p:txBody>
      </p:sp>
      <p:sp>
        <p:nvSpPr>
          <p:cNvPr id="8" name="Rounded Rectangle 7">
            <a:extLst>
              <a:ext uri="{FF2B5EF4-FFF2-40B4-BE49-F238E27FC236}">
                <a16:creationId xmlns:a16="http://schemas.microsoft.com/office/drawing/2014/main" id="{CCFB9B20-B61C-4356-B387-7F571D2242CC}"/>
              </a:ext>
            </a:extLst>
          </p:cNvPr>
          <p:cNvSpPr>
            <a:spLocks noGrp="1"/>
          </p:cNvSpPr>
          <p:nvPr/>
        </p:nvSpPr>
        <p:spPr>
          <a:xfrm>
            <a:off x="8366760" y="1572768"/>
            <a:ext cx="3017520" cy="3383280"/>
          </a:xfrm>
          <a:prstGeom prst="roundRect">
            <a:avLst/>
          </a:prstGeom>
          <a:solidFill>
            <a:srgbClr val="DCEBE2"/>
          </a:solidFill>
          <a:ln>
            <a:solidFill>
              <a:srgbClr val="32685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Oval 8">
            <a:extLst>
              <a:ext uri="{FF2B5EF4-FFF2-40B4-BE49-F238E27FC236}">
                <a16:creationId xmlns:a16="http://schemas.microsoft.com/office/drawing/2014/main" id="{143FC45D-7087-4DA2-875B-BFA8ED433201}"/>
              </a:ext>
            </a:extLst>
          </p:cNvPr>
          <p:cNvSpPr>
            <a:spLocks noGrp="1"/>
          </p:cNvSpPr>
          <p:nvPr/>
        </p:nvSpPr>
        <p:spPr>
          <a:xfrm>
            <a:off x="9326880" y="1874519"/>
            <a:ext cx="1051560" cy="1051560"/>
          </a:xfrm>
          <a:prstGeom prst="ellipse">
            <a:avLst/>
          </a:prstGeom>
          <a:solidFill>
            <a:srgbClr val="3268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CEB26A8-14C3-4997-A320-6FAC03947884}"/>
              </a:ext>
            </a:extLst>
          </p:cNvPr>
          <p:cNvSpPr>
            <a:spLocks noGrp="1"/>
          </p:cNvSpPr>
          <p:nvPr/>
        </p:nvSpPr>
        <p:spPr>
          <a:xfrm>
            <a:off x="8915400" y="2185416"/>
            <a:ext cx="1874519" cy="256032"/>
          </a:xfrm>
          <a:prstGeom prst="rect">
            <a:avLst/>
          </a:prstGeom>
          <a:noFill/>
        </p:spPr>
        <p:txBody>
          <a:bodyPr wrap="square" lIns="0" tIns="0" rIns="0" bIns="0">
            <a:spAutoFit/>
          </a:bodyPr>
          <a:lstStyle/>
          <a:p>
            <a:pPr algn="ctr">
              <a:buNone/>
              <a:defRPr sz="1200" b="1">
                <a:solidFill>
                  <a:srgbClr val="FFFFFF"/>
                </a:solidFill>
                <a:latin typeface="Aptos"/>
                <a:ea typeface="Aptos"/>
                <a:cs typeface="Aptos"/>
              </a:defRPr>
            </a:pPr>
            <a:r>
              <a:t>BATCH</a:t>
            </a:r>
          </a:p>
        </p:txBody>
      </p:sp>
      <p:sp>
        <p:nvSpPr>
          <p:cNvPr id="11" name="TextBox 10">
            <a:extLst>
              <a:ext uri="{FF2B5EF4-FFF2-40B4-BE49-F238E27FC236}">
                <a16:creationId xmlns:a16="http://schemas.microsoft.com/office/drawing/2014/main" id="{5080E521-F85D-4CFD-A0E9-6E330A516EE6}"/>
              </a:ext>
            </a:extLst>
          </p:cNvPr>
          <p:cNvSpPr>
            <a:spLocks noGrp="1"/>
          </p:cNvSpPr>
          <p:nvPr/>
        </p:nvSpPr>
        <p:spPr>
          <a:xfrm>
            <a:off x="8668512" y="3246120"/>
            <a:ext cx="2423160" cy="1515800"/>
          </a:xfrm>
          <a:prstGeom prst="rect">
            <a:avLst/>
          </a:prstGeom>
          <a:noFill/>
        </p:spPr>
        <p:txBody>
          <a:bodyPr wrap="square" lIns="0" tIns="0" rIns="0" bIns="0">
            <a:spAutoFit/>
          </a:bodyPr>
          <a:lstStyle/>
          <a:p>
            <a:pPr>
              <a:spcBef>
                <a:spcPts val="300"/>
              </a:spcBef>
              <a:buNone/>
              <a:defRPr sz="1600" b="1">
                <a:solidFill>
                  <a:srgbClr val="1C3430"/>
                </a:solidFill>
                <a:latin typeface="Aptos"/>
                <a:ea typeface="Aptos"/>
                <a:cs typeface="Aptos"/>
              </a:defRPr>
            </a:pPr>
            <a:r>
              <a:rPr dirty="0"/>
              <a:t>Main Lesson: </a:t>
            </a:r>
            <a:endParaRPr lang="en-US" dirty="0"/>
          </a:p>
          <a:p>
            <a:pPr>
              <a:spcBef>
                <a:spcPts val="300"/>
              </a:spcBef>
              <a:buNone/>
              <a:defRPr sz="1600" b="1">
                <a:solidFill>
                  <a:srgbClr val="1C3430"/>
                </a:solidFill>
                <a:latin typeface="Aptos"/>
                <a:ea typeface="Aptos"/>
                <a:cs typeface="Aptos"/>
              </a:defRPr>
            </a:pPr>
            <a:r>
              <a:rPr dirty="0"/>
              <a:t>Use real-time inference when the user is waiting. Use batch processing when the work can happen later.</a:t>
            </a:r>
          </a:p>
        </p:txBody>
      </p:sp>
    </p:spTree>
    <p:extLst>
      <p:ext uri="{BB962C8B-B14F-4D97-AF65-F5344CB8AC3E}">
        <p14:creationId xmlns:p14="http://schemas.microsoft.com/office/powerpoint/2010/main" val="2007839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934C27-B4FD-4BF3-94CA-538FDD882270}"/>
              </a:ext>
            </a:extLst>
          </p:cNvPr>
          <p:cNvSpPr>
            <a:spLocks noGrp="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706644FA-33D0-4A2E-82BF-F5454042D1C1}"/>
              </a:ext>
            </a:extLst>
          </p:cNvPr>
          <p:cNvSpPr>
            <a:spLocks noGrp="1"/>
          </p:cNvSpPr>
          <p:nvPr/>
        </p:nvSpPr>
        <p:spPr>
          <a:xfrm>
            <a:off x="640080" y="411480"/>
            <a:ext cx="10149840" cy="566928"/>
          </a:xfrm>
          <a:prstGeom prst="rect">
            <a:avLst/>
          </a:prstGeom>
          <a:noFill/>
        </p:spPr>
        <p:txBody>
          <a:bodyPr wrap="square" lIns="0" tIns="0" rIns="0" bIns="0">
            <a:spAutoFit/>
          </a:bodyPr>
          <a:lstStyle/>
          <a:p>
            <a:pPr algn="l">
              <a:buNone/>
              <a:defRPr sz="2500" b="1">
                <a:solidFill>
                  <a:srgbClr val="1C3430"/>
                </a:solidFill>
                <a:latin typeface="Aptos Display"/>
                <a:ea typeface="Aptos Display"/>
                <a:cs typeface="Aptos Display"/>
              </a:defRPr>
            </a:pPr>
            <a:r>
              <a:t>Amazon Bedrock Batch Inference</a:t>
            </a:r>
          </a:p>
        </p:txBody>
      </p:sp>
      <p:sp>
        <p:nvSpPr>
          <p:cNvPr id="4" name="Rectangle 3">
            <a:extLst>
              <a:ext uri="{FF2B5EF4-FFF2-40B4-BE49-F238E27FC236}">
                <a16:creationId xmlns:a16="http://schemas.microsoft.com/office/drawing/2014/main" id="{480F8821-00ED-4E63-878D-46DEE00CBA78}"/>
              </a:ext>
            </a:extLst>
          </p:cNvPr>
          <p:cNvSpPr>
            <a:spLocks noGrp="1"/>
          </p:cNvSpPr>
          <p:nvPr/>
        </p:nvSpPr>
        <p:spPr>
          <a:xfrm>
            <a:off x="658368" y="1024128"/>
            <a:ext cx="1051560" cy="54864"/>
          </a:xfrm>
          <a:prstGeom prst="rect">
            <a:avLst/>
          </a:prstGeom>
          <a:solidFill>
            <a:srgbClr val="DE7E4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137F0399-BB5C-4AA9-AFD6-6E80CE8DF83E}"/>
              </a:ext>
            </a:extLst>
          </p:cNvPr>
          <p:cNvSpPr>
            <a:spLocks noGrp="1"/>
          </p:cNvSpPr>
          <p:nvPr/>
        </p:nvSpPr>
        <p:spPr>
          <a:xfrm>
            <a:off x="11018520" y="320040"/>
            <a:ext cx="530352" cy="384048"/>
          </a:xfrm>
          <a:prstGeom prst="roundRect">
            <a:avLst/>
          </a:prstGeom>
          <a:solidFill>
            <a:srgbClr val="1C343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72111107-9C9B-4301-8E69-07632F428005}"/>
              </a:ext>
            </a:extLst>
          </p:cNvPr>
          <p:cNvSpPr>
            <a:spLocks noGrp="1"/>
          </p:cNvSpPr>
          <p:nvPr/>
        </p:nvSpPr>
        <p:spPr>
          <a:xfrm>
            <a:off x="11018520" y="384048"/>
            <a:ext cx="530352" cy="210312"/>
          </a:xfrm>
          <a:prstGeom prst="rect">
            <a:avLst/>
          </a:prstGeom>
          <a:noFill/>
        </p:spPr>
        <p:txBody>
          <a:bodyPr wrap="square" lIns="0" tIns="0" rIns="0" bIns="0">
            <a:spAutoFit/>
          </a:bodyPr>
          <a:lstStyle/>
          <a:p>
            <a:pPr algn="ctr">
              <a:buNone/>
              <a:defRPr sz="1300" b="1">
                <a:solidFill>
                  <a:srgbClr val="FFFFFF"/>
                </a:solidFill>
                <a:latin typeface="Aptos"/>
                <a:ea typeface="Aptos"/>
                <a:cs typeface="Aptos"/>
              </a:defRPr>
            </a:pPr>
            <a:r>
              <a:t>6</a:t>
            </a:r>
          </a:p>
        </p:txBody>
      </p:sp>
      <p:sp>
        <p:nvSpPr>
          <p:cNvPr id="7" name="TextBox 6">
            <a:extLst>
              <a:ext uri="{FF2B5EF4-FFF2-40B4-BE49-F238E27FC236}">
                <a16:creationId xmlns:a16="http://schemas.microsoft.com/office/drawing/2014/main" id="{EDADC556-10F9-4368-A648-7039E3D50414}"/>
              </a:ext>
            </a:extLst>
          </p:cNvPr>
          <p:cNvSpPr>
            <a:spLocks noGrp="1"/>
          </p:cNvSpPr>
          <p:nvPr/>
        </p:nvSpPr>
        <p:spPr>
          <a:xfrm>
            <a:off x="685800" y="1298448"/>
            <a:ext cx="6217920" cy="3625608"/>
          </a:xfrm>
          <a:prstGeom prst="rect">
            <a:avLst/>
          </a:prstGeom>
          <a:noFill/>
        </p:spPr>
        <p:txBody>
          <a:bodyPr wrap="square" lIns="18288" tIns="9144" rIns="18288" bIns="9144">
            <a:spAutoFit/>
          </a:bodyPr>
          <a:lstStyle/>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Amazon Bedrock supports Batch Inference for workloads where large numbers of prompts need to be processed without requiring immediate interactive responses.</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The application can prepare input data, submit the batch job, and allow the model to process the requests.</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Results can then be collected after processing is complete.</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Batch inference is useful for repetitive, large-scale tasks where speed for each individual request is less important than efficiently completing the complete workload.</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It also separates offline processing from the real-time application, which can help prevent background jobs from competing with interactive users.</a:t>
            </a:r>
          </a:p>
        </p:txBody>
      </p:sp>
      <p:sp>
        <p:nvSpPr>
          <p:cNvPr id="8" name="Rounded Rectangle 7">
            <a:extLst>
              <a:ext uri="{FF2B5EF4-FFF2-40B4-BE49-F238E27FC236}">
                <a16:creationId xmlns:a16="http://schemas.microsoft.com/office/drawing/2014/main" id="{3A2F01B8-AF75-4EDE-AEA5-6A7A641F6E90}"/>
              </a:ext>
            </a:extLst>
          </p:cNvPr>
          <p:cNvSpPr>
            <a:spLocks noGrp="1"/>
          </p:cNvSpPr>
          <p:nvPr/>
        </p:nvSpPr>
        <p:spPr>
          <a:xfrm>
            <a:off x="7543800" y="1417320"/>
            <a:ext cx="3154680" cy="530352"/>
          </a:xfrm>
          <a:prstGeom prst="roundRect">
            <a:avLst/>
          </a:prstGeom>
          <a:solidFill>
            <a:srgbClr val="DCEBE2"/>
          </a:solidFill>
          <a:ln>
            <a:solidFill>
              <a:srgbClr val="32685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733523C-0BA1-4C6B-9A70-1DA7CD1CB49F}"/>
              </a:ext>
            </a:extLst>
          </p:cNvPr>
          <p:cNvSpPr>
            <a:spLocks noGrp="1"/>
          </p:cNvSpPr>
          <p:nvPr/>
        </p:nvSpPr>
        <p:spPr>
          <a:xfrm>
            <a:off x="7699248" y="1545336"/>
            <a:ext cx="2834640" cy="228600"/>
          </a:xfrm>
          <a:prstGeom prst="rect">
            <a:avLst/>
          </a:prstGeom>
          <a:noFill/>
        </p:spPr>
        <p:txBody>
          <a:bodyPr wrap="square" lIns="0" tIns="0" rIns="0" bIns="0">
            <a:spAutoFit/>
          </a:bodyPr>
          <a:lstStyle/>
          <a:p>
            <a:pPr algn="ctr">
              <a:buNone/>
              <a:defRPr sz="1340" b="1">
                <a:solidFill>
                  <a:srgbClr val="1C3430"/>
                </a:solidFill>
                <a:latin typeface="Aptos"/>
                <a:ea typeface="Aptos"/>
                <a:cs typeface="Aptos"/>
              </a:defRPr>
            </a:pPr>
            <a:r>
              <a:t>Input Dataset</a:t>
            </a:r>
          </a:p>
        </p:txBody>
      </p:sp>
      <p:sp>
        <p:nvSpPr>
          <p:cNvPr id="10" name="TextBox 9">
            <a:extLst>
              <a:ext uri="{FF2B5EF4-FFF2-40B4-BE49-F238E27FC236}">
                <a16:creationId xmlns:a16="http://schemas.microsoft.com/office/drawing/2014/main" id="{5DE595E6-3B56-4EE5-8B4D-0FE2661694A3}"/>
              </a:ext>
            </a:extLst>
          </p:cNvPr>
          <p:cNvSpPr>
            <a:spLocks noGrp="1"/>
          </p:cNvSpPr>
          <p:nvPr/>
        </p:nvSpPr>
        <p:spPr>
          <a:xfrm>
            <a:off x="8961120" y="1975104"/>
            <a:ext cx="320040" cy="228600"/>
          </a:xfrm>
          <a:prstGeom prst="rect">
            <a:avLst/>
          </a:prstGeom>
          <a:noFill/>
        </p:spPr>
        <p:txBody>
          <a:bodyPr wrap="square" lIns="0" tIns="0" rIns="0" bIns="0">
            <a:spAutoFit/>
          </a:bodyPr>
          <a:lstStyle/>
          <a:p>
            <a:pPr algn="ctr">
              <a:buNone/>
              <a:defRPr sz="1600" b="1">
                <a:solidFill>
                  <a:srgbClr val="DE7E48"/>
                </a:solidFill>
                <a:latin typeface="Aptos"/>
                <a:ea typeface="Aptos"/>
                <a:cs typeface="Aptos"/>
              </a:defRPr>
            </a:pPr>
            <a:r>
              <a:t>↓</a:t>
            </a:r>
          </a:p>
        </p:txBody>
      </p:sp>
      <p:sp>
        <p:nvSpPr>
          <p:cNvPr id="11" name="Rounded Rectangle 10">
            <a:extLst>
              <a:ext uri="{FF2B5EF4-FFF2-40B4-BE49-F238E27FC236}">
                <a16:creationId xmlns:a16="http://schemas.microsoft.com/office/drawing/2014/main" id="{F183D756-596B-4E2D-AFC9-ACFF34756636}"/>
              </a:ext>
            </a:extLst>
          </p:cNvPr>
          <p:cNvSpPr>
            <a:spLocks noGrp="1"/>
          </p:cNvSpPr>
          <p:nvPr/>
        </p:nvSpPr>
        <p:spPr>
          <a:xfrm>
            <a:off x="7543800" y="2267712"/>
            <a:ext cx="3154680" cy="530352"/>
          </a:xfrm>
          <a:prstGeom prst="roundRect">
            <a:avLst/>
          </a:prstGeom>
          <a:solidFill>
            <a:srgbClr val="EEF1EB"/>
          </a:solidFill>
          <a:ln>
            <a:solidFill>
              <a:srgbClr val="32685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BD3E67E-B7FC-465F-8DCA-5D1BE8CF65B3}"/>
              </a:ext>
            </a:extLst>
          </p:cNvPr>
          <p:cNvSpPr>
            <a:spLocks noGrp="1"/>
          </p:cNvSpPr>
          <p:nvPr/>
        </p:nvSpPr>
        <p:spPr>
          <a:xfrm>
            <a:off x="7699248" y="2395728"/>
            <a:ext cx="2834640" cy="228600"/>
          </a:xfrm>
          <a:prstGeom prst="rect">
            <a:avLst/>
          </a:prstGeom>
          <a:noFill/>
        </p:spPr>
        <p:txBody>
          <a:bodyPr wrap="square" lIns="0" tIns="0" rIns="0" bIns="0">
            <a:spAutoFit/>
          </a:bodyPr>
          <a:lstStyle/>
          <a:p>
            <a:pPr algn="ctr">
              <a:buNone/>
              <a:defRPr sz="1340" b="1">
                <a:solidFill>
                  <a:srgbClr val="1C3430"/>
                </a:solidFill>
                <a:latin typeface="Aptos"/>
                <a:ea typeface="Aptos"/>
                <a:cs typeface="Aptos"/>
              </a:defRPr>
            </a:pPr>
            <a:r>
              <a:t>Batch Job</a:t>
            </a:r>
          </a:p>
        </p:txBody>
      </p:sp>
      <p:sp>
        <p:nvSpPr>
          <p:cNvPr id="13" name="TextBox 12">
            <a:extLst>
              <a:ext uri="{FF2B5EF4-FFF2-40B4-BE49-F238E27FC236}">
                <a16:creationId xmlns:a16="http://schemas.microsoft.com/office/drawing/2014/main" id="{9A8D7F4E-48D4-4BEA-B40F-34CF71382977}"/>
              </a:ext>
            </a:extLst>
          </p:cNvPr>
          <p:cNvSpPr>
            <a:spLocks noGrp="1"/>
          </p:cNvSpPr>
          <p:nvPr/>
        </p:nvSpPr>
        <p:spPr>
          <a:xfrm>
            <a:off x="8961120" y="2825496"/>
            <a:ext cx="320040" cy="228600"/>
          </a:xfrm>
          <a:prstGeom prst="rect">
            <a:avLst/>
          </a:prstGeom>
          <a:noFill/>
        </p:spPr>
        <p:txBody>
          <a:bodyPr wrap="square" lIns="0" tIns="0" rIns="0" bIns="0">
            <a:spAutoFit/>
          </a:bodyPr>
          <a:lstStyle/>
          <a:p>
            <a:pPr algn="ctr">
              <a:buNone/>
              <a:defRPr sz="1600" b="1">
                <a:solidFill>
                  <a:srgbClr val="DE7E48"/>
                </a:solidFill>
                <a:latin typeface="Aptos"/>
                <a:ea typeface="Aptos"/>
                <a:cs typeface="Aptos"/>
              </a:defRPr>
            </a:pPr>
            <a:r>
              <a:t>↓</a:t>
            </a:r>
          </a:p>
        </p:txBody>
      </p:sp>
      <p:sp>
        <p:nvSpPr>
          <p:cNvPr id="14" name="Rounded Rectangle 13">
            <a:extLst>
              <a:ext uri="{FF2B5EF4-FFF2-40B4-BE49-F238E27FC236}">
                <a16:creationId xmlns:a16="http://schemas.microsoft.com/office/drawing/2014/main" id="{568E1386-2111-41B3-9AD0-709A09BFDC27}"/>
              </a:ext>
            </a:extLst>
          </p:cNvPr>
          <p:cNvSpPr>
            <a:spLocks noGrp="1"/>
          </p:cNvSpPr>
          <p:nvPr/>
        </p:nvSpPr>
        <p:spPr>
          <a:xfrm>
            <a:off x="7543800" y="3118104"/>
            <a:ext cx="3154680" cy="530352"/>
          </a:xfrm>
          <a:prstGeom prst="roundRect">
            <a:avLst/>
          </a:prstGeom>
          <a:solidFill>
            <a:srgbClr val="DCEBE2"/>
          </a:solidFill>
          <a:ln>
            <a:solidFill>
              <a:srgbClr val="32685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49ADDE7-57EB-47B3-A792-8441BFE36300}"/>
              </a:ext>
            </a:extLst>
          </p:cNvPr>
          <p:cNvSpPr>
            <a:spLocks noGrp="1"/>
          </p:cNvSpPr>
          <p:nvPr/>
        </p:nvSpPr>
        <p:spPr>
          <a:xfrm>
            <a:off x="7699248" y="3246120"/>
            <a:ext cx="2834640" cy="228600"/>
          </a:xfrm>
          <a:prstGeom prst="rect">
            <a:avLst/>
          </a:prstGeom>
          <a:noFill/>
        </p:spPr>
        <p:txBody>
          <a:bodyPr wrap="square" lIns="0" tIns="0" rIns="0" bIns="0">
            <a:spAutoFit/>
          </a:bodyPr>
          <a:lstStyle/>
          <a:p>
            <a:pPr algn="ctr">
              <a:buNone/>
              <a:defRPr sz="1340" b="1">
                <a:solidFill>
                  <a:srgbClr val="1C3430"/>
                </a:solidFill>
                <a:latin typeface="Aptos"/>
                <a:ea typeface="Aptos"/>
                <a:cs typeface="Aptos"/>
              </a:defRPr>
            </a:pPr>
            <a:r>
              <a:t>Foundation Model</a:t>
            </a:r>
          </a:p>
        </p:txBody>
      </p:sp>
      <p:sp>
        <p:nvSpPr>
          <p:cNvPr id="16" name="TextBox 15">
            <a:extLst>
              <a:ext uri="{FF2B5EF4-FFF2-40B4-BE49-F238E27FC236}">
                <a16:creationId xmlns:a16="http://schemas.microsoft.com/office/drawing/2014/main" id="{6EFFE8C9-766E-4C60-B49A-CDFD6D3C175C}"/>
              </a:ext>
            </a:extLst>
          </p:cNvPr>
          <p:cNvSpPr>
            <a:spLocks noGrp="1"/>
          </p:cNvSpPr>
          <p:nvPr/>
        </p:nvSpPr>
        <p:spPr>
          <a:xfrm>
            <a:off x="8961120" y="3675888"/>
            <a:ext cx="320040" cy="228600"/>
          </a:xfrm>
          <a:prstGeom prst="rect">
            <a:avLst/>
          </a:prstGeom>
          <a:noFill/>
        </p:spPr>
        <p:txBody>
          <a:bodyPr wrap="square" lIns="0" tIns="0" rIns="0" bIns="0">
            <a:spAutoFit/>
          </a:bodyPr>
          <a:lstStyle/>
          <a:p>
            <a:pPr algn="ctr">
              <a:buNone/>
              <a:defRPr sz="1600" b="1">
                <a:solidFill>
                  <a:srgbClr val="DE7E48"/>
                </a:solidFill>
                <a:latin typeface="Aptos"/>
                <a:ea typeface="Aptos"/>
                <a:cs typeface="Aptos"/>
              </a:defRPr>
            </a:pPr>
            <a:r>
              <a:t>↓</a:t>
            </a:r>
          </a:p>
        </p:txBody>
      </p:sp>
      <p:sp>
        <p:nvSpPr>
          <p:cNvPr id="17" name="Rounded Rectangle 16">
            <a:extLst>
              <a:ext uri="{FF2B5EF4-FFF2-40B4-BE49-F238E27FC236}">
                <a16:creationId xmlns:a16="http://schemas.microsoft.com/office/drawing/2014/main" id="{449E1498-48E0-454B-A4FF-59F8873557B1}"/>
              </a:ext>
            </a:extLst>
          </p:cNvPr>
          <p:cNvSpPr>
            <a:spLocks noGrp="1"/>
          </p:cNvSpPr>
          <p:nvPr/>
        </p:nvSpPr>
        <p:spPr>
          <a:xfrm>
            <a:off x="7543800" y="3968496"/>
            <a:ext cx="3154680" cy="530352"/>
          </a:xfrm>
          <a:prstGeom prst="roundRect">
            <a:avLst/>
          </a:prstGeom>
          <a:solidFill>
            <a:srgbClr val="EEF1EB"/>
          </a:solidFill>
          <a:ln>
            <a:solidFill>
              <a:srgbClr val="32685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5AE15B8-F2E6-4E9D-AF9B-6D980DBA7331}"/>
              </a:ext>
            </a:extLst>
          </p:cNvPr>
          <p:cNvSpPr>
            <a:spLocks noGrp="1"/>
          </p:cNvSpPr>
          <p:nvPr/>
        </p:nvSpPr>
        <p:spPr>
          <a:xfrm>
            <a:off x="7699248" y="4096512"/>
            <a:ext cx="2834640" cy="228600"/>
          </a:xfrm>
          <a:prstGeom prst="rect">
            <a:avLst/>
          </a:prstGeom>
          <a:noFill/>
        </p:spPr>
        <p:txBody>
          <a:bodyPr wrap="square" lIns="0" tIns="0" rIns="0" bIns="0">
            <a:spAutoFit/>
          </a:bodyPr>
          <a:lstStyle/>
          <a:p>
            <a:pPr algn="ctr">
              <a:buNone/>
              <a:defRPr sz="1340" b="1">
                <a:solidFill>
                  <a:srgbClr val="1C3430"/>
                </a:solidFill>
                <a:latin typeface="Aptos"/>
                <a:ea typeface="Aptos"/>
                <a:cs typeface="Aptos"/>
              </a:defRPr>
            </a:pPr>
            <a:r>
              <a:t>Process Many Requests</a:t>
            </a:r>
          </a:p>
        </p:txBody>
      </p:sp>
      <p:sp>
        <p:nvSpPr>
          <p:cNvPr id="19" name="TextBox 18">
            <a:extLst>
              <a:ext uri="{FF2B5EF4-FFF2-40B4-BE49-F238E27FC236}">
                <a16:creationId xmlns:a16="http://schemas.microsoft.com/office/drawing/2014/main" id="{8B35B76F-7B13-4603-B085-33DF81951401}"/>
              </a:ext>
            </a:extLst>
          </p:cNvPr>
          <p:cNvSpPr>
            <a:spLocks noGrp="1"/>
          </p:cNvSpPr>
          <p:nvPr/>
        </p:nvSpPr>
        <p:spPr>
          <a:xfrm>
            <a:off x="8961120" y="4526280"/>
            <a:ext cx="320040" cy="228600"/>
          </a:xfrm>
          <a:prstGeom prst="rect">
            <a:avLst/>
          </a:prstGeom>
          <a:noFill/>
        </p:spPr>
        <p:txBody>
          <a:bodyPr wrap="square" lIns="0" tIns="0" rIns="0" bIns="0">
            <a:spAutoFit/>
          </a:bodyPr>
          <a:lstStyle/>
          <a:p>
            <a:pPr algn="ctr">
              <a:buNone/>
              <a:defRPr sz="1600" b="1">
                <a:solidFill>
                  <a:srgbClr val="DE7E48"/>
                </a:solidFill>
                <a:latin typeface="Aptos"/>
                <a:ea typeface="Aptos"/>
                <a:cs typeface="Aptos"/>
              </a:defRPr>
            </a:pPr>
            <a:r>
              <a:t>↓</a:t>
            </a:r>
          </a:p>
        </p:txBody>
      </p:sp>
      <p:sp>
        <p:nvSpPr>
          <p:cNvPr id="20" name="Rounded Rectangle 19">
            <a:extLst>
              <a:ext uri="{FF2B5EF4-FFF2-40B4-BE49-F238E27FC236}">
                <a16:creationId xmlns:a16="http://schemas.microsoft.com/office/drawing/2014/main" id="{67F2C24E-38EC-4D93-BB1E-06DA4B48CD97}"/>
              </a:ext>
            </a:extLst>
          </p:cNvPr>
          <p:cNvSpPr>
            <a:spLocks noGrp="1"/>
          </p:cNvSpPr>
          <p:nvPr/>
        </p:nvSpPr>
        <p:spPr>
          <a:xfrm>
            <a:off x="7543800" y="4818888"/>
            <a:ext cx="3154680" cy="530352"/>
          </a:xfrm>
          <a:prstGeom prst="roundRect">
            <a:avLst/>
          </a:prstGeom>
          <a:solidFill>
            <a:srgbClr val="DCEBE2"/>
          </a:solidFill>
          <a:ln>
            <a:solidFill>
              <a:srgbClr val="32685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DC32E6D-35F3-4FE3-A17D-B3B0F5A8FF63}"/>
              </a:ext>
            </a:extLst>
          </p:cNvPr>
          <p:cNvSpPr>
            <a:spLocks noGrp="1"/>
          </p:cNvSpPr>
          <p:nvPr/>
        </p:nvSpPr>
        <p:spPr>
          <a:xfrm>
            <a:off x="7699248" y="4946904"/>
            <a:ext cx="2834640" cy="228600"/>
          </a:xfrm>
          <a:prstGeom prst="rect">
            <a:avLst/>
          </a:prstGeom>
          <a:noFill/>
        </p:spPr>
        <p:txBody>
          <a:bodyPr wrap="square" lIns="0" tIns="0" rIns="0" bIns="0">
            <a:spAutoFit/>
          </a:bodyPr>
          <a:lstStyle/>
          <a:p>
            <a:pPr algn="ctr">
              <a:buNone/>
              <a:defRPr sz="1340" b="1">
                <a:solidFill>
                  <a:srgbClr val="1C3430"/>
                </a:solidFill>
                <a:latin typeface="Aptos"/>
                <a:ea typeface="Aptos"/>
                <a:cs typeface="Aptos"/>
              </a:defRPr>
            </a:pPr>
            <a:r>
              <a:t>Output Results</a:t>
            </a:r>
          </a:p>
        </p:txBody>
      </p:sp>
      <p:sp>
        <p:nvSpPr>
          <p:cNvPr id="22" name="TextBox 21">
            <a:extLst>
              <a:ext uri="{FF2B5EF4-FFF2-40B4-BE49-F238E27FC236}">
                <a16:creationId xmlns:a16="http://schemas.microsoft.com/office/drawing/2014/main" id="{43F45C0C-825C-41A1-BFF6-1080C8F105CE}"/>
              </a:ext>
            </a:extLst>
          </p:cNvPr>
          <p:cNvSpPr>
            <a:spLocks noGrp="1"/>
          </p:cNvSpPr>
          <p:nvPr/>
        </p:nvSpPr>
        <p:spPr>
          <a:xfrm>
            <a:off x="7269480" y="5641848"/>
            <a:ext cx="4023360" cy="438912"/>
          </a:xfrm>
          <a:prstGeom prst="rect">
            <a:avLst/>
          </a:prstGeom>
          <a:noFill/>
        </p:spPr>
        <p:txBody>
          <a:bodyPr wrap="square" lIns="0" tIns="0" rIns="0" bIns="0">
            <a:spAutoFit/>
          </a:bodyPr>
          <a:lstStyle/>
          <a:p>
            <a:pPr algn="ctr">
              <a:buNone/>
              <a:defRPr sz="1440" b="1">
                <a:solidFill>
                  <a:srgbClr val="32685D"/>
                </a:solidFill>
                <a:latin typeface="Aptos"/>
                <a:ea typeface="Aptos"/>
                <a:cs typeface="Aptos"/>
              </a:defRPr>
            </a:pPr>
            <a:r>
              <a:t>Main Benefit: Large offline workloads can be processed without treating every item like a live chat request.</a:t>
            </a:r>
          </a:p>
        </p:txBody>
      </p:sp>
    </p:spTree>
    <p:extLst>
      <p:ext uri="{BB962C8B-B14F-4D97-AF65-F5344CB8AC3E}">
        <p14:creationId xmlns:p14="http://schemas.microsoft.com/office/powerpoint/2010/main" val="95718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16C3A71-8887-4DC2-A683-631917EC269A}"/>
              </a:ext>
            </a:extLst>
          </p:cNvPr>
          <p:cNvSpPr>
            <a:spLocks noGrp="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77A053A5-9E73-4AB0-B23D-9F6B087E914D}"/>
              </a:ext>
            </a:extLst>
          </p:cNvPr>
          <p:cNvSpPr>
            <a:spLocks noGrp="1"/>
          </p:cNvSpPr>
          <p:nvPr/>
        </p:nvSpPr>
        <p:spPr>
          <a:xfrm>
            <a:off x="640080" y="411480"/>
            <a:ext cx="10149840" cy="566928"/>
          </a:xfrm>
          <a:prstGeom prst="rect">
            <a:avLst/>
          </a:prstGeom>
          <a:noFill/>
        </p:spPr>
        <p:txBody>
          <a:bodyPr wrap="square" lIns="0" tIns="0" rIns="0" bIns="0">
            <a:spAutoFit/>
          </a:bodyPr>
          <a:lstStyle/>
          <a:p>
            <a:pPr algn="l">
              <a:buNone/>
              <a:defRPr sz="2500" b="1">
                <a:solidFill>
                  <a:srgbClr val="1C3430"/>
                </a:solidFill>
                <a:latin typeface="Aptos Display"/>
                <a:ea typeface="Aptos Display"/>
                <a:cs typeface="Aptos Display"/>
              </a:defRPr>
            </a:pPr>
            <a:r>
              <a:t>On-Demand vs. Provisioned Throughput</a:t>
            </a:r>
          </a:p>
        </p:txBody>
      </p:sp>
      <p:sp>
        <p:nvSpPr>
          <p:cNvPr id="4" name="Rectangle 3">
            <a:extLst>
              <a:ext uri="{FF2B5EF4-FFF2-40B4-BE49-F238E27FC236}">
                <a16:creationId xmlns:a16="http://schemas.microsoft.com/office/drawing/2014/main" id="{C7A99399-28E1-41D1-9A20-7866FE75B464}"/>
              </a:ext>
            </a:extLst>
          </p:cNvPr>
          <p:cNvSpPr>
            <a:spLocks noGrp="1"/>
          </p:cNvSpPr>
          <p:nvPr/>
        </p:nvSpPr>
        <p:spPr>
          <a:xfrm>
            <a:off x="658368" y="1024128"/>
            <a:ext cx="1051560" cy="54864"/>
          </a:xfrm>
          <a:prstGeom prst="rect">
            <a:avLst/>
          </a:prstGeom>
          <a:solidFill>
            <a:srgbClr val="DE7E4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CD3D9DCB-BCBE-403A-9BDA-88D41780A20E}"/>
              </a:ext>
            </a:extLst>
          </p:cNvPr>
          <p:cNvSpPr>
            <a:spLocks noGrp="1"/>
          </p:cNvSpPr>
          <p:nvPr/>
        </p:nvSpPr>
        <p:spPr>
          <a:xfrm>
            <a:off x="11018520" y="320040"/>
            <a:ext cx="530352" cy="384048"/>
          </a:xfrm>
          <a:prstGeom prst="roundRect">
            <a:avLst/>
          </a:prstGeom>
          <a:solidFill>
            <a:srgbClr val="1C343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1410E31-C7BF-45F0-B2AE-1499D4EF0997}"/>
              </a:ext>
            </a:extLst>
          </p:cNvPr>
          <p:cNvSpPr>
            <a:spLocks noGrp="1"/>
          </p:cNvSpPr>
          <p:nvPr/>
        </p:nvSpPr>
        <p:spPr>
          <a:xfrm>
            <a:off x="11018520" y="384048"/>
            <a:ext cx="530352" cy="210312"/>
          </a:xfrm>
          <a:prstGeom prst="rect">
            <a:avLst/>
          </a:prstGeom>
          <a:noFill/>
        </p:spPr>
        <p:txBody>
          <a:bodyPr wrap="square" lIns="0" tIns="0" rIns="0" bIns="0">
            <a:spAutoFit/>
          </a:bodyPr>
          <a:lstStyle/>
          <a:p>
            <a:pPr algn="ctr">
              <a:buNone/>
              <a:defRPr sz="1300" b="1">
                <a:solidFill>
                  <a:srgbClr val="FFFFFF"/>
                </a:solidFill>
                <a:latin typeface="Aptos"/>
                <a:ea typeface="Aptos"/>
                <a:cs typeface="Aptos"/>
              </a:defRPr>
            </a:pPr>
            <a:r>
              <a:t>7</a:t>
            </a:r>
          </a:p>
        </p:txBody>
      </p:sp>
      <p:sp>
        <p:nvSpPr>
          <p:cNvPr id="7" name="TextBox 6">
            <a:extLst>
              <a:ext uri="{FF2B5EF4-FFF2-40B4-BE49-F238E27FC236}">
                <a16:creationId xmlns:a16="http://schemas.microsoft.com/office/drawing/2014/main" id="{A7162B97-A27C-4E71-9906-D7FC240C7982}"/>
              </a:ext>
            </a:extLst>
          </p:cNvPr>
          <p:cNvSpPr>
            <a:spLocks noGrp="1"/>
          </p:cNvSpPr>
          <p:nvPr/>
        </p:nvSpPr>
        <p:spPr>
          <a:xfrm>
            <a:off x="685800" y="1298448"/>
            <a:ext cx="6720840" cy="3127010"/>
          </a:xfrm>
          <a:prstGeom prst="rect">
            <a:avLst/>
          </a:prstGeom>
          <a:noFill/>
        </p:spPr>
        <p:txBody>
          <a:bodyPr wrap="square" lIns="18288" tIns="9144" rIns="18288" bIns="9144">
            <a:spAutoFit/>
          </a:bodyPr>
          <a:lstStyle/>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Generative AI applications can have different traffic patterns.</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Some applications have unpredictable traffic and only need model capacity when users actually send requests.</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Other applications have steady or high-volume traffic and may need more predictable performance.</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On-demand usage is useful when traffic changes frequently because the application consumes capacity as needed within available service limits.</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Provisioned Throughput reserves model capacity for workloads that need more consistent or predictable throughput.</a:t>
            </a:r>
          </a:p>
        </p:txBody>
      </p:sp>
      <p:sp>
        <p:nvSpPr>
          <p:cNvPr id="8" name="Rounded Rectangle 7">
            <a:extLst>
              <a:ext uri="{FF2B5EF4-FFF2-40B4-BE49-F238E27FC236}">
                <a16:creationId xmlns:a16="http://schemas.microsoft.com/office/drawing/2014/main" id="{253841EB-2A04-4144-AF5F-C804BF2CFB11}"/>
              </a:ext>
            </a:extLst>
          </p:cNvPr>
          <p:cNvSpPr>
            <a:spLocks noGrp="1"/>
          </p:cNvSpPr>
          <p:nvPr/>
        </p:nvSpPr>
        <p:spPr>
          <a:xfrm>
            <a:off x="7726679" y="1417320"/>
            <a:ext cx="3611880" cy="2148840"/>
          </a:xfrm>
          <a:prstGeom prst="roundRect">
            <a:avLst/>
          </a:prstGeom>
          <a:solidFill>
            <a:srgbClr val="EEF1EB"/>
          </a:solidFill>
          <a:ln>
            <a:solidFill>
              <a:srgbClr val="E8BA5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E5BD74D-D96C-49BF-92AB-52882FC88708}"/>
              </a:ext>
            </a:extLst>
          </p:cNvPr>
          <p:cNvSpPr>
            <a:spLocks noGrp="1"/>
          </p:cNvSpPr>
          <p:nvPr/>
        </p:nvSpPr>
        <p:spPr>
          <a:xfrm>
            <a:off x="8001000" y="1719072"/>
            <a:ext cx="3063240" cy="1463040"/>
          </a:xfrm>
          <a:prstGeom prst="rect">
            <a:avLst/>
          </a:prstGeom>
          <a:noFill/>
        </p:spPr>
        <p:txBody>
          <a:bodyPr wrap="square" lIns="0" tIns="0" rIns="0" bIns="0">
            <a:spAutoFit/>
          </a:bodyPr>
          <a:lstStyle/>
          <a:p>
            <a:pPr algn="l">
              <a:buNone/>
              <a:defRPr sz="1520" b="0">
                <a:solidFill>
                  <a:srgbClr val="2C3230"/>
                </a:solidFill>
                <a:latin typeface="Aptos"/>
                <a:ea typeface="Aptos"/>
                <a:cs typeface="Aptos"/>
              </a:defRPr>
            </a:pPr>
            <a:r>
              <a:t>Provisioned capacity may make sense when an organization expects regular high usage and wants more reliable performance.</a:t>
            </a:r>
          </a:p>
        </p:txBody>
      </p:sp>
      <p:sp>
        <p:nvSpPr>
          <p:cNvPr id="10" name="Rounded Rectangle 9">
            <a:extLst>
              <a:ext uri="{FF2B5EF4-FFF2-40B4-BE49-F238E27FC236}">
                <a16:creationId xmlns:a16="http://schemas.microsoft.com/office/drawing/2014/main" id="{1BB1E5C0-F64F-4B72-8457-CDC37BC5CB67}"/>
              </a:ext>
            </a:extLst>
          </p:cNvPr>
          <p:cNvSpPr>
            <a:spLocks noGrp="1"/>
          </p:cNvSpPr>
          <p:nvPr/>
        </p:nvSpPr>
        <p:spPr>
          <a:xfrm>
            <a:off x="640080" y="4745498"/>
            <a:ext cx="7813807" cy="1097280"/>
          </a:xfrm>
          <a:prstGeom prst="roundRect">
            <a:avLst/>
          </a:prstGeom>
          <a:solidFill>
            <a:srgbClr val="1C343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8D5F478-B896-4B63-8696-A848425A4697}"/>
              </a:ext>
            </a:extLst>
          </p:cNvPr>
          <p:cNvSpPr>
            <a:spLocks noGrp="1"/>
          </p:cNvSpPr>
          <p:nvPr/>
        </p:nvSpPr>
        <p:spPr>
          <a:xfrm>
            <a:off x="914400" y="5056394"/>
            <a:ext cx="7182928" cy="467820"/>
          </a:xfrm>
          <a:prstGeom prst="rect">
            <a:avLst/>
          </a:prstGeom>
          <a:noFill/>
        </p:spPr>
        <p:txBody>
          <a:bodyPr wrap="square" lIns="0" tIns="0" rIns="0" bIns="0">
            <a:spAutoFit/>
          </a:bodyPr>
          <a:lstStyle/>
          <a:p>
            <a:pPr>
              <a:defRPr sz="1520" b="1">
                <a:solidFill>
                  <a:srgbClr val="FFFFFF"/>
                </a:solidFill>
                <a:latin typeface="Aptos"/>
                <a:ea typeface="Aptos"/>
                <a:cs typeface="Aptos"/>
              </a:defRPr>
            </a:pPr>
            <a:r>
              <a:rPr dirty="0"/>
              <a:t>Easy Way to Remember: </a:t>
            </a:r>
            <a:endParaRPr lang="en-US" dirty="0"/>
          </a:p>
          <a:p>
            <a:pPr>
              <a:buNone/>
              <a:defRPr sz="1520" b="1">
                <a:solidFill>
                  <a:srgbClr val="FFFFFF"/>
                </a:solidFill>
                <a:latin typeface="Aptos"/>
                <a:ea typeface="Aptos"/>
                <a:cs typeface="Aptos"/>
              </a:defRPr>
            </a:pPr>
            <a:r>
              <a:rPr dirty="0"/>
              <a:t>On-Demand → flexible workload. Provisioned Throughput → predictable workload.</a:t>
            </a:r>
          </a:p>
        </p:txBody>
      </p:sp>
    </p:spTree>
    <p:extLst>
      <p:ext uri="{BB962C8B-B14F-4D97-AF65-F5344CB8AC3E}">
        <p14:creationId xmlns:p14="http://schemas.microsoft.com/office/powerpoint/2010/main" val="1811462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03C0E16-B963-4384-ACF9-23C4407B2583}"/>
              </a:ext>
            </a:extLst>
          </p:cNvPr>
          <p:cNvSpPr>
            <a:spLocks noGrp="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BC369FB4-EE23-42E0-9400-C0AC987D55AF}"/>
              </a:ext>
            </a:extLst>
          </p:cNvPr>
          <p:cNvSpPr>
            <a:spLocks noGrp="1"/>
          </p:cNvSpPr>
          <p:nvPr/>
        </p:nvSpPr>
        <p:spPr>
          <a:xfrm>
            <a:off x="640080" y="411480"/>
            <a:ext cx="10149840" cy="566928"/>
          </a:xfrm>
          <a:prstGeom prst="rect">
            <a:avLst/>
          </a:prstGeom>
          <a:noFill/>
        </p:spPr>
        <p:txBody>
          <a:bodyPr wrap="square" lIns="0" tIns="0" rIns="0" bIns="0">
            <a:spAutoFit/>
          </a:bodyPr>
          <a:lstStyle/>
          <a:p>
            <a:pPr algn="l">
              <a:buNone/>
              <a:defRPr sz="2500" b="1">
                <a:solidFill>
                  <a:srgbClr val="1C3430"/>
                </a:solidFill>
                <a:latin typeface="Aptos Display"/>
                <a:ea typeface="Aptos Display"/>
                <a:cs typeface="Aptos Display"/>
              </a:defRPr>
            </a:pPr>
            <a:r>
              <a:t>When Provisioned Throughput Can Help</a:t>
            </a:r>
          </a:p>
        </p:txBody>
      </p:sp>
      <p:sp>
        <p:nvSpPr>
          <p:cNvPr id="4" name="Rectangle 3">
            <a:extLst>
              <a:ext uri="{FF2B5EF4-FFF2-40B4-BE49-F238E27FC236}">
                <a16:creationId xmlns:a16="http://schemas.microsoft.com/office/drawing/2014/main" id="{9112FB3A-F0C7-4F66-9990-E45D6E94F472}"/>
              </a:ext>
            </a:extLst>
          </p:cNvPr>
          <p:cNvSpPr>
            <a:spLocks noGrp="1"/>
          </p:cNvSpPr>
          <p:nvPr/>
        </p:nvSpPr>
        <p:spPr>
          <a:xfrm>
            <a:off x="658368" y="1024128"/>
            <a:ext cx="1051560" cy="54864"/>
          </a:xfrm>
          <a:prstGeom prst="rect">
            <a:avLst/>
          </a:prstGeom>
          <a:solidFill>
            <a:srgbClr val="DE7E4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B1A49314-3B4C-471B-A232-0542802AE834}"/>
              </a:ext>
            </a:extLst>
          </p:cNvPr>
          <p:cNvSpPr>
            <a:spLocks noGrp="1"/>
          </p:cNvSpPr>
          <p:nvPr/>
        </p:nvSpPr>
        <p:spPr>
          <a:xfrm>
            <a:off x="11018520" y="320040"/>
            <a:ext cx="530352" cy="384048"/>
          </a:xfrm>
          <a:prstGeom prst="roundRect">
            <a:avLst/>
          </a:prstGeom>
          <a:solidFill>
            <a:srgbClr val="1C343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DC7FBEF-7D0F-476B-BBEB-CC760B910FBB}"/>
              </a:ext>
            </a:extLst>
          </p:cNvPr>
          <p:cNvSpPr>
            <a:spLocks noGrp="1"/>
          </p:cNvSpPr>
          <p:nvPr/>
        </p:nvSpPr>
        <p:spPr>
          <a:xfrm>
            <a:off x="11018520" y="384048"/>
            <a:ext cx="530352" cy="210312"/>
          </a:xfrm>
          <a:prstGeom prst="rect">
            <a:avLst/>
          </a:prstGeom>
          <a:noFill/>
        </p:spPr>
        <p:txBody>
          <a:bodyPr wrap="square" lIns="0" tIns="0" rIns="0" bIns="0">
            <a:spAutoFit/>
          </a:bodyPr>
          <a:lstStyle/>
          <a:p>
            <a:pPr algn="ctr">
              <a:buNone/>
              <a:defRPr sz="1300" b="1">
                <a:solidFill>
                  <a:srgbClr val="FFFFFF"/>
                </a:solidFill>
                <a:latin typeface="Aptos"/>
                <a:ea typeface="Aptos"/>
                <a:cs typeface="Aptos"/>
              </a:defRPr>
            </a:pPr>
            <a:r>
              <a:t>8</a:t>
            </a:r>
          </a:p>
        </p:txBody>
      </p:sp>
      <p:sp>
        <p:nvSpPr>
          <p:cNvPr id="7" name="TextBox 6">
            <a:extLst>
              <a:ext uri="{FF2B5EF4-FFF2-40B4-BE49-F238E27FC236}">
                <a16:creationId xmlns:a16="http://schemas.microsoft.com/office/drawing/2014/main" id="{CE5CBB82-929C-43D2-9E69-6BFE985F1329}"/>
              </a:ext>
            </a:extLst>
          </p:cNvPr>
          <p:cNvSpPr>
            <a:spLocks noGrp="1"/>
          </p:cNvSpPr>
          <p:nvPr/>
        </p:nvSpPr>
        <p:spPr>
          <a:xfrm>
            <a:off x="658368" y="1389888"/>
            <a:ext cx="6720840" cy="3127010"/>
          </a:xfrm>
          <a:prstGeom prst="rect">
            <a:avLst/>
          </a:prstGeom>
          <a:noFill/>
        </p:spPr>
        <p:txBody>
          <a:bodyPr wrap="square" lIns="18288" tIns="9144" rIns="18288" bIns="9144">
            <a:spAutoFit/>
          </a:bodyPr>
          <a:lstStyle/>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Provisioned Throughput should not automatically be used for every Generative AI application.</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It is most useful when the workload is stable enough that reserved capacity will actually be used.</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For example, a large enterprise application that serves many employees every day may have a predictable request volume.</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In that situation, having reserved throughput can reduce uncertainty around available model capacity.</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On the other hand, a small application with occasional traffic may not benefit from continuously reserved capacity.</a:t>
            </a:r>
          </a:p>
        </p:txBody>
      </p:sp>
      <p:sp>
        <p:nvSpPr>
          <p:cNvPr id="8" name="Rounded Rectangle 7">
            <a:extLst>
              <a:ext uri="{FF2B5EF4-FFF2-40B4-BE49-F238E27FC236}">
                <a16:creationId xmlns:a16="http://schemas.microsoft.com/office/drawing/2014/main" id="{5B57B003-0912-44FC-A3E8-D7014533C0E7}"/>
              </a:ext>
            </a:extLst>
          </p:cNvPr>
          <p:cNvSpPr>
            <a:spLocks noGrp="1"/>
          </p:cNvSpPr>
          <p:nvPr/>
        </p:nvSpPr>
        <p:spPr>
          <a:xfrm>
            <a:off x="7726679" y="1417320"/>
            <a:ext cx="3611880" cy="2148840"/>
          </a:xfrm>
          <a:prstGeom prst="roundRect">
            <a:avLst/>
          </a:prstGeom>
          <a:solidFill>
            <a:srgbClr val="EEF1EB"/>
          </a:solidFill>
          <a:ln>
            <a:solidFill>
              <a:srgbClr val="E8BA5E"/>
            </a:solidFill>
          </a:ln>
        </p:spPr>
        <p:style>
          <a:lnRef idx="1">
            <a:schemeClr val="accent1"/>
          </a:lnRef>
          <a:fillRef idx="3">
            <a:schemeClr val="accent1"/>
          </a:fillRef>
          <a:effectRef idx="2">
            <a:schemeClr val="accent1"/>
          </a:effectRef>
          <a:fontRef idx="minor">
            <a:schemeClr val="lt1"/>
          </a:fontRef>
        </p:style>
        <p:txBody>
          <a:bodyPr anchor="ctr"/>
          <a:lstStyle/>
          <a:p>
            <a:pPr algn="ctr">
              <a:spcBef>
                <a:spcPts val="300"/>
              </a:spcBef>
              <a:buNone/>
            </a:pPr>
            <a:endParaRPr/>
          </a:p>
        </p:txBody>
      </p:sp>
      <p:sp>
        <p:nvSpPr>
          <p:cNvPr id="9" name="TextBox 8">
            <a:extLst>
              <a:ext uri="{FF2B5EF4-FFF2-40B4-BE49-F238E27FC236}">
                <a16:creationId xmlns:a16="http://schemas.microsoft.com/office/drawing/2014/main" id="{93DE2338-BA86-4B5C-8568-F54CD3E371FB}"/>
              </a:ext>
            </a:extLst>
          </p:cNvPr>
          <p:cNvSpPr>
            <a:spLocks noGrp="1"/>
          </p:cNvSpPr>
          <p:nvPr/>
        </p:nvSpPr>
        <p:spPr>
          <a:xfrm>
            <a:off x="8001000" y="1719072"/>
            <a:ext cx="3063240" cy="1208023"/>
          </a:xfrm>
          <a:prstGeom prst="rect">
            <a:avLst/>
          </a:prstGeom>
          <a:noFill/>
        </p:spPr>
        <p:txBody>
          <a:bodyPr wrap="square" lIns="0" tIns="0" rIns="0" bIns="0">
            <a:spAutoFit/>
          </a:bodyPr>
          <a:lstStyle/>
          <a:p>
            <a:pPr algn="l">
              <a:spcBef>
                <a:spcPts val="300"/>
              </a:spcBef>
              <a:buNone/>
              <a:defRPr sz="1520" b="0">
                <a:solidFill>
                  <a:srgbClr val="2C3230"/>
                </a:solidFill>
                <a:latin typeface="Aptos"/>
                <a:ea typeface="Aptos"/>
                <a:cs typeface="Aptos"/>
              </a:defRPr>
            </a:pPr>
            <a:r>
              <a:rPr dirty="0"/>
              <a:t>Main Decision Factors: </a:t>
            </a:r>
            <a:endParaRPr lang="en-US" dirty="0"/>
          </a:p>
          <a:p>
            <a:pPr algn="l">
              <a:spcBef>
                <a:spcPts val="300"/>
              </a:spcBef>
              <a:buNone/>
              <a:defRPr sz="1520" b="0">
                <a:solidFill>
                  <a:srgbClr val="2C3230"/>
                </a:solidFill>
                <a:latin typeface="Aptos"/>
                <a:ea typeface="Aptos"/>
                <a:cs typeface="Aptos"/>
              </a:defRPr>
            </a:pPr>
            <a:r>
              <a:rPr dirty="0"/>
              <a:t>Expected traffic volume, Traffic consistency, Performance requirements, Cost, Model usage pattern</a:t>
            </a:r>
          </a:p>
        </p:txBody>
      </p:sp>
      <p:sp>
        <p:nvSpPr>
          <p:cNvPr id="10" name="Rounded Rectangle 9">
            <a:extLst>
              <a:ext uri="{FF2B5EF4-FFF2-40B4-BE49-F238E27FC236}">
                <a16:creationId xmlns:a16="http://schemas.microsoft.com/office/drawing/2014/main" id="{B8671E22-5894-48ED-A762-8E1C34978C8F}"/>
              </a:ext>
            </a:extLst>
          </p:cNvPr>
          <p:cNvSpPr>
            <a:spLocks noGrp="1"/>
          </p:cNvSpPr>
          <p:nvPr/>
        </p:nvSpPr>
        <p:spPr>
          <a:xfrm>
            <a:off x="7726679" y="3822191"/>
            <a:ext cx="3611880" cy="1554480"/>
          </a:xfrm>
          <a:prstGeom prst="roundRect">
            <a:avLst/>
          </a:prstGeom>
          <a:solidFill>
            <a:srgbClr val="1C343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AD76E4-5E9B-4BBD-B087-2123471D5376}"/>
              </a:ext>
            </a:extLst>
          </p:cNvPr>
          <p:cNvSpPr>
            <a:spLocks noGrp="1"/>
          </p:cNvSpPr>
          <p:nvPr/>
        </p:nvSpPr>
        <p:spPr>
          <a:xfrm>
            <a:off x="8001000" y="4133087"/>
            <a:ext cx="3063240" cy="974113"/>
          </a:xfrm>
          <a:prstGeom prst="rect">
            <a:avLst/>
          </a:prstGeom>
          <a:noFill/>
        </p:spPr>
        <p:txBody>
          <a:bodyPr wrap="square" lIns="0" tIns="0" rIns="0" bIns="0">
            <a:spAutoFit/>
          </a:bodyPr>
          <a:lstStyle/>
          <a:p>
            <a:pPr>
              <a:spcBef>
                <a:spcPts val="300"/>
              </a:spcBef>
              <a:buNone/>
              <a:defRPr sz="1520" b="1">
                <a:solidFill>
                  <a:srgbClr val="FFFFFF"/>
                </a:solidFill>
                <a:latin typeface="Aptos"/>
                <a:ea typeface="Aptos"/>
                <a:cs typeface="Aptos"/>
              </a:defRPr>
            </a:pPr>
            <a:r>
              <a:rPr dirty="0"/>
              <a:t>Main Lesson: </a:t>
            </a:r>
            <a:endParaRPr lang="en-US" dirty="0"/>
          </a:p>
          <a:p>
            <a:pPr>
              <a:spcBef>
                <a:spcPts val="300"/>
              </a:spcBef>
              <a:buNone/>
              <a:defRPr sz="1520" b="1">
                <a:solidFill>
                  <a:srgbClr val="FFFFFF"/>
                </a:solidFill>
                <a:latin typeface="Aptos"/>
                <a:ea typeface="Aptos"/>
                <a:cs typeface="Aptos"/>
              </a:defRPr>
            </a:pPr>
            <a:r>
              <a:rPr dirty="0"/>
              <a:t>Choose capacity based on real workload behavior, not only on expected future growth.</a:t>
            </a:r>
          </a:p>
        </p:txBody>
      </p:sp>
    </p:spTree>
    <p:extLst>
      <p:ext uri="{BB962C8B-B14F-4D97-AF65-F5344CB8AC3E}">
        <p14:creationId xmlns:p14="http://schemas.microsoft.com/office/powerpoint/2010/main" val="2045408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E4CAF2-D8EB-4E17-AEA6-7D4B19E4952A}"/>
              </a:ext>
            </a:extLst>
          </p:cNvPr>
          <p:cNvSpPr>
            <a:spLocks noGrp="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EC475EBB-57DF-4F4E-A5C0-32F2CABF517E}"/>
              </a:ext>
            </a:extLst>
          </p:cNvPr>
          <p:cNvSpPr>
            <a:spLocks noGrp="1"/>
          </p:cNvSpPr>
          <p:nvPr/>
        </p:nvSpPr>
        <p:spPr>
          <a:xfrm>
            <a:off x="640080" y="411480"/>
            <a:ext cx="10149840" cy="566928"/>
          </a:xfrm>
          <a:prstGeom prst="rect">
            <a:avLst/>
          </a:prstGeom>
          <a:noFill/>
        </p:spPr>
        <p:txBody>
          <a:bodyPr wrap="square" lIns="0" tIns="0" rIns="0" bIns="0">
            <a:spAutoFit/>
          </a:bodyPr>
          <a:lstStyle/>
          <a:p>
            <a:pPr algn="l">
              <a:buNone/>
              <a:defRPr sz="2500" b="1">
                <a:solidFill>
                  <a:srgbClr val="1C3430"/>
                </a:solidFill>
                <a:latin typeface="Aptos Display"/>
                <a:ea typeface="Aptos Display"/>
                <a:cs typeface="Aptos Display"/>
              </a:defRPr>
            </a:pPr>
            <a:r>
              <a:t>Monitoring Resource Utilization</a:t>
            </a:r>
          </a:p>
        </p:txBody>
      </p:sp>
      <p:sp>
        <p:nvSpPr>
          <p:cNvPr id="4" name="Rectangle 3">
            <a:extLst>
              <a:ext uri="{FF2B5EF4-FFF2-40B4-BE49-F238E27FC236}">
                <a16:creationId xmlns:a16="http://schemas.microsoft.com/office/drawing/2014/main" id="{412616F2-CAEA-41F4-873A-5C8E7B8137F9}"/>
              </a:ext>
            </a:extLst>
          </p:cNvPr>
          <p:cNvSpPr>
            <a:spLocks noGrp="1"/>
          </p:cNvSpPr>
          <p:nvPr/>
        </p:nvSpPr>
        <p:spPr>
          <a:xfrm>
            <a:off x="658368" y="1024128"/>
            <a:ext cx="1051560" cy="54864"/>
          </a:xfrm>
          <a:prstGeom prst="rect">
            <a:avLst/>
          </a:prstGeom>
          <a:solidFill>
            <a:srgbClr val="DE7E4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6F768A45-80AE-4A6E-8BDA-08737AF2A1E2}"/>
              </a:ext>
            </a:extLst>
          </p:cNvPr>
          <p:cNvSpPr>
            <a:spLocks noGrp="1"/>
          </p:cNvSpPr>
          <p:nvPr/>
        </p:nvSpPr>
        <p:spPr>
          <a:xfrm>
            <a:off x="11018520" y="320040"/>
            <a:ext cx="530352" cy="384048"/>
          </a:xfrm>
          <a:prstGeom prst="roundRect">
            <a:avLst/>
          </a:prstGeom>
          <a:solidFill>
            <a:srgbClr val="1C343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05E5E018-1F43-411B-83CE-071C245F01A2}"/>
              </a:ext>
            </a:extLst>
          </p:cNvPr>
          <p:cNvSpPr>
            <a:spLocks noGrp="1"/>
          </p:cNvSpPr>
          <p:nvPr/>
        </p:nvSpPr>
        <p:spPr>
          <a:xfrm>
            <a:off x="11018520" y="384048"/>
            <a:ext cx="530352" cy="210312"/>
          </a:xfrm>
          <a:prstGeom prst="rect">
            <a:avLst/>
          </a:prstGeom>
          <a:noFill/>
        </p:spPr>
        <p:txBody>
          <a:bodyPr wrap="square" lIns="0" tIns="0" rIns="0" bIns="0">
            <a:spAutoFit/>
          </a:bodyPr>
          <a:lstStyle/>
          <a:p>
            <a:pPr algn="ctr">
              <a:buNone/>
              <a:defRPr sz="1300" b="1">
                <a:solidFill>
                  <a:srgbClr val="FFFFFF"/>
                </a:solidFill>
                <a:latin typeface="Aptos"/>
                <a:ea typeface="Aptos"/>
                <a:cs typeface="Aptos"/>
              </a:defRPr>
            </a:pPr>
            <a:r>
              <a:t>9</a:t>
            </a:r>
          </a:p>
        </p:txBody>
      </p:sp>
      <p:sp>
        <p:nvSpPr>
          <p:cNvPr id="7" name="TextBox 6">
            <a:extLst>
              <a:ext uri="{FF2B5EF4-FFF2-40B4-BE49-F238E27FC236}">
                <a16:creationId xmlns:a16="http://schemas.microsoft.com/office/drawing/2014/main" id="{61D7EA72-483E-407D-9A6E-541E761F34C6}"/>
              </a:ext>
            </a:extLst>
          </p:cNvPr>
          <p:cNvSpPr>
            <a:spLocks noGrp="1"/>
          </p:cNvSpPr>
          <p:nvPr/>
        </p:nvSpPr>
        <p:spPr>
          <a:xfrm>
            <a:off x="685800" y="1298448"/>
            <a:ext cx="7360920" cy="3834896"/>
          </a:xfrm>
          <a:prstGeom prst="rect">
            <a:avLst/>
          </a:prstGeom>
          <a:noFill/>
        </p:spPr>
        <p:txBody>
          <a:bodyPr wrap="square" lIns="18288" tIns="9144" rIns="18288" bIns="9144">
            <a:spAutoFit/>
          </a:bodyPr>
          <a:lstStyle/>
          <a:p>
            <a:pPr marL="285750" indent="-285750">
              <a:spcBef>
                <a:spcPts val="600"/>
              </a:spcBef>
              <a:spcAft>
                <a:spcPts val="600"/>
              </a:spcAft>
              <a:buFont typeface="Arial" panose="020B0604020202020204" pitchFamily="34" charset="0"/>
              <a:buChar char="•"/>
              <a:defRPr sz="1650">
                <a:solidFill>
                  <a:srgbClr val="2C3230"/>
                </a:solidFill>
                <a:latin typeface="Aptos"/>
                <a:ea typeface="Aptos"/>
                <a:cs typeface="Aptos"/>
              </a:defRPr>
            </a:pPr>
            <a:r>
              <a:rPr dirty="0"/>
              <a:t>Once the application is running, developers need to compare actual usage with the capacity they planned.</a:t>
            </a:r>
          </a:p>
          <a:p>
            <a:pPr marL="285750" indent="-285750">
              <a:spcBef>
                <a:spcPts val="600"/>
              </a:spcBef>
              <a:spcAft>
                <a:spcPts val="600"/>
              </a:spcAft>
              <a:buFont typeface="Arial" panose="020B0604020202020204" pitchFamily="34" charset="0"/>
              <a:buChar char="•"/>
              <a:defRPr sz="1650">
                <a:solidFill>
                  <a:srgbClr val="2C3230"/>
                </a:solidFill>
                <a:latin typeface="Aptos"/>
                <a:ea typeface="Aptos"/>
                <a:cs typeface="Aptos"/>
              </a:defRPr>
            </a:pPr>
            <a:r>
              <a:rPr dirty="0"/>
              <a:t>Amazon CloudWatch can help monitor model requests, latency, throttling, errors, and token usage.</a:t>
            </a:r>
          </a:p>
          <a:p>
            <a:pPr marL="285750" indent="-285750">
              <a:spcBef>
                <a:spcPts val="600"/>
              </a:spcBef>
              <a:spcAft>
                <a:spcPts val="600"/>
              </a:spcAft>
              <a:buFont typeface="Arial" panose="020B0604020202020204" pitchFamily="34" charset="0"/>
              <a:buChar char="•"/>
              <a:defRPr sz="1650">
                <a:solidFill>
                  <a:srgbClr val="2C3230"/>
                </a:solidFill>
                <a:latin typeface="Aptos"/>
                <a:ea typeface="Aptos"/>
                <a:cs typeface="Aptos"/>
              </a:defRPr>
            </a:pPr>
            <a:r>
              <a:rPr dirty="0"/>
              <a:t>These metrics can show whether the application is regularly reaching capacity limits or whether resources are being underused.</a:t>
            </a:r>
          </a:p>
          <a:p>
            <a:pPr marL="285750" indent="-285750">
              <a:spcBef>
                <a:spcPts val="600"/>
              </a:spcBef>
              <a:spcAft>
                <a:spcPts val="600"/>
              </a:spcAft>
              <a:buFont typeface="Arial" panose="020B0604020202020204" pitchFamily="34" charset="0"/>
              <a:buChar char="•"/>
              <a:defRPr sz="1650">
                <a:solidFill>
                  <a:srgbClr val="2C3230"/>
                </a:solidFill>
                <a:latin typeface="Aptos"/>
                <a:ea typeface="Aptos"/>
                <a:cs typeface="Aptos"/>
              </a:defRPr>
            </a:pPr>
            <a:r>
              <a:rPr dirty="0"/>
              <a:t>AWS Cost Explorer and billing information can also help connect technical usage with actual cost.</a:t>
            </a:r>
          </a:p>
          <a:p>
            <a:pPr marL="285750" indent="-285750">
              <a:spcBef>
                <a:spcPts val="600"/>
              </a:spcBef>
              <a:spcAft>
                <a:spcPts val="600"/>
              </a:spcAft>
              <a:buFont typeface="Arial" panose="020B0604020202020204" pitchFamily="34" charset="0"/>
              <a:buChar char="•"/>
              <a:defRPr sz="1650">
                <a:solidFill>
                  <a:srgbClr val="2C3230"/>
                </a:solidFill>
                <a:latin typeface="Aptos"/>
                <a:ea typeface="Aptos"/>
                <a:cs typeface="Aptos"/>
              </a:defRPr>
            </a:pPr>
            <a:r>
              <a:rPr dirty="0"/>
              <a:t>Monitoring over time is important because traffic patterns may change after the application becomes more popular.</a:t>
            </a:r>
          </a:p>
          <a:p>
            <a:pPr marL="285750" indent="-285750">
              <a:spcBef>
                <a:spcPts val="600"/>
              </a:spcBef>
              <a:spcAft>
                <a:spcPts val="600"/>
              </a:spcAft>
              <a:buFont typeface="Arial" panose="020B0604020202020204" pitchFamily="34" charset="0"/>
              <a:buChar char="•"/>
              <a:defRPr sz="1650">
                <a:solidFill>
                  <a:srgbClr val="2C3230"/>
                </a:solidFill>
                <a:latin typeface="Aptos"/>
                <a:ea typeface="Aptos"/>
                <a:cs typeface="Aptos"/>
              </a:defRPr>
            </a:pPr>
            <a:r>
              <a:rPr dirty="0"/>
              <a:t>Example: If throttling increases every weekday morning, the problem may be related to peak demand rather than an error in the application code.</a:t>
            </a:r>
          </a:p>
        </p:txBody>
      </p:sp>
      <p:sp>
        <p:nvSpPr>
          <p:cNvPr id="8" name="Rounded Rectangle 7">
            <a:extLst>
              <a:ext uri="{FF2B5EF4-FFF2-40B4-BE49-F238E27FC236}">
                <a16:creationId xmlns:a16="http://schemas.microsoft.com/office/drawing/2014/main" id="{41C94028-68D7-4CA0-9264-F6183628B616}"/>
              </a:ext>
            </a:extLst>
          </p:cNvPr>
          <p:cNvSpPr>
            <a:spLocks noGrp="1"/>
          </p:cNvSpPr>
          <p:nvPr/>
        </p:nvSpPr>
        <p:spPr>
          <a:xfrm>
            <a:off x="8366760" y="1572768"/>
            <a:ext cx="3017520" cy="3383280"/>
          </a:xfrm>
          <a:prstGeom prst="roundRect">
            <a:avLst/>
          </a:prstGeom>
          <a:solidFill>
            <a:srgbClr val="DCEBE2"/>
          </a:solidFill>
          <a:ln>
            <a:solidFill>
              <a:srgbClr val="32685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Oval 8">
            <a:extLst>
              <a:ext uri="{FF2B5EF4-FFF2-40B4-BE49-F238E27FC236}">
                <a16:creationId xmlns:a16="http://schemas.microsoft.com/office/drawing/2014/main" id="{5C3BBFAF-681A-4225-8603-BC9EEA72DCCC}"/>
              </a:ext>
            </a:extLst>
          </p:cNvPr>
          <p:cNvSpPr>
            <a:spLocks noGrp="1"/>
          </p:cNvSpPr>
          <p:nvPr/>
        </p:nvSpPr>
        <p:spPr>
          <a:xfrm>
            <a:off x="9326880" y="1874519"/>
            <a:ext cx="1051560" cy="1051560"/>
          </a:xfrm>
          <a:prstGeom prst="ellipse">
            <a:avLst/>
          </a:prstGeom>
          <a:solidFill>
            <a:srgbClr val="3268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5EE2DA6-00FA-497E-A5EA-B95AE0621229}"/>
              </a:ext>
            </a:extLst>
          </p:cNvPr>
          <p:cNvSpPr>
            <a:spLocks noGrp="1"/>
          </p:cNvSpPr>
          <p:nvPr/>
        </p:nvSpPr>
        <p:spPr>
          <a:xfrm>
            <a:off x="8915400" y="2185416"/>
            <a:ext cx="1874519" cy="256032"/>
          </a:xfrm>
          <a:prstGeom prst="rect">
            <a:avLst/>
          </a:prstGeom>
          <a:noFill/>
        </p:spPr>
        <p:txBody>
          <a:bodyPr wrap="square" lIns="0" tIns="0" rIns="0" bIns="0">
            <a:spAutoFit/>
          </a:bodyPr>
          <a:lstStyle/>
          <a:p>
            <a:pPr algn="ctr">
              <a:buNone/>
              <a:defRPr sz="1200" b="1">
                <a:solidFill>
                  <a:srgbClr val="FFFFFF"/>
                </a:solidFill>
                <a:latin typeface="Aptos"/>
                <a:ea typeface="Aptos"/>
                <a:cs typeface="Aptos"/>
              </a:defRPr>
            </a:pPr>
            <a:r>
              <a:t>MONITOR</a:t>
            </a:r>
          </a:p>
        </p:txBody>
      </p:sp>
      <p:sp>
        <p:nvSpPr>
          <p:cNvPr id="11" name="TextBox 10">
            <a:extLst>
              <a:ext uri="{FF2B5EF4-FFF2-40B4-BE49-F238E27FC236}">
                <a16:creationId xmlns:a16="http://schemas.microsoft.com/office/drawing/2014/main" id="{20141F19-E9D4-4D1B-AED4-2A99D1D1FBC2}"/>
              </a:ext>
            </a:extLst>
          </p:cNvPr>
          <p:cNvSpPr>
            <a:spLocks noGrp="1"/>
          </p:cNvSpPr>
          <p:nvPr/>
        </p:nvSpPr>
        <p:spPr>
          <a:xfrm>
            <a:off x="8668512" y="3246120"/>
            <a:ext cx="2423160" cy="1280160"/>
          </a:xfrm>
          <a:prstGeom prst="rect">
            <a:avLst/>
          </a:prstGeom>
          <a:noFill/>
        </p:spPr>
        <p:txBody>
          <a:bodyPr wrap="square" lIns="0" tIns="0" rIns="0" bIns="0">
            <a:spAutoFit/>
          </a:bodyPr>
          <a:lstStyle/>
          <a:p>
            <a:pPr>
              <a:spcBef>
                <a:spcPts val="300"/>
              </a:spcBef>
              <a:buNone/>
              <a:defRPr sz="1600" b="1">
                <a:solidFill>
                  <a:srgbClr val="1C3430"/>
                </a:solidFill>
                <a:latin typeface="Aptos"/>
                <a:ea typeface="Aptos"/>
                <a:cs typeface="Aptos"/>
              </a:defRPr>
            </a:pPr>
            <a:r>
              <a:rPr dirty="0"/>
              <a:t>Main Idea: </a:t>
            </a:r>
            <a:endParaRPr lang="en-US" dirty="0"/>
          </a:p>
          <a:p>
            <a:pPr>
              <a:spcBef>
                <a:spcPts val="300"/>
              </a:spcBef>
              <a:buNone/>
              <a:defRPr sz="1600" b="1">
                <a:solidFill>
                  <a:srgbClr val="1C3430"/>
                </a:solidFill>
                <a:latin typeface="Aptos"/>
                <a:ea typeface="Aptos"/>
                <a:cs typeface="Aptos"/>
              </a:defRPr>
            </a:pPr>
            <a:r>
              <a:rPr dirty="0"/>
              <a:t>Resource planning is not a one-time decision. It should be adjusted using real usage data.</a:t>
            </a:r>
          </a:p>
        </p:txBody>
      </p:sp>
    </p:spTree>
    <p:extLst>
      <p:ext uri="{BB962C8B-B14F-4D97-AF65-F5344CB8AC3E}">
        <p14:creationId xmlns:p14="http://schemas.microsoft.com/office/powerpoint/2010/main" val="585104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3D802D2-EB78-4C29-A5DA-9D0077D43F0D}"/>
              </a:ext>
            </a:extLst>
          </p:cNvPr>
          <p:cNvSpPr>
            <a:spLocks noGrp="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C349767A-CB86-4FA2-B6D2-61DB2F9692F3}"/>
              </a:ext>
            </a:extLst>
          </p:cNvPr>
          <p:cNvSpPr>
            <a:spLocks noGrp="1"/>
          </p:cNvSpPr>
          <p:nvPr/>
        </p:nvSpPr>
        <p:spPr>
          <a:xfrm>
            <a:off x="640080" y="411480"/>
            <a:ext cx="10149840" cy="566928"/>
          </a:xfrm>
          <a:prstGeom prst="rect">
            <a:avLst/>
          </a:prstGeom>
          <a:noFill/>
        </p:spPr>
        <p:txBody>
          <a:bodyPr wrap="square" lIns="0" tIns="0" rIns="0" bIns="0">
            <a:spAutoFit/>
          </a:bodyPr>
          <a:lstStyle/>
          <a:p>
            <a:pPr algn="l">
              <a:buNone/>
              <a:defRPr sz="2500" b="1">
                <a:solidFill>
                  <a:srgbClr val="1C3430"/>
                </a:solidFill>
                <a:latin typeface="Aptos Display"/>
                <a:ea typeface="Aptos Display"/>
                <a:cs typeface="Aptos Display"/>
              </a:defRPr>
            </a:pPr>
            <a:r>
              <a:t>What Is Caching in Generative AI?</a:t>
            </a:r>
          </a:p>
        </p:txBody>
      </p:sp>
      <p:sp>
        <p:nvSpPr>
          <p:cNvPr id="4" name="Rectangle 3">
            <a:extLst>
              <a:ext uri="{FF2B5EF4-FFF2-40B4-BE49-F238E27FC236}">
                <a16:creationId xmlns:a16="http://schemas.microsoft.com/office/drawing/2014/main" id="{921F3F81-B4ED-49D6-B641-170A6100372D}"/>
              </a:ext>
            </a:extLst>
          </p:cNvPr>
          <p:cNvSpPr>
            <a:spLocks noGrp="1"/>
          </p:cNvSpPr>
          <p:nvPr/>
        </p:nvSpPr>
        <p:spPr>
          <a:xfrm>
            <a:off x="658368" y="1024128"/>
            <a:ext cx="1051560" cy="54864"/>
          </a:xfrm>
          <a:prstGeom prst="rect">
            <a:avLst/>
          </a:prstGeom>
          <a:solidFill>
            <a:srgbClr val="DE7E4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D4DBA5B8-3473-4EF8-A569-AF496BD2E5E1}"/>
              </a:ext>
            </a:extLst>
          </p:cNvPr>
          <p:cNvSpPr>
            <a:spLocks noGrp="1"/>
          </p:cNvSpPr>
          <p:nvPr/>
        </p:nvSpPr>
        <p:spPr>
          <a:xfrm>
            <a:off x="11018520" y="320040"/>
            <a:ext cx="530352" cy="384048"/>
          </a:xfrm>
          <a:prstGeom prst="roundRect">
            <a:avLst/>
          </a:prstGeom>
          <a:solidFill>
            <a:srgbClr val="1C343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647AD304-495F-4AA0-A5E2-DEF86BC1FF41}"/>
              </a:ext>
            </a:extLst>
          </p:cNvPr>
          <p:cNvSpPr>
            <a:spLocks noGrp="1"/>
          </p:cNvSpPr>
          <p:nvPr/>
        </p:nvSpPr>
        <p:spPr>
          <a:xfrm>
            <a:off x="11018520" y="384048"/>
            <a:ext cx="530352" cy="210312"/>
          </a:xfrm>
          <a:prstGeom prst="rect">
            <a:avLst/>
          </a:prstGeom>
          <a:noFill/>
        </p:spPr>
        <p:txBody>
          <a:bodyPr wrap="square" lIns="0" tIns="0" rIns="0" bIns="0">
            <a:spAutoFit/>
          </a:bodyPr>
          <a:lstStyle/>
          <a:p>
            <a:pPr algn="ctr">
              <a:buNone/>
              <a:defRPr sz="1300" b="1">
                <a:solidFill>
                  <a:srgbClr val="FFFFFF"/>
                </a:solidFill>
                <a:latin typeface="Aptos"/>
                <a:ea typeface="Aptos"/>
                <a:cs typeface="Aptos"/>
              </a:defRPr>
            </a:pPr>
            <a:r>
              <a:t>10</a:t>
            </a:r>
          </a:p>
        </p:txBody>
      </p:sp>
      <p:sp>
        <p:nvSpPr>
          <p:cNvPr id="7" name="TextBox 6">
            <a:extLst>
              <a:ext uri="{FF2B5EF4-FFF2-40B4-BE49-F238E27FC236}">
                <a16:creationId xmlns:a16="http://schemas.microsoft.com/office/drawing/2014/main" id="{8A08E40B-2BC1-4F95-AA53-6E9C1ADFD0DA}"/>
              </a:ext>
            </a:extLst>
          </p:cNvPr>
          <p:cNvSpPr>
            <a:spLocks noGrp="1"/>
          </p:cNvSpPr>
          <p:nvPr/>
        </p:nvSpPr>
        <p:spPr>
          <a:xfrm>
            <a:off x="685800" y="1298448"/>
            <a:ext cx="7360920" cy="3173176"/>
          </a:xfrm>
          <a:prstGeom prst="rect">
            <a:avLst/>
          </a:prstGeom>
          <a:noFill/>
        </p:spPr>
        <p:txBody>
          <a:bodyPr wrap="square" lIns="18288" tIns="9144" rIns="18288" bIns="9144">
            <a:spAutoFit/>
          </a:bodyPr>
          <a:lstStyle/>
          <a:p>
            <a:pPr marL="285750" indent="-285750">
              <a:spcBef>
                <a:spcPts val="600"/>
              </a:spcBef>
              <a:spcAft>
                <a:spcPts val="600"/>
              </a:spcAft>
              <a:buFont typeface="Arial" panose="020B0604020202020204" pitchFamily="34" charset="0"/>
              <a:buChar char="•"/>
              <a:defRPr sz="1650">
                <a:solidFill>
                  <a:srgbClr val="2C3230"/>
                </a:solidFill>
                <a:latin typeface="Aptos"/>
                <a:ea typeface="Aptos"/>
                <a:cs typeface="Aptos"/>
              </a:defRPr>
            </a:pPr>
            <a:r>
              <a:rPr dirty="0"/>
              <a:t>Caching means storing a result so the system can reuse it instead of doing the same work again.</a:t>
            </a:r>
          </a:p>
          <a:p>
            <a:pPr marL="285750" indent="-285750">
              <a:spcBef>
                <a:spcPts val="600"/>
              </a:spcBef>
              <a:spcAft>
                <a:spcPts val="600"/>
              </a:spcAft>
              <a:buFont typeface="Arial" panose="020B0604020202020204" pitchFamily="34" charset="0"/>
              <a:buChar char="•"/>
              <a:defRPr sz="1650">
                <a:solidFill>
                  <a:srgbClr val="2C3230"/>
                </a:solidFill>
                <a:latin typeface="Aptos"/>
                <a:ea typeface="Aptos"/>
                <a:cs typeface="Aptos"/>
              </a:defRPr>
            </a:pPr>
            <a:r>
              <a:rPr dirty="0"/>
              <a:t>This idea is common in normal web applications, but it can also help Generative AI applications.</a:t>
            </a:r>
          </a:p>
          <a:p>
            <a:pPr marL="285750" indent="-285750">
              <a:spcBef>
                <a:spcPts val="600"/>
              </a:spcBef>
              <a:spcAft>
                <a:spcPts val="600"/>
              </a:spcAft>
              <a:buFont typeface="Arial" panose="020B0604020202020204" pitchFamily="34" charset="0"/>
              <a:buChar char="•"/>
              <a:defRPr sz="1650">
                <a:solidFill>
                  <a:srgbClr val="2C3230"/>
                </a:solidFill>
                <a:latin typeface="Aptos"/>
                <a:ea typeface="Aptos"/>
                <a:cs typeface="Aptos"/>
              </a:defRPr>
            </a:pPr>
            <a:r>
              <a:rPr dirty="0"/>
              <a:t>If many users repeatedly ask the same or very similar question, calling the Foundation Model every time may create unnecessary cost and latency.</a:t>
            </a:r>
          </a:p>
          <a:p>
            <a:pPr marL="285750" indent="-285750">
              <a:spcBef>
                <a:spcPts val="600"/>
              </a:spcBef>
              <a:spcAft>
                <a:spcPts val="600"/>
              </a:spcAft>
              <a:buFont typeface="Arial" panose="020B0604020202020204" pitchFamily="34" charset="0"/>
              <a:buChar char="•"/>
              <a:defRPr sz="1650">
                <a:solidFill>
                  <a:srgbClr val="2C3230"/>
                </a:solidFill>
                <a:latin typeface="Aptos"/>
                <a:ea typeface="Aptos"/>
                <a:cs typeface="Aptos"/>
              </a:defRPr>
            </a:pPr>
            <a:r>
              <a:rPr dirty="0"/>
              <a:t>A cache can store an earlier response and return it again when the request matches the stored result closely enough.</a:t>
            </a:r>
          </a:p>
          <a:p>
            <a:pPr marL="285750" indent="-285750">
              <a:spcBef>
                <a:spcPts val="600"/>
              </a:spcBef>
              <a:spcAft>
                <a:spcPts val="600"/>
              </a:spcAft>
              <a:buFont typeface="Arial" panose="020B0604020202020204" pitchFamily="34" charset="0"/>
              <a:buChar char="•"/>
              <a:defRPr sz="1650">
                <a:solidFill>
                  <a:srgbClr val="2C3230"/>
                </a:solidFill>
                <a:latin typeface="Aptos"/>
                <a:ea typeface="Aptos"/>
                <a:cs typeface="Aptos"/>
              </a:defRPr>
            </a:pPr>
            <a:r>
              <a:rPr dirty="0"/>
              <a:t>However, caching must be used carefully because some AI responses depend on current data, user-specific information, or changing context.</a:t>
            </a:r>
          </a:p>
        </p:txBody>
      </p:sp>
      <p:sp>
        <p:nvSpPr>
          <p:cNvPr id="8" name="Rounded Rectangle 7">
            <a:extLst>
              <a:ext uri="{FF2B5EF4-FFF2-40B4-BE49-F238E27FC236}">
                <a16:creationId xmlns:a16="http://schemas.microsoft.com/office/drawing/2014/main" id="{A1582DC2-D9F8-4C30-A306-12796E9477C1}"/>
              </a:ext>
            </a:extLst>
          </p:cNvPr>
          <p:cNvSpPr>
            <a:spLocks noGrp="1"/>
          </p:cNvSpPr>
          <p:nvPr/>
        </p:nvSpPr>
        <p:spPr>
          <a:xfrm>
            <a:off x="8366760" y="1572768"/>
            <a:ext cx="3017520" cy="3383280"/>
          </a:xfrm>
          <a:prstGeom prst="roundRect">
            <a:avLst/>
          </a:prstGeom>
          <a:solidFill>
            <a:srgbClr val="DCEBE2"/>
          </a:solidFill>
          <a:ln>
            <a:solidFill>
              <a:srgbClr val="32685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Oval 8">
            <a:extLst>
              <a:ext uri="{FF2B5EF4-FFF2-40B4-BE49-F238E27FC236}">
                <a16:creationId xmlns:a16="http://schemas.microsoft.com/office/drawing/2014/main" id="{EFA48A12-9663-4E2B-AE0C-57EC9B68C98F}"/>
              </a:ext>
            </a:extLst>
          </p:cNvPr>
          <p:cNvSpPr>
            <a:spLocks noGrp="1"/>
          </p:cNvSpPr>
          <p:nvPr/>
        </p:nvSpPr>
        <p:spPr>
          <a:xfrm>
            <a:off x="9326880" y="1874519"/>
            <a:ext cx="1051560" cy="1051560"/>
          </a:xfrm>
          <a:prstGeom prst="ellipse">
            <a:avLst/>
          </a:prstGeom>
          <a:solidFill>
            <a:srgbClr val="32685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23B95076-D5F2-46AE-8030-D2C7EF03B7A5}"/>
              </a:ext>
            </a:extLst>
          </p:cNvPr>
          <p:cNvSpPr>
            <a:spLocks noGrp="1"/>
          </p:cNvSpPr>
          <p:nvPr/>
        </p:nvSpPr>
        <p:spPr>
          <a:xfrm>
            <a:off x="8915400" y="2185416"/>
            <a:ext cx="1874519" cy="256032"/>
          </a:xfrm>
          <a:prstGeom prst="rect">
            <a:avLst/>
          </a:prstGeom>
          <a:noFill/>
        </p:spPr>
        <p:txBody>
          <a:bodyPr wrap="square" lIns="0" tIns="0" rIns="0" bIns="0">
            <a:spAutoFit/>
          </a:bodyPr>
          <a:lstStyle/>
          <a:p>
            <a:pPr algn="ctr">
              <a:buNone/>
              <a:defRPr sz="1200" b="1">
                <a:solidFill>
                  <a:srgbClr val="FFFFFF"/>
                </a:solidFill>
                <a:latin typeface="Aptos"/>
                <a:ea typeface="Aptos"/>
                <a:cs typeface="Aptos"/>
              </a:defRPr>
            </a:pPr>
            <a:r>
              <a:t>CACHE</a:t>
            </a:r>
          </a:p>
        </p:txBody>
      </p:sp>
      <p:sp>
        <p:nvSpPr>
          <p:cNvPr id="11" name="TextBox 10">
            <a:extLst>
              <a:ext uri="{FF2B5EF4-FFF2-40B4-BE49-F238E27FC236}">
                <a16:creationId xmlns:a16="http://schemas.microsoft.com/office/drawing/2014/main" id="{F4481773-0D9D-4BEB-B191-097C05D1B7E1}"/>
              </a:ext>
            </a:extLst>
          </p:cNvPr>
          <p:cNvSpPr>
            <a:spLocks noGrp="1"/>
          </p:cNvSpPr>
          <p:nvPr/>
        </p:nvSpPr>
        <p:spPr>
          <a:xfrm>
            <a:off x="8668512" y="3246120"/>
            <a:ext cx="2423160" cy="1280160"/>
          </a:xfrm>
          <a:prstGeom prst="rect">
            <a:avLst/>
          </a:prstGeom>
          <a:noFill/>
        </p:spPr>
        <p:txBody>
          <a:bodyPr wrap="square" lIns="0" tIns="0" rIns="0" bIns="0">
            <a:spAutoFit/>
          </a:bodyPr>
          <a:lstStyle/>
          <a:p>
            <a:pPr>
              <a:spcBef>
                <a:spcPts val="300"/>
              </a:spcBef>
              <a:buNone/>
              <a:defRPr sz="1600" b="1">
                <a:solidFill>
                  <a:srgbClr val="1C3430"/>
                </a:solidFill>
                <a:latin typeface="Aptos"/>
                <a:ea typeface="Aptos"/>
                <a:cs typeface="Aptos"/>
              </a:defRPr>
            </a:pPr>
            <a:r>
              <a:rPr dirty="0"/>
              <a:t>Main Idea: </a:t>
            </a:r>
            <a:endParaRPr lang="en-US" dirty="0"/>
          </a:p>
          <a:p>
            <a:pPr>
              <a:spcBef>
                <a:spcPts val="300"/>
              </a:spcBef>
              <a:buNone/>
              <a:defRPr sz="1600" b="1">
                <a:solidFill>
                  <a:srgbClr val="1C3430"/>
                </a:solidFill>
                <a:latin typeface="Aptos"/>
                <a:ea typeface="Aptos"/>
                <a:cs typeface="Aptos"/>
              </a:defRPr>
            </a:pPr>
            <a:r>
              <a:rPr dirty="0"/>
              <a:t>Caching can save time and cost when the same useful result can safely be reused.</a:t>
            </a:r>
          </a:p>
        </p:txBody>
      </p:sp>
    </p:spTree>
    <p:extLst>
      <p:ext uri="{BB962C8B-B14F-4D97-AF65-F5344CB8AC3E}">
        <p14:creationId xmlns:p14="http://schemas.microsoft.com/office/powerpoint/2010/main" val="579034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FA152E-B9D3-4193-BC32-2A527CC1CD6B}"/>
              </a:ext>
            </a:extLst>
          </p:cNvPr>
          <p:cNvSpPr>
            <a:spLocks noGrp="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BDC80308-5E10-4586-84C8-ADA4F6F36780}"/>
              </a:ext>
            </a:extLst>
          </p:cNvPr>
          <p:cNvSpPr>
            <a:spLocks noGrp="1"/>
          </p:cNvSpPr>
          <p:nvPr/>
        </p:nvSpPr>
        <p:spPr>
          <a:xfrm>
            <a:off x="640080" y="411480"/>
            <a:ext cx="10149840" cy="566928"/>
          </a:xfrm>
          <a:prstGeom prst="rect">
            <a:avLst/>
          </a:prstGeom>
          <a:noFill/>
        </p:spPr>
        <p:txBody>
          <a:bodyPr wrap="square" lIns="0" tIns="0" rIns="0" bIns="0">
            <a:spAutoFit/>
          </a:bodyPr>
          <a:lstStyle/>
          <a:p>
            <a:pPr algn="l">
              <a:buNone/>
              <a:defRPr sz="2500" b="1">
                <a:solidFill>
                  <a:srgbClr val="1C3430"/>
                </a:solidFill>
                <a:latin typeface="Aptos Display"/>
                <a:ea typeface="Aptos Display"/>
                <a:cs typeface="Aptos Display"/>
              </a:defRPr>
            </a:pPr>
            <a:r>
              <a:t>Semantic Caching</a:t>
            </a:r>
          </a:p>
        </p:txBody>
      </p:sp>
      <p:sp>
        <p:nvSpPr>
          <p:cNvPr id="4" name="Rectangle 3">
            <a:extLst>
              <a:ext uri="{FF2B5EF4-FFF2-40B4-BE49-F238E27FC236}">
                <a16:creationId xmlns:a16="http://schemas.microsoft.com/office/drawing/2014/main" id="{6FC2C794-6A89-4971-9013-D749B5A250AC}"/>
              </a:ext>
            </a:extLst>
          </p:cNvPr>
          <p:cNvSpPr>
            <a:spLocks noGrp="1"/>
          </p:cNvSpPr>
          <p:nvPr/>
        </p:nvSpPr>
        <p:spPr>
          <a:xfrm>
            <a:off x="658368" y="1024128"/>
            <a:ext cx="1051560" cy="54864"/>
          </a:xfrm>
          <a:prstGeom prst="rect">
            <a:avLst/>
          </a:prstGeom>
          <a:solidFill>
            <a:srgbClr val="DE7E4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C98D4F9B-E628-4E39-8DC6-D971CE2A364F}"/>
              </a:ext>
            </a:extLst>
          </p:cNvPr>
          <p:cNvSpPr>
            <a:spLocks noGrp="1"/>
          </p:cNvSpPr>
          <p:nvPr/>
        </p:nvSpPr>
        <p:spPr>
          <a:xfrm>
            <a:off x="11018520" y="320040"/>
            <a:ext cx="530352" cy="384048"/>
          </a:xfrm>
          <a:prstGeom prst="roundRect">
            <a:avLst/>
          </a:prstGeom>
          <a:solidFill>
            <a:srgbClr val="1C343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068967C-09A5-49E4-8714-5BA7D1D69EDA}"/>
              </a:ext>
            </a:extLst>
          </p:cNvPr>
          <p:cNvSpPr>
            <a:spLocks noGrp="1"/>
          </p:cNvSpPr>
          <p:nvPr/>
        </p:nvSpPr>
        <p:spPr>
          <a:xfrm>
            <a:off x="11018520" y="384048"/>
            <a:ext cx="530352" cy="210312"/>
          </a:xfrm>
          <a:prstGeom prst="rect">
            <a:avLst/>
          </a:prstGeom>
          <a:noFill/>
        </p:spPr>
        <p:txBody>
          <a:bodyPr wrap="square" lIns="0" tIns="0" rIns="0" bIns="0">
            <a:spAutoFit/>
          </a:bodyPr>
          <a:lstStyle/>
          <a:p>
            <a:pPr algn="ctr">
              <a:buNone/>
              <a:defRPr sz="1300" b="1">
                <a:solidFill>
                  <a:srgbClr val="FFFFFF"/>
                </a:solidFill>
                <a:latin typeface="Aptos"/>
                <a:ea typeface="Aptos"/>
                <a:cs typeface="Aptos"/>
              </a:defRPr>
            </a:pPr>
            <a:r>
              <a:t>11</a:t>
            </a:r>
          </a:p>
        </p:txBody>
      </p:sp>
      <p:sp>
        <p:nvSpPr>
          <p:cNvPr id="7" name="TextBox 6">
            <a:extLst>
              <a:ext uri="{FF2B5EF4-FFF2-40B4-BE49-F238E27FC236}">
                <a16:creationId xmlns:a16="http://schemas.microsoft.com/office/drawing/2014/main" id="{B0AD4157-ABC8-4E64-B2C8-E338139CC086}"/>
              </a:ext>
            </a:extLst>
          </p:cNvPr>
          <p:cNvSpPr>
            <a:spLocks noGrp="1"/>
          </p:cNvSpPr>
          <p:nvPr/>
        </p:nvSpPr>
        <p:spPr>
          <a:xfrm>
            <a:off x="685800" y="1280160"/>
            <a:ext cx="6537960" cy="4008790"/>
          </a:xfrm>
          <a:prstGeom prst="rect">
            <a:avLst/>
          </a:prstGeom>
          <a:noFill/>
        </p:spPr>
        <p:txBody>
          <a:bodyPr wrap="square" lIns="18288" tIns="9144" rIns="18288" bIns="9144">
            <a:spAutoFit/>
          </a:bodyPr>
          <a:lstStyle/>
          <a:p>
            <a:pPr marL="285750" indent="-285750">
              <a:spcBef>
                <a:spcPts val="600"/>
              </a:spcBef>
              <a:spcAft>
                <a:spcPts val="600"/>
              </a:spcAft>
              <a:buFont typeface="Arial" panose="020B0604020202020204" pitchFamily="34" charset="0"/>
              <a:buChar char="•"/>
              <a:defRPr sz="1610">
                <a:solidFill>
                  <a:srgbClr val="2C3230"/>
                </a:solidFill>
                <a:latin typeface="Aptos"/>
                <a:ea typeface="Aptos"/>
                <a:cs typeface="Aptos"/>
              </a:defRPr>
            </a:pPr>
            <a:r>
              <a:rPr dirty="0"/>
              <a:t>Exact-match caching only works when the new request is identical to a previous request.</a:t>
            </a:r>
          </a:p>
          <a:p>
            <a:pPr marL="285750" indent="-285750">
              <a:spcBef>
                <a:spcPts val="600"/>
              </a:spcBef>
              <a:spcAft>
                <a:spcPts val="600"/>
              </a:spcAft>
              <a:buFont typeface="Arial" panose="020B0604020202020204" pitchFamily="34" charset="0"/>
              <a:buChar char="•"/>
              <a:defRPr sz="1610">
                <a:solidFill>
                  <a:srgbClr val="2C3230"/>
                </a:solidFill>
                <a:latin typeface="Aptos"/>
                <a:ea typeface="Aptos"/>
                <a:cs typeface="Aptos"/>
              </a:defRPr>
            </a:pPr>
            <a:r>
              <a:rPr dirty="0"/>
              <a:t>Users often ask the same question using different words, so exact matching may miss many reusable results.</a:t>
            </a:r>
          </a:p>
          <a:p>
            <a:pPr marL="285750" indent="-285750">
              <a:spcBef>
                <a:spcPts val="600"/>
              </a:spcBef>
              <a:spcAft>
                <a:spcPts val="600"/>
              </a:spcAft>
              <a:buFont typeface="Arial" panose="020B0604020202020204" pitchFamily="34" charset="0"/>
              <a:buChar char="•"/>
              <a:defRPr sz="1610">
                <a:solidFill>
                  <a:srgbClr val="2C3230"/>
                </a:solidFill>
                <a:latin typeface="Aptos"/>
                <a:ea typeface="Aptos"/>
                <a:cs typeface="Aptos"/>
              </a:defRPr>
            </a:pPr>
            <a:r>
              <a:rPr dirty="0"/>
              <a:t>Semantic caching compares the meaning of requests instead of only comparing the exact text.</a:t>
            </a:r>
          </a:p>
          <a:p>
            <a:pPr marL="285750" indent="-285750">
              <a:spcBef>
                <a:spcPts val="600"/>
              </a:spcBef>
              <a:spcAft>
                <a:spcPts val="600"/>
              </a:spcAft>
              <a:buFont typeface="Arial" panose="020B0604020202020204" pitchFamily="34" charset="0"/>
              <a:buChar char="•"/>
              <a:defRPr sz="1610">
                <a:solidFill>
                  <a:srgbClr val="2C3230"/>
                </a:solidFill>
                <a:latin typeface="Aptos"/>
                <a:ea typeface="Aptos"/>
                <a:cs typeface="Aptos"/>
              </a:defRPr>
            </a:pPr>
            <a:r>
              <a:rPr dirty="0"/>
              <a:t>A common approach is to create embeddings for prompts and store them with earlier responses.</a:t>
            </a:r>
          </a:p>
          <a:p>
            <a:pPr marL="285750" indent="-285750">
              <a:spcBef>
                <a:spcPts val="600"/>
              </a:spcBef>
              <a:spcAft>
                <a:spcPts val="600"/>
              </a:spcAft>
              <a:buFont typeface="Arial" panose="020B0604020202020204" pitchFamily="34" charset="0"/>
              <a:buChar char="•"/>
              <a:defRPr sz="1610">
                <a:solidFill>
                  <a:srgbClr val="2C3230"/>
                </a:solidFill>
                <a:latin typeface="Aptos"/>
                <a:ea typeface="Aptos"/>
                <a:cs typeface="Aptos"/>
              </a:defRPr>
            </a:pPr>
            <a:r>
              <a:rPr dirty="0"/>
              <a:t>When a new request arrives, its embedding can be compared with the cached prompts.</a:t>
            </a:r>
          </a:p>
          <a:p>
            <a:pPr marL="285750" indent="-285750">
              <a:spcBef>
                <a:spcPts val="600"/>
              </a:spcBef>
              <a:spcAft>
                <a:spcPts val="600"/>
              </a:spcAft>
              <a:buFont typeface="Arial" panose="020B0604020202020204" pitchFamily="34" charset="0"/>
              <a:buChar char="•"/>
              <a:defRPr sz="1610">
                <a:solidFill>
                  <a:srgbClr val="2C3230"/>
                </a:solidFill>
                <a:latin typeface="Aptos"/>
                <a:ea typeface="Aptos"/>
                <a:cs typeface="Aptos"/>
              </a:defRPr>
            </a:pPr>
            <a:r>
              <a:rPr dirty="0"/>
              <a:t>If the new request is similar enough to a previous request, the application may reuse the cached response instead of calling the model again.</a:t>
            </a:r>
          </a:p>
        </p:txBody>
      </p:sp>
      <p:sp>
        <p:nvSpPr>
          <p:cNvPr id="8" name="TextBox 7">
            <a:extLst>
              <a:ext uri="{FF2B5EF4-FFF2-40B4-BE49-F238E27FC236}">
                <a16:creationId xmlns:a16="http://schemas.microsoft.com/office/drawing/2014/main" id="{DD203FD4-FEBA-4003-A09F-83C721A48E90}"/>
              </a:ext>
            </a:extLst>
          </p:cNvPr>
          <p:cNvSpPr>
            <a:spLocks noGrp="1"/>
          </p:cNvSpPr>
          <p:nvPr/>
        </p:nvSpPr>
        <p:spPr>
          <a:xfrm>
            <a:off x="8275320" y="1371600"/>
            <a:ext cx="2377440" cy="320040"/>
          </a:xfrm>
          <a:prstGeom prst="rect">
            <a:avLst/>
          </a:prstGeom>
          <a:noFill/>
        </p:spPr>
        <p:txBody>
          <a:bodyPr wrap="square" lIns="0" tIns="0" rIns="0" bIns="0">
            <a:spAutoFit/>
          </a:bodyPr>
          <a:lstStyle/>
          <a:p>
            <a:pPr algn="ctr">
              <a:buNone/>
              <a:defRPr sz="1500" b="1">
                <a:solidFill>
                  <a:srgbClr val="1C3430"/>
                </a:solidFill>
                <a:latin typeface="Aptos"/>
                <a:ea typeface="Aptos"/>
                <a:cs typeface="Aptos"/>
              </a:defRPr>
            </a:pPr>
            <a:r>
              <a:t>Similar meaning</a:t>
            </a:r>
          </a:p>
        </p:txBody>
      </p:sp>
      <p:sp>
        <p:nvSpPr>
          <p:cNvPr id="9" name="Rounded Rectangle 8">
            <a:extLst>
              <a:ext uri="{FF2B5EF4-FFF2-40B4-BE49-F238E27FC236}">
                <a16:creationId xmlns:a16="http://schemas.microsoft.com/office/drawing/2014/main" id="{31968898-BAAC-4FBA-A316-49AA6067415E}"/>
              </a:ext>
            </a:extLst>
          </p:cNvPr>
          <p:cNvSpPr>
            <a:spLocks noGrp="1"/>
          </p:cNvSpPr>
          <p:nvPr/>
        </p:nvSpPr>
        <p:spPr>
          <a:xfrm>
            <a:off x="7726679" y="1828800"/>
            <a:ext cx="3383280" cy="777240"/>
          </a:xfrm>
          <a:prstGeom prst="roundRect">
            <a:avLst/>
          </a:prstGeom>
          <a:solidFill>
            <a:srgbClr val="DCEBE2"/>
          </a:solidFill>
          <a:ln>
            <a:solidFill>
              <a:srgbClr val="32685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C8F72673-BB0F-450F-90E2-25F7EBA39B65}"/>
              </a:ext>
            </a:extLst>
          </p:cNvPr>
          <p:cNvSpPr>
            <a:spLocks noGrp="1"/>
          </p:cNvSpPr>
          <p:nvPr/>
        </p:nvSpPr>
        <p:spPr>
          <a:xfrm>
            <a:off x="7955279" y="1984248"/>
            <a:ext cx="2926080" cy="438912"/>
          </a:xfrm>
          <a:prstGeom prst="rect">
            <a:avLst/>
          </a:prstGeom>
          <a:noFill/>
        </p:spPr>
        <p:txBody>
          <a:bodyPr wrap="square" lIns="0" tIns="0" rIns="0" bIns="0">
            <a:spAutoFit/>
          </a:bodyPr>
          <a:lstStyle/>
          <a:p>
            <a:pPr algn="ctr">
              <a:buNone/>
              <a:defRPr sz="1350" b="0">
                <a:solidFill>
                  <a:srgbClr val="2C3230"/>
                </a:solidFill>
                <a:latin typeface="Aptos"/>
                <a:ea typeface="Aptos"/>
                <a:cs typeface="Aptos"/>
              </a:defRPr>
            </a:pPr>
            <a:r>
              <a:t>“Where can I reset</a:t>
            </a:r>
            <a:br/>
            <a:r>
              <a:t>my password?”</a:t>
            </a:r>
          </a:p>
        </p:txBody>
      </p:sp>
      <p:sp>
        <p:nvSpPr>
          <p:cNvPr id="11" name="Rounded Rectangle 10">
            <a:extLst>
              <a:ext uri="{FF2B5EF4-FFF2-40B4-BE49-F238E27FC236}">
                <a16:creationId xmlns:a16="http://schemas.microsoft.com/office/drawing/2014/main" id="{108BD62A-74F0-4ACA-91EC-1F3BF1F60672}"/>
              </a:ext>
            </a:extLst>
          </p:cNvPr>
          <p:cNvSpPr>
            <a:spLocks noGrp="1"/>
          </p:cNvSpPr>
          <p:nvPr/>
        </p:nvSpPr>
        <p:spPr>
          <a:xfrm>
            <a:off x="7726679" y="2880360"/>
            <a:ext cx="3383280" cy="777240"/>
          </a:xfrm>
          <a:prstGeom prst="roundRect">
            <a:avLst/>
          </a:prstGeom>
          <a:solidFill>
            <a:srgbClr val="EEF1EB"/>
          </a:solidFill>
          <a:ln>
            <a:solidFill>
              <a:srgbClr val="DE7E48"/>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E6AD62D-3C39-4857-B5D0-7AF39571D105}"/>
              </a:ext>
            </a:extLst>
          </p:cNvPr>
          <p:cNvSpPr>
            <a:spLocks noGrp="1"/>
          </p:cNvSpPr>
          <p:nvPr/>
        </p:nvSpPr>
        <p:spPr>
          <a:xfrm>
            <a:off x="7955279" y="3035808"/>
            <a:ext cx="2926080" cy="438912"/>
          </a:xfrm>
          <a:prstGeom prst="rect">
            <a:avLst/>
          </a:prstGeom>
          <a:noFill/>
        </p:spPr>
        <p:txBody>
          <a:bodyPr wrap="square" lIns="0" tIns="0" rIns="0" bIns="0">
            <a:spAutoFit/>
          </a:bodyPr>
          <a:lstStyle/>
          <a:p>
            <a:pPr algn="ctr">
              <a:buNone/>
              <a:defRPr sz="1350" b="0">
                <a:solidFill>
                  <a:srgbClr val="2C3230"/>
                </a:solidFill>
                <a:latin typeface="Aptos"/>
                <a:ea typeface="Aptos"/>
                <a:cs typeface="Aptos"/>
              </a:defRPr>
            </a:pPr>
            <a:r>
              <a:t>“How do I change</a:t>
            </a:r>
            <a:br/>
            <a:r>
              <a:t>my account password?”</a:t>
            </a:r>
          </a:p>
        </p:txBody>
      </p:sp>
      <p:sp>
        <p:nvSpPr>
          <p:cNvPr id="13" name="TextBox 12">
            <a:extLst>
              <a:ext uri="{FF2B5EF4-FFF2-40B4-BE49-F238E27FC236}">
                <a16:creationId xmlns:a16="http://schemas.microsoft.com/office/drawing/2014/main" id="{2101D66C-6138-48D6-9FE5-5F8D8F41DB15}"/>
              </a:ext>
            </a:extLst>
          </p:cNvPr>
          <p:cNvSpPr>
            <a:spLocks noGrp="1"/>
          </p:cNvSpPr>
          <p:nvPr/>
        </p:nvSpPr>
        <p:spPr>
          <a:xfrm>
            <a:off x="8503920" y="3886200"/>
            <a:ext cx="1828800" cy="292608"/>
          </a:xfrm>
          <a:prstGeom prst="rect">
            <a:avLst/>
          </a:prstGeom>
          <a:noFill/>
        </p:spPr>
        <p:txBody>
          <a:bodyPr wrap="square" lIns="0" tIns="0" rIns="0" bIns="0">
            <a:spAutoFit/>
          </a:bodyPr>
          <a:lstStyle/>
          <a:p>
            <a:pPr algn="ctr">
              <a:buNone/>
              <a:defRPr sz="1400" b="1">
                <a:solidFill>
                  <a:srgbClr val="DE7E48"/>
                </a:solidFill>
                <a:latin typeface="Aptos"/>
                <a:ea typeface="Aptos"/>
                <a:cs typeface="Aptos"/>
              </a:defRPr>
            </a:pPr>
            <a:r>
              <a:t>↓ embeddings ↓</a:t>
            </a:r>
          </a:p>
        </p:txBody>
      </p:sp>
      <p:sp>
        <p:nvSpPr>
          <p:cNvPr id="14" name="Rounded Rectangle 13">
            <a:extLst>
              <a:ext uri="{FF2B5EF4-FFF2-40B4-BE49-F238E27FC236}">
                <a16:creationId xmlns:a16="http://schemas.microsoft.com/office/drawing/2014/main" id="{EE3D6F92-FFF4-4752-B03F-7EB83A6D3AFE}"/>
              </a:ext>
            </a:extLst>
          </p:cNvPr>
          <p:cNvSpPr>
            <a:spLocks noGrp="1"/>
          </p:cNvSpPr>
          <p:nvPr/>
        </p:nvSpPr>
        <p:spPr>
          <a:xfrm>
            <a:off x="7909560" y="4297680"/>
            <a:ext cx="3017520" cy="685800"/>
          </a:xfrm>
          <a:prstGeom prst="roundRect">
            <a:avLst/>
          </a:prstGeom>
          <a:solidFill>
            <a:srgbClr val="1C343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97FA651-33E0-4390-BB5F-A6980E4D593E}"/>
              </a:ext>
            </a:extLst>
          </p:cNvPr>
          <p:cNvSpPr>
            <a:spLocks noGrp="1"/>
          </p:cNvSpPr>
          <p:nvPr/>
        </p:nvSpPr>
        <p:spPr>
          <a:xfrm>
            <a:off x="8065008" y="4498848"/>
            <a:ext cx="2697480" cy="256032"/>
          </a:xfrm>
          <a:prstGeom prst="rect">
            <a:avLst/>
          </a:prstGeom>
          <a:noFill/>
        </p:spPr>
        <p:txBody>
          <a:bodyPr wrap="square" lIns="0" tIns="0" rIns="0" bIns="0">
            <a:spAutoFit/>
          </a:bodyPr>
          <a:lstStyle/>
          <a:p>
            <a:pPr algn="ctr">
              <a:buNone/>
              <a:defRPr sz="1300" b="1">
                <a:solidFill>
                  <a:srgbClr val="FFFFFF"/>
                </a:solidFill>
                <a:latin typeface="Aptos"/>
                <a:ea typeface="Aptos"/>
                <a:cs typeface="Aptos"/>
              </a:defRPr>
            </a:pPr>
            <a:r>
              <a:t>Similar meaning → reuse cache</a:t>
            </a:r>
          </a:p>
        </p:txBody>
      </p:sp>
      <p:sp>
        <p:nvSpPr>
          <p:cNvPr id="16" name="TextBox 15">
            <a:extLst>
              <a:ext uri="{FF2B5EF4-FFF2-40B4-BE49-F238E27FC236}">
                <a16:creationId xmlns:a16="http://schemas.microsoft.com/office/drawing/2014/main" id="{70110ED9-3430-4463-AE08-240F8CA41608}"/>
              </a:ext>
            </a:extLst>
          </p:cNvPr>
          <p:cNvSpPr>
            <a:spLocks noGrp="1"/>
          </p:cNvSpPr>
          <p:nvPr/>
        </p:nvSpPr>
        <p:spPr>
          <a:xfrm>
            <a:off x="7818120" y="5285232"/>
            <a:ext cx="3337560" cy="713232"/>
          </a:xfrm>
          <a:prstGeom prst="rect">
            <a:avLst/>
          </a:prstGeom>
          <a:noFill/>
        </p:spPr>
        <p:txBody>
          <a:bodyPr wrap="square" lIns="0" tIns="0" rIns="0" bIns="0">
            <a:spAutoFit/>
          </a:bodyPr>
          <a:lstStyle/>
          <a:p>
            <a:pPr algn="ctr">
              <a:buNone/>
              <a:defRPr sz="1420" b="1">
                <a:solidFill>
                  <a:srgbClr val="32685D"/>
                </a:solidFill>
                <a:latin typeface="Aptos"/>
                <a:ea typeface="Aptos"/>
                <a:cs typeface="Aptos"/>
              </a:defRPr>
            </a:pPr>
            <a:r>
              <a:t>Main Lesson: Semantic caching looks for similar meaning, not only identical text.</a:t>
            </a:r>
          </a:p>
        </p:txBody>
      </p:sp>
    </p:spTree>
    <p:extLst>
      <p:ext uri="{BB962C8B-B14F-4D97-AF65-F5344CB8AC3E}">
        <p14:creationId xmlns:p14="http://schemas.microsoft.com/office/powerpoint/2010/main" val="933832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20B5D7-5D71-4D81-A2E5-110497712811}"/>
              </a:ext>
            </a:extLst>
          </p:cNvPr>
          <p:cNvSpPr>
            <a:spLocks noGrp="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25E4A4AC-E785-4869-8634-2464A430F9D1}"/>
              </a:ext>
            </a:extLst>
          </p:cNvPr>
          <p:cNvSpPr>
            <a:spLocks noGrp="1"/>
          </p:cNvSpPr>
          <p:nvPr/>
        </p:nvSpPr>
        <p:spPr>
          <a:xfrm>
            <a:off x="640080" y="411480"/>
            <a:ext cx="10149840" cy="566928"/>
          </a:xfrm>
          <a:prstGeom prst="rect">
            <a:avLst/>
          </a:prstGeom>
          <a:noFill/>
        </p:spPr>
        <p:txBody>
          <a:bodyPr wrap="square" lIns="0" tIns="0" rIns="0" bIns="0">
            <a:spAutoFit/>
          </a:bodyPr>
          <a:lstStyle/>
          <a:p>
            <a:pPr algn="l">
              <a:buNone/>
              <a:defRPr sz="2500" b="1">
                <a:solidFill>
                  <a:srgbClr val="1C3430"/>
                </a:solidFill>
                <a:latin typeface="Aptos Display"/>
                <a:ea typeface="Aptos Display"/>
                <a:cs typeface="Aptos Display"/>
              </a:defRPr>
            </a:pPr>
            <a:r>
              <a:t>When Semantic Caching Is Useful</a:t>
            </a:r>
          </a:p>
        </p:txBody>
      </p:sp>
      <p:sp>
        <p:nvSpPr>
          <p:cNvPr id="4" name="Rectangle 3">
            <a:extLst>
              <a:ext uri="{FF2B5EF4-FFF2-40B4-BE49-F238E27FC236}">
                <a16:creationId xmlns:a16="http://schemas.microsoft.com/office/drawing/2014/main" id="{E2E258FE-D0AF-4AD4-8649-86EF84734F71}"/>
              </a:ext>
            </a:extLst>
          </p:cNvPr>
          <p:cNvSpPr>
            <a:spLocks noGrp="1"/>
          </p:cNvSpPr>
          <p:nvPr/>
        </p:nvSpPr>
        <p:spPr>
          <a:xfrm>
            <a:off x="658368" y="1024128"/>
            <a:ext cx="1051560" cy="54864"/>
          </a:xfrm>
          <a:prstGeom prst="rect">
            <a:avLst/>
          </a:prstGeom>
          <a:solidFill>
            <a:srgbClr val="DE7E4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5AE642BA-385A-4CFA-B780-1975359B5CF0}"/>
              </a:ext>
            </a:extLst>
          </p:cNvPr>
          <p:cNvSpPr>
            <a:spLocks noGrp="1"/>
          </p:cNvSpPr>
          <p:nvPr/>
        </p:nvSpPr>
        <p:spPr>
          <a:xfrm>
            <a:off x="11018520" y="320040"/>
            <a:ext cx="530352" cy="384048"/>
          </a:xfrm>
          <a:prstGeom prst="roundRect">
            <a:avLst/>
          </a:prstGeom>
          <a:solidFill>
            <a:srgbClr val="1C343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ADC4BD74-AD7E-4A6D-B493-B7614AB12CC6}"/>
              </a:ext>
            </a:extLst>
          </p:cNvPr>
          <p:cNvSpPr>
            <a:spLocks noGrp="1"/>
          </p:cNvSpPr>
          <p:nvPr/>
        </p:nvSpPr>
        <p:spPr>
          <a:xfrm>
            <a:off x="11018520" y="384048"/>
            <a:ext cx="530352" cy="210312"/>
          </a:xfrm>
          <a:prstGeom prst="rect">
            <a:avLst/>
          </a:prstGeom>
          <a:noFill/>
        </p:spPr>
        <p:txBody>
          <a:bodyPr wrap="square" lIns="0" tIns="0" rIns="0" bIns="0">
            <a:spAutoFit/>
          </a:bodyPr>
          <a:lstStyle/>
          <a:p>
            <a:pPr algn="ctr">
              <a:buNone/>
              <a:defRPr sz="1300" b="1">
                <a:solidFill>
                  <a:srgbClr val="FFFFFF"/>
                </a:solidFill>
                <a:latin typeface="Aptos"/>
                <a:ea typeface="Aptos"/>
                <a:cs typeface="Aptos"/>
              </a:defRPr>
            </a:pPr>
            <a:r>
              <a:t>12</a:t>
            </a:r>
          </a:p>
        </p:txBody>
      </p:sp>
      <p:sp>
        <p:nvSpPr>
          <p:cNvPr id="7" name="TextBox 6">
            <a:extLst>
              <a:ext uri="{FF2B5EF4-FFF2-40B4-BE49-F238E27FC236}">
                <a16:creationId xmlns:a16="http://schemas.microsoft.com/office/drawing/2014/main" id="{480B3079-D3D3-4727-95EA-8A4A19C50E4A}"/>
              </a:ext>
            </a:extLst>
          </p:cNvPr>
          <p:cNvSpPr>
            <a:spLocks noGrp="1"/>
          </p:cNvSpPr>
          <p:nvPr/>
        </p:nvSpPr>
        <p:spPr>
          <a:xfrm>
            <a:off x="685800" y="1298448"/>
            <a:ext cx="6720840" cy="3127010"/>
          </a:xfrm>
          <a:prstGeom prst="rect">
            <a:avLst/>
          </a:prstGeom>
          <a:noFill/>
        </p:spPr>
        <p:txBody>
          <a:bodyPr wrap="square" lIns="18288" tIns="9144" rIns="18288" bIns="9144">
            <a:spAutoFit/>
          </a:bodyPr>
          <a:lstStyle/>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Semantic caching works best when similar questions are expected to have similar answers.</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Common examples include FAQs, documentation questions, product information, support instructions, or repeated knowledge-based queries.</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It is less suitable when the answer changes frequently or depends on sensitive user-specific data.</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The application also needs a similarity threshold that determines when two requests are close enough to reuse the cached response.</a:t>
            </a:r>
          </a:p>
          <a:p>
            <a:pPr marL="285750" indent="-285750">
              <a:spcBef>
                <a:spcPts val="600"/>
              </a:spcBef>
              <a:spcAft>
                <a:spcPts val="600"/>
              </a:spcAft>
              <a:buFont typeface="Arial" panose="020B0604020202020204" pitchFamily="34" charset="0"/>
              <a:buChar char="•"/>
              <a:defRPr sz="1620">
                <a:solidFill>
                  <a:srgbClr val="2C3230"/>
                </a:solidFill>
                <a:latin typeface="Aptos"/>
                <a:ea typeface="Aptos"/>
                <a:cs typeface="Aptos"/>
              </a:defRPr>
            </a:pPr>
            <a:r>
              <a:rPr dirty="0"/>
              <a:t>If the threshold is too strict, useful cache matches may be missed.</a:t>
            </a:r>
          </a:p>
        </p:txBody>
      </p:sp>
      <p:sp>
        <p:nvSpPr>
          <p:cNvPr id="8" name="Rounded Rectangle 7">
            <a:extLst>
              <a:ext uri="{FF2B5EF4-FFF2-40B4-BE49-F238E27FC236}">
                <a16:creationId xmlns:a16="http://schemas.microsoft.com/office/drawing/2014/main" id="{12DE3298-7555-4BBF-B8B2-51EEAE647DD8}"/>
              </a:ext>
            </a:extLst>
          </p:cNvPr>
          <p:cNvSpPr>
            <a:spLocks noGrp="1"/>
          </p:cNvSpPr>
          <p:nvPr/>
        </p:nvSpPr>
        <p:spPr>
          <a:xfrm>
            <a:off x="7726679" y="1417320"/>
            <a:ext cx="3611880" cy="2148840"/>
          </a:xfrm>
          <a:prstGeom prst="roundRect">
            <a:avLst/>
          </a:prstGeom>
          <a:solidFill>
            <a:srgbClr val="EEF1EB"/>
          </a:solidFill>
          <a:ln>
            <a:solidFill>
              <a:srgbClr val="E8BA5E"/>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A396639-A417-4CAF-ABD0-D4D920D66E05}"/>
              </a:ext>
            </a:extLst>
          </p:cNvPr>
          <p:cNvSpPr>
            <a:spLocks noGrp="1"/>
          </p:cNvSpPr>
          <p:nvPr/>
        </p:nvSpPr>
        <p:spPr>
          <a:xfrm>
            <a:off x="8001000" y="1719072"/>
            <a:ext cx="3063240" cy="1463040"/>
          </a:xfrm>
          <a:prstGeom prst="rect">
            <a:avLst/>
          </a:prstGeom>
          <a:noFill/>
        </p:spPr>
        <p:txBody>
          <a:bodyPr wrap="square" lIns="0" tIns="0" rIns="0" bIns="0">
            <a:spAutoFit/>
          </a:bodyPr>
          <a:lstStyle/>
          <a:p>
            <a:pPr algn="l">
              <a:buNone/>
              <a:defRPr sz="1520" b="0">
                <a:solidFill>
                  <a:srgbClr val="2C3230"/>
                </a:solidFill>
                <a:latin typeface="Aptos"/>
                <a:ea typeface="Aptos"/>
                <a:cs typeface="Aptos"/>
              </a:defRPr>
            </a:pPr>
            <a:r>
              <a:t>If it is too loose, the system may return a response that does not correctly answer the new question.</a:t>
            </a:r>
          </a:p>
        </p:txBody>
      </p:sp>
      <p:sp>
        <p:nvSpPr>
          <p:cNvPr id="10" name="Rounded Rectangle 9">
            <a:extLst>
              <a:ext uri="{FF2B5EF4-FFF2-40B4-BE49-F238E27FC236}">
                <a16:creationId xmlns:a16="http://schemas.microsoft.com/office/drawing/2014/main" id="{D5B0AE68-BAA4-486B-9DAD-42B09AA97406}"/>
              </a:ext>
            </a:extLst>
          </p:cNvPr>
          <p:cNvSpPr>
            <a:spLocks noGrp="1"/>
          </p:cNvSpPr>
          <p:nvPr/>
        </p:nvSpPr>
        <p:spPr>
          <a:xfrm>
            <a:off x="7726679" y="3822191"/>
            <a:ext cx="3611880" cy="1554480"/>
          </a:xfrm>
          <a:prstGeom prst="roundRect">
            <a:avLst/>
          </a:prstGeom>
          <a:solidFill>
            <a:srgbClr val="1C343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068717-B840-4EC0-A02A-68D4C7298074}"/>
              </a:ext>
            </a:extLst>
          </p:cNvPr>
          <p:cNvSpPr>
            <a:spLocks noGrp="1"/>
          </p:cNvSpPr>
          <p:nvPr/>
        </p:nvSpPr>
        <p:spPr>
          <a:xfrm>
            <a:off x="8001000" y="4133087"/>
            <a:ext cx="3063240" cy="974113"/>
          </a:xfrm>
          <a:prstGeom prst="rect">
            <a:avLst/>
          </a:prstGeom>
          <a:noFill/>
        </p:spPr>
        <p:txBody>
          <a:bodyPr wrap="square" lIns="0" tIns="0" rIns="0" bIns="0">
            <a:spAutoFit/>
          </a:bodyPr>
          <a:lstStyle/>
          <a:p>
            <a:pPr>
              <a:spcBef>
                <a:spcPts val="300"/>
              </a:spcBef>
              <a:buNone/>
              <a:defRPr sz="1520" b="1">
                <a:solidFill>
                  <a:srgbClr val="FFFFFF"/>
                </a:solidFill>
                <a:latin typeface="Aptos"/>
                <a:ea typeface="Aptos"/>
                <a:cs typeface="Aptos"/>
              </a:defRPr>
            </a:pPr>
            <a:r>
              <a:rPr dirty="0"/>
              <a:t>Important Point: </a:t>
            </a:r>
            <a:endParaRPr lang="en-US" dirty="0"/>
          </a:p>
          <a:p>
            <a:pPr>
              <a:spcBef>
                <a:spcPts val="300"/>
              </a:spcBef>
              <a:buNone/>
              <a:defRPr sz="1520" b="1">
                <a:solidFill>
                  <a:srgbClr val="FFFFFF"/>
                </a:solidFill>
                <a:latin typeface="Aptos"/>
                <a:ea typeface="Aptos"/>
                <a:cs typeface="Aptos"/>
              </a:defRPr>
            </a:pPr>
            <a:r>
              <a:rPr dirty="0"/>
              <a:t>A cache hit should only happen when reusing the old response is still accurate and safe.</a:t>
            </a:r>
          </a:p>
        </p:txBody>
      </p:sp>
    </p:spTree>
    <p:extLst>
      <p:ext uri="{BB962C8B-B14F-4D97-AF65-F5344CB8AC3E}">
        <p14:creationId xmlns:p14="http://schemas.microsoft.com/office/powerpoint/2010/main" val="481076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AC3EBD-3243-404F-B8DA-84A7D9490928}"/>
              </a:ext>
            </a:extLst>
          </p:cNvPr>
          <p:cNvSpPr>
            <a:spLocks noGrp="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6554DD8A-AAA3-41C8-B465-B0F63A2C317F}"/>
              </a:ext>
            </a:extLst>
          </p:cNvPr>
          <p:cNvSpPr>
            <a:spLocks noGrp="1"/>
          </p:cNvSpPr>
          <p:nvPr/>
        </p:nvSpPr>
        <p:spPr>
          <a:xfrm>
            <a:off x="640080" y="411480"/>
            <a:ext cx="10149840" cy="566928"/>
          </a:xfrm>
          <a:prstGeom prst="rect">
            <a:avLst/>
          </a:prstGeom>
          <a:noFill/>
        </p:spPr>
        <p:txBody>
          <a:bodyPr wrap="square" lIns="0" tIns="0" rIns="0" bIns="0">
            <a:spAutoFit/>
          </a:bodyPr>
          <a:lstStyle/>
          <a:p>
            <a:pPr algn="l">
              <a:buNone/>
              <a:defRPr sz="2500" b="1">
                <a:solidFill>
                  <a:srgbClr val="1C3430"/>
                </a:solidFill>
                <a:latin typeface="Aptos Display"/>
                <a:ea typeface="Aptos Display"/>
                <a:cs typeface="Aptos Display"/>
              </a:defRPr>
            </a:pPr>
            <a:r>
              <a:t>Edge Caching with CloudFront</a:t>
            </a:r>
          </a:p>
        </p:txBody>
      </p:sp>
      <p:sp>
        <p:nvSpPr>
          <p:cNvPr id="4" name="Rectangle 3">
            <a:extLst>
              <a:ext uri="{FF2B5EF4-FFF2-40B4-BE49-F238E27FC236}">
                <a16:creationId xmlns:a16="http://schemas.microsoft.com/office/drawing/2014/main" id="{9FAECDAF-6234-40C1-9EB3-A07D987DEF5D}"/>
              </a:ext>
            </a:extLst>
          </p:cNvPr>
          <p:cNvSpPr>
            <a:spLocks noGrp="1"/>
          </p:cNvSpPr>
          <p:nvPr/>
        </p:nvSpPr>
        <p:spPr>
          <a:xfrm>
            <a:off x="658368" y="1024128"/>
            <a:ext cx="1051560" cy="54864"/>
          </a:xfrm>
          <a:prstGeom prst="rect">
            <a:avLst/>
          </a:prstGeom>
          <a:solidFill>
            <a:srgbClr val="DE7E4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0B781EEE-C0F2-4C04-8B70-014C5F3AB847}"/>
              </a:ext>
            </a:extLst>
          </p:cNvPr>
          <p:cNvSpPr>
            <a:spLocks noGrp="1"/>
          </p:cNvSpPr>
          <p:nvPr/>
        </p:nvSpPr>
        <p:spPr>
          <a:xfrm>
            <a:off x="11018520" y="320040"/>
            <a:ext cx="530352" cy="384048"/>
          </a:xfrm>
          <a:prstGeom prst="roundRect">
            <a:avLst/>
          </a:prstGeom>
          <a:solidFill>
            <a:srgbClr val="1C343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4478669-461C-4D2B-912A-75E6DCEFF696}"/>
              </a:ext>
            </a:extLst>
          </p:cNvPr>
          <p:cNvSpPr>
            <a:spLocks noGrp="1"/>
          </p:cNvSpPr>
          <p:nvPr/>
        </p:nvSpPr>
        <p:spPr>
          <a:xfrm>
            <a:off x="11018520" y="384048"/>
            <a:ext cx="530352" cy="210312"/>
          </a:xfrm>
          <a:prstGeom prst="rect">
            <a:avLst/>
          </a:prstGeom>
          <a:noFill/>
        </p:spPr>
        <p:txBody>
          <a:bodyPr wrap="square" lIns="0" tIns="0" rIns="0" bIns="0">
            <a:spAutoFit/>
          </a:bodyPr>
          <a:lstStyle/>
          <a:p>
            <a:pPr algn="ctr">
              <a:buNone/>
              <a:defRPr sz="1300" b="1">
                <a:solidFill>
                  <a:srgbClr val="FFFFFF"/>
                </a:solidFill>
                <a:latin typeface="Aptos"/>
                <a:ea typeface="Aptos"/>
                <a:cs typeface="Aptos"/>
              </a:defRPr>
            </a:pPr>
            <a:r>
              <a:t>13</a:t>
            </a:r>
          </a:p>
        </p:txBody>
      </p:sp>
      <p:sp>
        <p:nvSpPr>
          <p:cNvPr id="7" name="TextBox 6">
            <a:extLst>
              <a:ext uri="{FF2B5EF4-FFF2-40B4-BE49-F238E27FC236}">
                <a16:creationId xmlns:a16="http://schemas.microsoft.com/office/drawing/2014/main" id="{28E17211-F7A0-4ABC-8F9B-59E78EAA5D0B}"/>
              </a:ext>
            </a:extLst>
          </p:cNvPr>
          <p:cNvSpPr>
            <a:spLocks noGrp="1"/>
          </p:cNvSpPr>
          <p:nvPr/>
        </p:nvSpPr>
        <p:spPr>
          <a:xfrm>
            <a:off x="685800" y="1298448"/>
            <a:ext cx="6537960" cy="3588675"/>
          </a:xfrm>
          <a:prstGeom prst="rect">
            <a:avLst/>
          </a:prstGeom>
          <a:noFill/>
        </p:spPr>
        <p:txBody>
          <a:bodyPr wrap="square" lIns="18288" tIns="9144" rIns="18288" bIns="9144">
            <a:spAutoFit/>
          </a:bodyPr>
          <a:lstStyle/>
          <a:p>
            <a:pPr marL="285750" indent="-285750">
              <a:spcBef>
                <a:spcPts val="600"/>
              </a:spcBef>
              <a:spcAft>
                <a:spcPts val="600"/>
              </a:spcAft>
              <a:buFont typeface="Arial" panose="020B0604020202020204" pitchFamily="34" charset="0"/>
              <a:buChar char="•"/>
              <a:defRPr sz="1600">
                <a:solidFill>
                  <a:srgbClr val="2C3230"/>
                </a:solidFill>
                <a:latin typeface="Aptos"/>
                <a:ea typeface="Aptos"/>
                <a:cs typeface="Aptos"/>
              </a:defRPr>
            </a:pPr>
            <a:r>
              <a:rPr dirty="0"/>
              <a:t>Another caching approach is edge caching, where content is stored closer to users so it can be delivered more quickly.</a:t>
            </a:r>
          </a:p>
          <a:p>
            <a:pPr marL="285750" indent="-285750">
              <a:spcBef>
                <a:spcPts val="600"/>
              </a:spcBef>
              <a:spcAft>
                <a:spcPts val="600"/>
              </a:spcAft>
              <a:buFont typeface="Arial" panose="020B0604020202020204" pitchFamily="34" charset="0"/>
              <a:buChar char="•"/>
              <a:defRPr sz="1600">
                <a:solidFill>
                  <a:srgbClr val="2C3230"/>
                </a:solidFill>
                <a:latin typeface="Aptos"/>
                <a:ea typeface="Aptos"/>
                <a:cs typeface="Aptos"/>
              </a:defRPr>
            </a:pPr>
            <a:r>
              <a:rPr dirty="0"/>
              <a:t>Amazon CloudFront is commonly used to cache web content at edge locations.</a:t>
            </a:r>
          </a:p>
          <a:p>
            <a:pPr marL="285750" indent="-285750">
              <a:spcBef>
                <a:spcPts val="600"/>
              </a:spcBef>
              <a:spcAft>
                <a:spcPts val="600"/>
              </a:spcAft>
              <a:buFont typeface="Arial" panose="020B0604020202020204" pitchFamily="34" charset="0"/>
              <a:buChar char="•"/>
              <a:defRPr sz="1600">
                <a:solidFill>
                  <a:srgbClr val="2C3230"/>
                </a:solidFill>
                <a:latin typeface="Aptos"/>
                <a:ea typeface="Aptos"/>
                <a:cs typeface="Aptos"/>
              </a:defRPr>
            </a:pPr>
            <a:r>
              <a:rPr dirty="0"/>
              <a:t>Generative AI responses are often dynamic, so they cannot always be cached like a normal static webpage.</a:t>
            </a:r>
          </a:p>
          <a:p>
            <a:pPr marL="285750" indent="-285750">
              <a:spcBef>
                <a:spcPts val="600"/>
              </a:spcBef>
              <a:spcAft>
                <a:spcPts val="600"/>
              </a:spcAft>
              <a:buFont typeface="Arial" panose="020B0604020202020204" pitchFamily="34" charset="0"/>
              <a:buChar char="•"/>
              <a:defRPr sz="1600">
                <a:solidFill>
                  <a:srgbClr val="2C3230"/>
                </a:solidFill>
                <a:latin typeface="Aptos"/>
                <a:ea typeface="Aptos"/>
                <a:cs typeface="Aptos"/>
              </a:defRPr>
            </a:pPr>
            <a:r>
              <a:rPr dirty="0"/>
              <a:t>However, some repeated or deterministic requests can still benefit from edge caching when the application can create a consistent request fingerprint.</a:t>
            </a:r>
          </a:p>
          <a:p>
            <a:pPr marL="285750" indent="-285750">
              <a:spcBef>
                <a:spcPts val="600"/>
              </a:spcBef>
              <a:spcAft>
                <a:spcPts val="600"/>
              </a:spcAft>
              <a:buFont typeface="Arial" panose="020B0604020202020204" pitchFamily="34" charset="0"/>
              <a:buChar char="•"/>
              <a:defRPr sz="1600">
                <a:solidFill>
                  <a:srgbClr val="2C3230"/>
                </a:solidFill>
                <a:latin typeface="Aptos"/>
                <a:ea typeface="Aptos"/>
                <a:cs typeface="Aptos"/>
              </a:defRPr>
            </a:pPr>
            <a:r>
              <a:rPr dirty="0"/>
              <a:t>The rest of the application, such as static files, API responses, or frequently requested supporting content, can also benefit from CloudFront caching even when the model output itself is not cached.</a:t>
            </a:r>
          </a:p>
        </p:txBody>
      </p:sp>
      <p:sp>
        <p:nvSpPr>
          <p:cNvPr id="8" name="TextBox 7">
            <a:extLst>
              <a:ext uri="{FF2B5EF4-FFF2-40B4-BE49-F238E27FC236}">
                <a16:creationId xmlns:a16="http://schemas.microsoft.com/office/drawing/2014/main" id="{5485C73D-B9A6-44C7-A4DE-52286FD21AB4}"/>
              </a:ext>
            </a:extLst>
          </p:cNvPr>
          <p:cNvSpPr>
            <a:spLocks noGrp="1"/>
          </p:cNvSpPr>
          <p:nvPr/>
        </p:nvSpPr>
        <p:spPr>
          <a:xfrm>
            <a:off x="713232" y="5641848"/>
            <a:ext cx="6400800" cy="438912"/>
          </a:xfrm>
          <a:prstGeom prst="rect">
            <a:avLst/>
          </a:prstGeom>
          <a:noFill/>
        </p:spPr>
        <p:txBody>
          <a:bodyPr wrap="square" lIns="0" tIns="0" rIns="0" bIns="0">
            <a:spAutoFit/>
          </a:bodyPr>
          <a:lstStyle/>
          <a:p>
            <a:pPr algn="l">
              <a:buNone/>
              <a:defRPr sz="1520" b="0">
                <a:solidFill>
                  <a:srgbClr val="2C3230"/>
                </a:solidFill>
                <a:latin typeface="Aptos"/>
                <a:ea typeface="Aptos"/>
                <a:cs typeface="Aptos"/>
              </a:defRPr>
            </a:pPr>
            <a:r>
              <a:t>A Time to Live, or TTL, determines how long cached content remains reusable before it should be refreshed.</a:t>
            </a:r>
          </a:p>
        </p:txBody>
      </p:sp>
      <p:sp>
        <p:nvSpPr>
          <p:cNvPr id="9" name="Rounded Rectangle 8">
            <a:extLst>
              <a:ext uri="{FF2B5EF4-FFF2-40B4-BE49-F238E27FC236}">
                <a16:creationId xmlns:a16="http://schemas.microsoft.com/office/drawing/2014/main" id="{7531E85C-5030-45AB-B6FD-4D8501ADE980}"/>
              </a:ext>
            </a:extLst>
          </p:cNvPr>
          <p:cNvSpPr>
            <a:spLocks noGrp="1"/>
          </p:cNvSpPr>
          <p:nvPr/>
        </p:nvSpPr>
        <p:spPr>
          <a:xfrm>
            <a:off x="8229600" y="1600200"/>
            <a:ext cx="1508760" cy="594360"/>
          </a:xfrm>
          <a:prstGeom prst="roundRect">
            <a:avLst/>
          </a:prstGeom>
          <a:solidFill>
            <a:srgbClr val="DCEBE2"/>
          </a:solidFill>
          <a:ln>
            <a:solidFill>
              <a:srgbClr val="32685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19AA9D2B-492A-45AC-9FE5-3A6C40AF76E6}"/>
              </a:ext>
            </a:extLst>
          </p:cNvPr>
          <p:cNvSpPr>
            <a:spLocks noGrp="1"/>
          </p:cNvSpPr>
          <p:nvPr/>
        </p:nvSpPr>
        <p:spPr>
          <a:xfrm>
            <a:off x="8321040" y="1755648"/>
            <a:ext cx="1325880" cy="219456"/>
          </a:xfrm>
          <a:prstGeom prst="rect">
            <a:avLst/>
          </a:prstGeom>
          <a:noFill/>
        </p:spPr>
        <p:txBody>
          <a:bodyPr wrap="square" lIns="0" tIns="0" rIns="0" bIns="0">
            <a:spAutoFit/>
          </a:bodyPr>
          <a:lstStyle/>
          <a:p>
            <a:pPr algn="ctr">
              <a:buNone/>
              <a:defRPr sz="1300" b="1">
                <a:solidFill>
                  <a:srgbClr val="1C3430"/>
                </a:solidFill>
                <a:latin typeface="Aptos"/>
                <a:ea typeface="Aptos"/>
                <a:cs typeface="Aptos"/>
              </a:defRPr>
            </a:pPr>
            <a:r>
              <a:t>User</a:t>
            </a:r>
          </a:p>
        </p:txBody>
      </p:sp>
      <p:sp>
        <p:nvSpPr>
          <p:cNvPr id="11" name="Rounded Rectangle 10">
            <a:extLst>
              <a:ext uri="{FF2B5EF4-FFF2-40B4-BE49-F238E27FC236}">
                <a16:creationId xmlns:a16="http://schemas.microsoft.com/office/drawing/2014/main" id="{FB9F5A92-5FB9-4DF8-B2D6-FF9D26D1AD75}"/>
              </a:ext>
            </a:extLst>
          </p:cNvPr>
          <p:cNvSpPr>
            <a:spLocks noGrp="1"/>
          </p:cNvSpPr>
          <p:nvPr/>
        </p:nvSpPr>
        <p:spPr>
          <a:xfrm>
            <a:off x="9326880" y="2743200"/>
            <a:ext cx="1508760" cy="594360"/>
          </a:xfrm>
          <a:prstGeom prst="roundRect">
            <a:avLst/>
          </a:prstGeom>
          <a:solidFill>
            <a:srgbClr val="E8BA5E"/>
          </a:solidFill>
          <a:ln>
            <a:solidFill>
              <a:srgbClr val="32685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A06AC75-F906-4FDE-A366-7205E8A8F109}"/>
              </a:ext>
            </a:extLst>
          </p:cNvPr>
          <p:cNvSpPr>
            <a:spLocks noGrp="1"/>
          </p:cNvSpPr>
          <p:nvPr/>
        </p:nvSpPr>
        <p:spPr>
          <a:xfrm>
            <a:off x="9418319" y="2898648"/>
            <a:ext cx="1325880" cy="219456"/>
          </a:xfrm>
          <a:prstGeom prst="rect">
            <a:avLst/>
          </a:prstGeom>
          <a:noFill/>
        </p:spPr>
        <p:txBody>
          <a:bodyPr wrap="square" lIns="0" tIns="0" rIns="0" bIns="0">
            <a:spAutoFit/>
          </a:bodyPr>
          <a:lstStyle/>
          <a:p>
            <a:pPr algn="ctr">
              <a:buNone/>
              <a:defRPr sz="1300" b="1">
                <a:solidFill>
                  <a:srgbClr val="1C3430"/>
                </a:solidFill>
                <a:latin typeface="Aptos"/>
                <a:ea typeface="Aptos"/>
                <a:cs typeface="Aptos"/>
              </a:defRPr>
            </a:pPr>
            <a:r>
              <a:t>CloudFront</a:t>
            </a:r>
          </a:p>
        </p:txBody>
      </p:sp>
      <p:sp>
        <p:nvSpPr>
          <p:cNvPr id="13" name="Rounded Rectangle 12">
            <a:extLst>
              <a:ext uri="{FF2B5EF4-FFF2-40B4-BE49-F238E27FC236}">
                <a16:creationId xmlns:a16="http://schemas.microsoft.com/office/drawing/2014/main" id="{D7158B28-A76D-467E-BF42-E76B31452EAD}"/>
              </a:ext>
            </a:extLst>
          </p:cNvPr>
          <p:cNvSpPr>
            <a:spLocks noGrp="1"/>
          </p:cNvSpPr>
          <p:nvPr/>
        </p:nvSpPr>
        <p:spPr>
          <a:xfrm>
            <a:off x="8138160" y="3931920"/>
            <a:ext cx="1508760" cy="594360"/>
          </a:xfrm>
          <a:prstGeom prst="roundRect">
            <a:avLst/>
          </a:prstGeom>
          <a:solidFill>
            <a:srgbClr val="DCEBE2"/>
          </a:solidFill>
          <a:ln>
            <a:solidFill>
              <a:srgbClr val="32685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33279977-BB98-452B-8499-77B3246DE71F}"/>
              </a:ext>
            </a:extLst>
          </p:cNvPr>
          <p:cNvSpPr>
            <a:spLocks noGrp="1"/>
          </p:cNvSpPr>
          <p:nvPr/>
        </p:nvSpPr>
        <p:spPr>
          <a:xfrm>
            <a:off x="8229600" y="4087368"/>
            <a:ext cx="1325880" cy="219456"/>
          </a:xfrm>
          <a:prstGeom prst="rect">
            <a:avLst/>
          </a:prstGeom>
          <a:noFill/>
        </p:spPr>
        <p:txBody>
          <a:bodyPr wrap="square" lIns="0" tIns="0" rIns="0" bIns="0">
            <a:spAutoFit/>
          </a:bodyPr>
          <a:lstStyle/>
          <a:p>
            <a:pPr algn="ctr">
              <a:buNone/>
              <a:defRPr sz="1300" b="1">
                <a:solidFill>
                  <a:srgbClr val="1C3430"/>
                </a:solidFill>
                <a:latin typeface="Aptos"/>
                <a:ea typeface="Aptos"/>
                <a:cs typeface="Aptos"/>
              </a:defRPr>
            </a:pPr>
            <a:r>
              <a:t>App / API</a:t>
            </a:r>
          </a:p>
        </p:txBody>
      </p:sp>
      <p:sp>
        <p:nvSpPr>
          <p:cNvPr id="15" name="Rounded Rectangle 14">
            <a:extLst>
              <a:ext uri="{FF2B5EF4-FFF2-40B4-BE49-F238E27FC236}">
                <a16:creationId xmlns:a16="http://schemas.microsoft.com/office/drawing/2014/main" id="{6AE09E13-2AF3-40AD-A8B1-1F221A4ECDC2}"/>
              </a:ext>
            </a:extLst>
          </p:cNvPr>
          <p:cNvSpPr>
            <a:spLocks noGrp="1"/>
          </p:cNvSpPr>
          <p:nvPr/>
        </p:nvSpPr>
        <p:spPr>
          <a:xfrm>
            <a:off x="10149840" y="3931920"/>
            <a:ext cx="1508760" cy="594360"/>
          </a:xfrm>
          <a:prstGeom prst="roundRect">
            <a:avLst/>
          </a:prstGeom>
          <a:solidFill>
            <a:srgbClr val="EEF1EB"/>
          </a:solidFill>
          <a:ln>
            <a:solidFill>
              <a:srgbClr val="32685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61EA96BB-9680-4C82-A063-9DE797D3D752}"/>
              </a:ext>
            </a:extLst>
          </p:cNvPr>
          <p:cNvSpPr>
            <a:spLocks noGrp="1"/>
          </p:cNvSpPr>
          <p:nvPr/>
        </p:nvSpPr>
        <p:spPr>
          <a:xfrm>
            <a:off x="10241280" y="4087368"/>
            <a:ext cx="1325880" cy="219456"/>
          </a:xfrm>
          <a:prstGeom prst="rect">
            <a:avLst/>
          </a:prstGeom>
          <a:noFill/>
        </p:spPr>
        <p:txBody>
          <a:bodyPr wrap="square" lIns="0" tIns="0" rIns="0" bIns="0">
            <a:spAutoFit/>
          </a:bodyPr>
          <a:lstStyle/>
          <a:p>
            <a:pPr algn="ctr">
              <a:buNone/>
              <a:defRPr sz="1300" b="1">
                <a:solidFill>
                  <a:srgbClr val="1C3430"/>
                </a:solidFill>
                <a:latin typeface="Aptos"/>
                <a:ea typeface="Aptos"/>
                <a:cs typeface="Aptos"/>
              </a:defRPr>
            </a:pPr>
            <a:r>
              <a:t>Model</a:t>
            </a:r>
          </a:p>
        </p:txBody>
      </p:sp>
      <p:sp>
        <p:nvSpPr>
          <p:cNvPr id="17" name="TextBox 16">
            <a:extLst>
              <a:ext uri="{FF2B5EF4-FFF2-40B4-BE49-F238E27FC236}">
                <a16:creationId xmlns:a16="http://schemas.microsoft.com/office/drawing/2014/main" id="{188F426D-045D-4700-BDA1-55B67FB1284C}"/>
              </a:ext>
            </a:extLst>
          </p:cNvPr>
          <p:cNvSpPr>
            <a:spLocks noGrp="1"/>
          </p:cNvSpPr>
          <p:nvPr/>
        </p:nvSpPr>
        <p:spPr>
          <a:xfrm>
            <a:off x="9006840" y="2267712"/>
            <a:ext cx="274320" cy="274320"/>
          </a:xfrm>
          <a:prstGeom prst="rect">
            <a:avLst/>
          </a:prstGeom>
          <a:noFill/>
        </p:spPr>
        <p:txBody>
          <a:bodyPr wrap="square" lIns="0" tIns="0" rIns="0" bIns="0">
            <a:spAutoFit/>
          </a:bodyPr>
          <a:lstStyle/>
          <a:p>
            <a:pPr algn="ctr">
              <a:buNone/>
              <a:defRPr sz="1600" b="1">
                <a:solidFill>
                  <a:srgbClr val="DE7E48"/>
                </a:solidFill>
                <a:latin typeface="Aptos"/>
                <a:ea typeface="Aptos"/>
                <a:cs typeface="Aptos"/>
              </a:defRPr>
            </a:pPr>
            <a:r>
              <a:t>↓</a:t>
            </a:r>
          </a:p>
        </p:txBody>
      </p:sp>
      <p:sp>
        <p:nvSpPr>
          <p:cNvPr id="18" name="TextBox 17">
            <a:extLst>
              <a:ext uri="{FF2B5EF4-FFF2-40B4-BE49-F238E27FC236}">
                <a16:creationId xmlns:a16="http://schemas.microsoft.com/office/drawing/2014/main" id="{DBE001BB-A538-48EA-910F-E271FA565A1E}"/>
              </a:ext>
            </a:extLst>
          </p:cNvPr>
          <p:cNvSpPr>
            <a:spLocks noGrp="1"/>
          </p:cNvSpPr>
          <p:nvPr/>
        </p:nvSpPr>
        <p:spPr>
          <a:xfrm>
            <a:off x="8686800" y="3383280"/>
            <a:ext cx="2194560" cy="274320"/>
          </a:xfrm>
          <a:prstGeom prst="rect">
            <a:avLst/>
          </a:prstGeom>
          <a:noFill/>
        </p:spPr>
        <p:txBody>
          <a:bodyPr wrap="square" lIns="0" tIns="0" rIns="0" bIns="0">
            <a:spAutoFit/>
          </a:bodyPr>
          <a:lstStyle/>
          <a:p>
            <a:pPr algn="ctr">
              <a:buNone/>
              <a:defRPr sz="1600" b="1">
                <a:solidFill>
                  <a:srgbClr val="DE7E48"/>
                </a:solidFill>
                <a:latin typeface="Aptos"/>
                <a:ea typeface="Aptos"/>
                <a:cs typeface="Aptos"/>
              </a:defRPr>
            </a:pPr>
            <a:r>
              <a:t>↙          ↘</a:t>
            </a:r>
          </a:p>
        </p:txBody>
      </p:sp>
      <p:sp>
        <p:nvSpPr>
          <p:cNvPr id="19" name="TextBox 18">
            <a:extLst>
              <a:ext uri="{FF2B5EF4-FFF2-40B4-BE49-F238E27FC236}">
                <a16:creationId xmlns:a16="http://schemas.microsoft.com/office/drawing/2014/main" id="{CCBD9388-598F-46DF-9316-87AB09B9ED52}"/>
              </a:ext>
            </a:extLst>
          </p:cNvPr>
          <p:cNvSpPr>
            <a:spLocks noGrp="1"/>
          </p:cNvSpPr>
          <p:nvPr/>
        </p:nvSpPr>
        <p:spPr>
          <a:xfrm>
            <a:off x="7818120" y="5102352"/>
            <a:ext cx="3429000" cy="749808"/>
          </a:xfrm>
          <a:prstGeom prst="rect">
            <a:avLst/>
          </a:prstGeom>
          <a:noFill/>
        </p:spPr>
        <p:txBody>
          <a:bodyPr wrap="square" lIns="0" tIns="0" rIns="0" bIns="0">
            <a:spAutoFit/>
          </a:bodyPr>
          <a:lstStyle/>
          <a:p>
            <a:pPr algn="ctr">
              <a:buNone/>
              <a:defRPr sz="1420" b="1">
                <a:solidFill>
                  <a:srgbClr val="32685D"/>
                </a:solidFill>
                <a:latin typeface="Aptos"/>
                <a:ea typeface="Aptos"/>
                <a:cs typeface="Aptos"/>
              </a:defRPr>
            </a:pPr>
            <a:r>
              <a:t>Main Idea: Cache content only when it stays valid long enough to be safely reused.</a:t>
            </a:r>
          </a:p>
        </p:txBody>
      </p:sp>
    </p:spTree>
    <p:extLst>
      <p:ext uri="{BB962C8B-B14F-4D97-AF65-F5344CB8AC3E}">
        <p14:creationId xmlns:p14="http://schemas.microsoft.com/office/powerpoint/2010/main" val="1886581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540928-3140-4CA8-AC61-660FAE2B815E}"/>
              </a:ext>
            </a:extLst>
          </p:cNvPr>
          <p:cNvSpPr>
            <a:spLocks noGrp="1"/>
          </p:cNvSpPr>
          <p:nvPr/>
        </p:nvSpPr>
        <p:spPr>
          <a:xfrm>
            <a:off x="0" y="0"/>
            <a:ext cx="12191695" cy="6858000"/>
          </a:xfrm>
          <a:prstGeom prst="rect">
            <a:avLst/>
          </a:prstGeom>
          <a:solidFill>
            <a:srgbClr val="F8F6E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FC8DDAE8-966D-4344-9CDF-5857B0553E30}"/>
              </a:ext>
            </a:extLst>
          </p:cNvPr>
          <p:cNvSpPr>
            <a:spLocks noGrp="1"/>
          </p:cNvSpPr>
          <p:nvPr/>
        </p:nvSpPr>
        <p:spPr>
          <a:xfrm>
            <a:off x="640080" y="411480"/>
            <a:ext cx="10149840" cy="566928"/>
          </a:xfrm>
          <a:prstGeom prst="rect">
            <a:avLst/>
          </a:prstGeom>
          <a:noFill/>
        </p:spPr>
        <p:txBody>
          <a:bodyPr wrap="square" lIns="0" tIns="0" rIns="0" bIns="0">
            <a:spAutoFit/>
          </a:bodyPr>
          <a:lstStyle/>
          <a:p>
            <a:pPr algn="l">
              <a:buNone/>
              <a:defRPr sz="2500" b="1">
                <a:solidFill>
                  <a:srgbClr val="1C3430"/>
                </a:solidFill>
                <a:latin typeface="Aptos Display"/>
                <a:ea typeface="Aptos Display"/>
                <a:cs typeface="Aptos Display"/>
              </a:defRPr>
            </a:pPr>
            <a:r>
              <a:t>Key Takeaways &amp; Thank You</a:t>
            </a:r>
          </a:p>
        </p:txBody>
      </p:sp>
      <p:sp>
        <p:nvSpPr>
          <p:cNvPr id="4" name="Rectangle 3">
            <a:extLst>
              <a:ext uri="{FF2B5EF4-FFF2-40B4-BE49-F238E27FC236}">
                <a16:creationId xmlns:a16="http://schemas.microsoft.com/office/drawing/2014/main" id="{96193D78-0EEB-43DD-AF86-8166B77A3CDC}"/>
              </a:ext>
            </a:extLst>
          </p:cNvPr>
          <p:cNvSpPr>
            <a:spLocks noGrp="1"/>
          </p:cNvSpPr>
          <p:nvPr/>
        </p:nvSpPr>
        <p:spPr>
          <a:xfrm>
            <a:off x="658368" y="1024128"/>
            <a:ext cx="1051560" cy="54864"/>
          </a:xfrm>
          <a:prstGeom prst="rect">
            <a:avLst/>
          </a:prstGeom>
          <a:solidFill>
            <a:srgbClr val="DE7E4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0D7ED7C8-FD6E-4CC5-8A6F-1E118626DB90}"/>
              </a:ext>
            </a:extLst>
          </p:cNvPr>
          <p:cNvSpPr>
            <a:spLocks noGrp="1"/>
          </p:cNvSpPr>
          <p:nvPr/>
        </p:nvSpPr>
        <p:spPr>
          <a:xfrm>
            <a:off x="11018520" y="320040"/>
            <a:ext cx="530352" cy="384048"/>
          </a:xfrm>
          <a:prstGeom prst="roundRect">
            <a:avLst/>
          </a:prstGeom>
          <a:solidFill>
            <a:srgbClr val="1C343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A4192065-8310-4747-B67F-C62C2E7B8E7B}"/>
              </a:ext>
            </a:extLst>
          </p:cNvPr>
          <p:cNvSpPr>
            <a:spLocks noGrp="1"/>
          </p:cNvSpPr>
          <p:nvPr/>
        </p:nvSpPr>
        <p:spPr>
          <a:xfrm>
            <a:off x="11018520" y="384048"/>
            <a:ext cx="530352" cy="210312"/>
          </a:xfrm>
          <a:prstGeom prst="rect">
            <a:avLst/>
          </a:prstGeom>
          <a:noFill/>
        </p:spPr>
        <p:txBody>
          <a:bodyPr wrap="square" lIns="0" tIns="0" rIns="0" bIns="0">
            <a:spAutoFit/>
          </a:bodyPr>
          <a:lstStyle/>
          <a:p>
            <a:pPr algn="ctr">
              <a:buNone/>
              <a:defRPr sz="1300" b="1">
                <a:solidFill>
                  <a:srgbClr val="FFFFFF"/>
                </a:solidFill>
                <a:latin typeface="Aptos"/>
                <a:ea typeface="Aptos"/>
                <a:cs typeface="Aptos"/>
              </a:defRPr>
            </a:pPr>
            <a:r>
              <a:t>14</a:t>
            </a:r>
          </a:p>
        </p:txBody>
      </p:sp>
      <p:sp>
        <p:nvSpPr>
          <p:cNvPr id="7" name="Rounded Rectangle 6">
            <a:extLst>
              <a:ext uri="{FF2B5EF4-FFF2-40B4-BE49-F238E27FC236}">
                <a16:creationId xmlns:a16="http://schemas.microsoft.com/office/drawing/2014/main" id="{886A1EFA-2E37-45FE-8E61-3BE1661FAE73}"/>
              </a:ext>
            </a:extLst>
          </p:cNvPr>
          <p:cNvSpPr>
            <a:spLocks noGrp="1"/>
          </p:cNvSpPr>
          <p:nvPr/>
        </p:nvSpPr>
        <p:spPr>
          <a:xfrm>
            <a:off x="414067" y="1178943"/>
            <a:ext cx="6882845" cy="5526657"/>
          </a:xfrm>
          <a:prstGeom prst="roundRect">
            <a:avLst/>
          </a:prstGeom>
          <a:solidFill>
            <a:srgbClr val="FFFFFF"/>
          </a:solidFill>
          <a:ln>
            <a:solidFill>
              <a:srgbClr val="32685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FA7F37A5-FDCF-4A01-88D5-6A7C0B712E4C}"/>
              </a:ext>
            </a:extLst>
          </p:cNvPr>
          <p:cNvSpPr>
            <a:spLocks noGrp="1"/>
          </p:cNvSpPr>
          <p:nvPr/>
        </p:nvSpPr>
        <p:spPr>
          <a:xfrm>
            <a:off x="896112" y="1441645"/>
            <a:ext cx="2194560" cy="320040"/>
          </a:xfrm>
          <a:prstGeom prst="rect">
            <a:avLst/>
          </a:prstGeom>
          <a:noFill/>
        </p:spPr>
        <p:txBody>
          <a:bodyPr wrap="square" lIns="0" tIns="0" rIns="0" bIns="0">
            <a:spAutoFit/>
          </a:bodyPr>
          <a:lstStyle/>
          <a:p>
            <a:pPr algn="l">
              <a:buNone/>
              <a:defRPr sz="2000" b="1">
                <a:solidFill>
                  <a:srgbClr val="1C3430"/>
                </a:solidFill>
                <a:latin typeface="Aptos"/>
                <a:ea typeface="Aptos"/>
                <a:cs typeface="Aptos"/>
              </a:defRPr>
            </a:pPr>
            <a:r>
              <a:rPr dirty="0"/>
              <a:t>Key Takeaways</a:t>
            </a:r>
          </a:p>
        </p:txBody>
      </p:sp>
      <p:sp>
        <p:nvSpPr>
          <p:cNvPr id="9" name="TextBox 8">
            <a:extLst>
              <a:ext uri="{FF2B5EF4-FFF2-40B4-BE49-F238E27FC236}">
                <a16:creationId xmlns:a16="http://schemas.microsoft.com/office/drawing/2014/main" id="{480A998D-A7D1-4A4D-AC05-D396D6E5F5CE}"/>
              </a:ext>
            </a:extLst>
          </p:cNvPr>
          <p:cNvSpPr>
            <a:spLocks noGrp="1"/>
          </p:cNvSpPr>
          <p:nvPr/>
        </p:nvSpPr>
        <p:spPr>
          <a:xfrm>
            <a:off x="851140" y="1856230"/>
            <a:ext cx="6034292" cy="4515082"/>
          </a:xfrm>
          <a:prstGeom prst="rect">
            <a:avLst/>
          </a:prstGeom>
          <a:noFill/>
        </p:spPr>
        <p:txBody>
          <a:bodyPr wrap="square" lIns="18288" tIns="9144" rIns="18288" bIns="9144">
            <a:spAutoFit/>
          </a:bodyPr>
          <a:lstStyle/>
          <a:p>
            <a:pPr marL="285750" indent="-285750">
              <a:spcBef>
                <a:spcPts val="200"/>
              </a:spcBef>
              <a:spcAft>
                <a:spcPts val="600"/>
              </a:spcAft>
              <a:buFont typeface="Arial" panose="020B0604020202020204" pitchFamily="34" charset="0"/>
              <a:buChar char="•"/>
              <a:defRPr sz="1290">
                <a:solidFill>
                  <a:srgbClr val="2C3230"/>
                </a:solidFill>
                <a:latin typeface="Aptos"/>
                <a:ea typeface="Aptos"/>
                <a:cs typeface="Aptos"/>
              </a:defRPr>
            </a:pPr>
            <a:r>
              <a:rPr dirty="0"/>
              <a:t>Resource utilization helps determine whether available capacity matches the application workload.</a:t>
            </a:r>
          </a:p>
          <a:p>
            <a:pPr marL="285750" indent="-285750">
              <a:spcBef>
                <a:spcPts val="200"/>
              </a:spcBef>
              <a:spcAft>
                <a:spcPts val="600"/>
              </a:spcAft>
              <a:buFont typeface="Arial" panose="020B0604020202020204" pitchFamily="34" charset="0"/>
              <a:buChar char="•"/>
              <a:defRPr sz="1290">
                <a:solidFill>
                  <a:srgbClr val="2C3230"/>
                </a:solidFill>
                <a:latin typeface="Aptos"/>
                <a:ea typeface="Aptos"/>
                <a:cs typeface="Aptos"/>
              </a:defRPr>
            </a:pPr>
            <a:r>
              <a:rPr dirty="0"/>
              <a:t>Throughput depends on both the number of requests and the number of tokens being processed.</a:t>
            </a:r>
          </a:p>
          <a:p>
            <a:pPr marL="285750" indent="-285750">
              <a:spcBef>
                <a:spcPts val="200"/>
              </a:spcBef>
              <a:spcAft>
                <a:spcPts val="600"/>
              </a:spcAft>
              <a:buFont typeface="Arial" panose="020B0604020202020204" pitchFamily="34" charset="0"/>
              <a:buChar char="•"/>
              <a:defRPr sz="1290">
                <a:solidFill>
                  <a:srgbClr val="2C3230"/>
                </a:solidFill>
                <a:latin typeface="Aptos"/>
                <a:ea typeface="Aptos"/>
                <a:cs typeface="Aptos"/>
              </a:defRPr>
            </a:pPr>
            <a:r>
              <a:rPr dirty="0"/>
              <a:t>AWS Service Quotas help define the capacity limits that an application needs to consider.</a:t>
            </a:r>
          </a:p>
          <a:p>
            <a:pPr marL="285750" indent="-285750">
              <a:spcBef>
                <a:spcPts val="200"/>
              </a:spcBef>
              <a:spcAft>
                <a:spcPts val="600"/>
              </a:spcAft>
              <a:buFont typeface="Arial" panose="020B0604020202020204" pitchFamily="34" charset="0"/>
              <a:buChar char="•"/>
              <a:defRPr sz="1290">
                <a:solidFill>
                  <a:srgbClr val="2C3230"/>
                </a:solidFill>
                <a:latin typeface="Aptos"/>
                <a:ea typeface="Aptos"/>
                <a:cs typeface="Aptos"/>
              </a:defRPr>
            </a:pPr>
            <a:r>
              <a:rPr dirty="0"/>
              <a:t>Batch processing is useful when large workloads do not require immediate responses.</a:t>
            </a:r>
          </a:p>
          <a:p>
            <a:pPr marL="285750" indent="-285750">
              <a:spcBef>
                <a:spcPts val="200"/>
              </a:spcBef>
              <a:spcAft>
                <a:spcPts val="600"/>
              </a:spcAft>
              <a:buFont typeface="Arial" panose="020B0604020202020204" pitchFamily="34" charset="0"/>
              <a:buChar char="•"/>
              <a:defRPr sz="1290">
                <a:solidFill>
                  <a:srgbClr val="2C3230"/>
                </a:solidFill>
                <a:latin typeface="Aptos"/>
                <a:ea typeface="Aptos"/>
                <a:cs typeface="Aptos"/>
              </a:defRPr>
            </a:pPr>
            <a:r>
              <a:rPr dirty="0"/>
              <a:t>Amazon Bedrock Batch Inference can process many offline requests as a batch job.</a:t>
            </a:r>
          </a:p>
          <a:p>
            <a:pPr marL="285750" indent="-285750">
              <a:spcBef>
                <a:spcPts val="200"/>
              </a:spcBef>
              <a:spcAft>
                <a:spcPts val="600"/>
              </a:spcAft>
              <a:buFont typeface="Arial" panose="020B0604020202020204" pitchFamily="34" charset="0"/>
              <a:buChar char="•"/>
              <a:defRPr sz="1290">
                <a:solidFill>
                  <a:srgbClr val="2C3230"/>
                </a:solidFill>
                <a:latin typeface="Aptos"/>
                <a:ea typeface="Aptos"/>
                <a:cs typeface="Aptos"/>
              </a:defRPr>
            </a:pPr>
            <a:r>
              <a:rPr dirty="0"/>
              <a:t>On-demand capacity works well for flexible traffic, while Provisioned Throughput can support more predictable high-volume workloads.</a:t>
            </a:r>
          </a:p>
          <a:p>
            <a:pPr marL="285750" indent="-285750">
              <a:spcBef>
                <a:spcPts val="200"/>
              </a:spcBef>
              <a:spcAft>
                <a:spcPts val="600"/>
              </a:spcAft>
              <a:buFont typeface="Arial" panose="020B0604020202020204" pitchFamily="34" charset="0"/>
              <a:buChar char="•"/>
              <a:defRPr sz="1290">
                <a:solidFill>
                  <a:srgbClr val="2C3230"/>
                </a:solidFill>
                <a:latin typeface="Aptos"/>
                <a:ea typeface="Aptos"/>
                <a:cs typeface="Aptos"/>
              </a:defRPr>
            </a:pPr>
            <a:r>
              <a:rPr dirty="0"/>
              <a:t>CloudWatch and cost information help developers compare expected usage with actual resource consumption.</a:t>
            </a:r>
          </a:p>
          <a:p>
            <a:pPr marL="285750" indent="-285750">
              <a:spcBef>
                <a:spcPts val="200"/>
              </a:spcBef>
              <a:spcAft>
                <a:spcPts val="600"/>
              </a:spcAft>
              <a:buFont typeface="Arial" panose="020B0604020202020204" pitchFamily="34" charset="0"/>
              <a:buChar char="•"/>
              <a:defRPr sz="1290">
                <a:solidFill>
                  <a:srgbClr val="2C3230"/>
                </a:solidFill>
                <a:latin typeface="Aptos"/>
                <a:ea typeface="Aptos"/>
                <a:cs typeface="Aptos"/>
              </a:defRPr>
            </a:pPr>
            <a:r>
              <a:rPr dirty="0"/>
              <a:t>Caching can reduce repeated model calls when previous results are still useful.</a:t>
            </a:r>
          </a:p>
          <a:p>
            <a:pPr marL="285750" indent="-285750">
              <a:spcBef>
                <a:spcPts val="200"/>
              </a:spcBef>
              <a:spcAft>
                <a:spcPts val="600"/>
              </a:spcAft>
              <a:buFont typeface="Arial" panose="020B0604020202020204" pitchFamily="34" charset="0"/>
              <a:buChar char="•"/>
              <a:defRPr sz="1290">
                <a:solidFill>
                  <a:srgbClr val="2C3230"/>
                </a:solidFill>
                <a:latin typeface="Aptos"/>
                <a:ea typeface="Aptos"/>
                <a:cs typeface="Aptos"/>
              </a:defRPr>
            </a:pPr>
            <a:r>
              <a:rPr dirty="0"/>
              <a:t>Semantic caching compares the meaning of prompts using embeddings.</a:t>
            </a:r>
          </a:p>
          <a:p>
            <a:pPr marL="285750" indent="-285750">
              <a:spcBef>
                <a:spcPts val="200"/>
              </a:spcBef>
              <a:spcAft>
                <a:spcPts val="600"/>
              </a:spcAft>
              <a:buFont typeface="Arial" panose="020B0604020202020204" pitchFamily="34" charset="0"/>
              <a:buChar char="•"/>
              <a:defRPr sz="1290">
                <a:solidFill>
                  <a:srgbClr val="2C3230"/>
                </a:solidFill>
                <a:latin typeface="Aptos"/>
                <a:ea typeface="Aptos"/>
                <a:cs typeface="Aptos"/>
              </a:defRPr>
            </a:pPr>
            <a:r>
              <a:rPr dirty="0"/>
              <a:t>Edge caching with CloudFront can improve delivery for reusable content and suitable repeated requests.</a:t>
            </a:r>
          </a:p>
        </p:txBody>
      </p:sp>
      <p:sp>
        <p:nvSpPr>
          <p:cNvPr id="10" name="Rounded Rectangle 9">
            <a:extLst>
              <a:ext uri="{FF2B5EF4-FFF2-40B4-BE49-F238E27FC236}">
                <a16:creationId xmlns:a16="http://schemas.microsoft.com/office/drawing/2014/main" id="{40BC8E5E-2248-4A1B-B3DC-9EE12645B368}"/>
              </a:ext>
            </a:extLst>
          </p:cNvPr>
          <p:cNvSpPr>
            <a:spLocks noGrp="1"/>
          </p:cNvSpPr>
          <p:nvPr/>
        </p:nvSpPr>
        <p:spPr>
          <a:xfrm>
            <a:off x="7498078" y="1280160"/>
            <a:ext cx="4050793" cy="5193792"/>
          </a:xfrm>
          <a:prstGeom prst="roundRect">
            <a:avLst/>
          </a:prstGeom>
          <a:solidFill>
            <a:srgbClr val="1C343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475339E-BC04-4D3A-9098-CC1E761D5AD1}"/>
              </a:ext>
            </a:extLst>
          </p:cNvPr>
          <p:cNvSpPr>
            <a:spLocks noGrp="1"/>
          </p:cNvSpPr>
          <p:nvPr/>
        </p:nvSpPr>
        <p:spPr>
          <a:xfrm>
            <a:off x="7818120" y="1572768"/>
            <a:ext cx="1920240" cy="292608"/>
          </a:xfrm>
          <a:prstGeom prst="rect">
            <a:avLst/>
          </a:prstGeom>
          <a:noFill/>
        </p:spPr>
        <p:txBody>
          <a:bodyPr wrap="square" lIns="0" tIns="0" rIns="0" bIns="0">
            <a:spAutoFit/>
          </a:bodyPr>
          <a:lstStyle/>
          <a:p>
            <a:pPr algn="l">
              <a:buNone/>
              <a:defRPr sz="1800" b="1">
                <a:solidFill>
                  <a:srgbClr val="E8BA5E"/>
                </a:solidFill>
                <a:latin typeface="Aptos"/>
                <a:ea typeface="Aptos"/>
                <a:cs typeface="Aptos"/>
              </a:defRPr>
            </a:pPr>
            <a:r>
              <a:t>Main Lesson</a:t>
            </a:r>
          </a:p>
        </p:txBody>
      </p:sp>
      <p:sp>
        <p:nvSpPr>
          <p:cNvPr id="12" name="TextBox 11">
            <a:extLst>
              <a:ext uri="{FF2B5EF4-FFF2-40B4-BE49-F238E27FC236}">
                <a16:creationId xmlns:a16="http://schemas.microsoft.com/office/drawing/2014/main" id="{B9305DEE-5EC7-41EF-8666-A2F6B0A58960}"/>
              </a:ext>
            </a:extLst>
          </p:cNvPr>
          <p:cNvSpPr>
            <a:spLocks noGrp="1"/>
          </p:cNvSpPr>
          <p:nvPr/>
        </p:nvSpPr>
        <p:spPr>
          <a:xfrm>
            <a:off x="7818120" y="1901952"/>
            <a:ext cx="3401568" cy="1188720"/>
          </a:xfrm>
          <a:prstGeom prst="rect">
            <a:avLst/>
          </a:prstGeom>
          <a:noFill/>
        </p:spPr>
        <p:txBody>
          <a:bodyPr wrap="square" lIns="0" tIns="0" rIns="0" bIns="0">
            <a:spAutoFit/>
          </a:bodyPr>
          <a:lstStyle/>
          <a:p>
            <a:pPr algn="l">
              <a:buNone/>
              <a:defRPr sz="1380" b="0">
                <a:solidFill>
                  <a:srgbClr val="FFFFFF"/>
                </a:solidFill>
                <a:latin typeface="Aptos"/>
                <a:ea typeface="Aptos"/>
                <a:cs typeface="Aptos"/>
              </a:defRPr>
            </a:pPr>
            <a:r>
              <a:t>Efficient Generative AI systems do not process every workload in the same way. The best design chooses the right capacity, processing method, and caching strategy based on how the application is actually used.</a:t>
            </a:r>
          </a:p>
        </p:txBody>
      </p:sp>
      <p:sp>
        <p:nvSpPr>
          <p:cNvPr id="13" name="TextBox 12">
            <a:extLst>
              <a:ext uri="{FF2B5EF4-FFF2-40B4-BE49-F238E27FC236}">
                <a16:creationId xmlns:a16="http://schemas.microsoft.com/office/drawing/2014/main" id="{93668D17-4B70-4623-9D48-6F71976A4FE5}"/>
              </a:ext>
            </a:extLst>
          </p:cNvPr>
          <p:cNvSpPr>
            <a:spLocks noGrp="1"/>
          </p:cNvSpPr>
          <p:nvPr/>
        </p:nvSpPr>
        <p:spPr>
          <a:xfrm>
            <a:off x="7818120" y="3511989"/>
            <a:ext cx="1828800" cy="320040"/>
          </a:xfrm>
          <a:prstGeom prst="rect">
            <a:avLst/>
          </a:prstGeom>
          <a:noFill/>
        </p:spPr>
        <p:txBody>
          <a:bodyPr wrap="square" lIns="0" tIns="0" rIns="0" bIns="0">
            <a:spAutoFit/>
          </a:bodyPr>
          <a:lstStyle/>
          <a:p>
            <a:pPr algn="l">
              <a:buNone/>
              <a:defRPr sz="1800" b="1">
                <a:solidFill>
                  <a:srgbClr val="E8BA5E"/>
                </a:solidFill>
                <a:latin typeface="Aptos"/>
                <a:ea typeface="Aptos"/>
                <a:cs typeface="Aptos"/>
              </a:defRPr>
            </a:pPr>
            <a:r>
              <a:rPr dirty="0"/>
              <a:t>Thank You</a:t>
            </a:r>
          </a:p>
        </p:txBody>
      </p:sp>
      <p:sp>
        <p:nvSpPr>
          <p:cNvPr id="14" name="TextBox 13">
            <a:extLst>
              <a:ext uri="{FF2B5EF4-FFF2-40B4-BE49-F238E27FC236}">
                <a16:creationId xmlns:a16="http://schemas.microsoft.com/office/drawing/2014/main" id="{2BBF8FA7-EFBD-4106-A164-E6ED6B285C04}"/>
              </a:ext>
            </a:extLst>
          </p:cNvPr>
          <p:cNvSpPr>
            <a:spLocks noGrp="1"/>
          </p:cNvSpPr>
          <p:nvPr/>
        </p:nvSpPr>
        <p:spPr>
          <a:xfrm>
            <a:off x="7818120" y="3932613"/>
            <a:ext cx="3108960" cy="256032"/>
          </a:xfrm>
          <a:prstGeom prst="rect">
            <a:avLst/>
          </a:prstGeom>
          <a:noFill/>
        </p:spPr>
        <p:txBody>
          <a:bodyPr wrap="square" lIns="0" tIns="0" rIns="0" bIns="0">
            <a:spAutoFit/>
          </a:bodyPr>
          <a:lstStyle/>
          <a:p>
            <a:pPr algn="l">
              <a:buNone/>
              <a:defRPr sz="1300" b="1">
                <a:solidFill>
                  <a:srgbClr val="FFFFFF"/>
                </a:solidFill>
                <a:latin typeface="Aptos"/>
                <a:ea typeface="Aptos"/>
                <a:cs typeface="Aptos"/>
              </a:defRPr>
            </a:pPr>
            <a:r>
              <a:rPr dirty="0"/>
              <a:t>Presented by: Akash Patel</a:t>
            </a:r>
          </a:p>
        </p:txBody>
      </p:sp>
      <p:sp>
        <p:nvSpPr>
          <p:cNvPr id="15" name="TextBox 14">
            <a:extLst>
              <a:ext uri="{FF2B5EF4-FFF2-40B4-BE49-F238E27FC236}">
                <a16:creationId xmlns:a16="http://schemas.microsoft.com/office/drawing/2014/main" id="{A33C6F85-56E4-47B0-8DB9-F739A0E91C32}"/>
              </a:ext>
            </a:extLst>
          </p:cNvPr>
          <p:cNvSpPr>
            <a:spLocks noGrp="1"/>
          </p:cNvSpPr>
          <p:nvPr/>
        </p:nvSpPr>
        <p:spPr>
          <a:xfrm>
            <a:off x="7818120" y="4261797"/>
            <a:ext cx="3108960" cy="256032"/>
          </a:xfrm>
          <a:prstGeom prst="rect">
            <a:avLst/>
          </a:prstGeom>
          <a:noFill/>
        </p:spPr>
        <p:txBody>
          <a:bodyPr wrap="square" lIns="0" tIns="0" rIns="0" bIns="0">
            <a:spAutoFit/>
          </a:bodyPr>
          <a:lstStyle/>
          <a:p>
            <a:pPr algn="l">
              <a:buNone/>
              <a:defRPr sz="1300" b="0">
                <a:solidFill>
                  <a:srgbClr val="FFFFFF"/>
                </a:solidFill>
                <a:latin typeface="Aptos"/>
                <a:ea typeface="Aptos"/>
                <a:cs typeface="Aptos"/>
              </a:defRPr>
            </a:pPr>
            <a:r>
              <a:rPr dirty="0"/>
              <a:t>Concordia University Chicago</a:t>
            </a:r>
          </a:p>
        </p:txBody>
      </p:sp>
      <p:sp>
        <p:nvSpPr>
          <p:cNvPr id="16" name="TextBox 15">
            <a:extLst>
              <a:ext uri="{FF2B5EF4-FFF2-40B4-BE49-F238E27FC236}">
                <a16:creationId xmlns:a16="http://schemas.microsoft.com/office/drawing/2014/main" id="{920A25D0-A571-4E01-95AB-8B2417E266BA}"/>
              </a:ext>
            </a:extLst>
          </p:cNvPr>
          <p:cNvSpPr>
            <a:spLocks noGrp="1"/>
          </p:cNvSpPr>
          <p:nvPr/>
        </p:nvSpPr>
        <p:spPr>
          <a:xfrm>
            <a:off x="7818120" y="4794964"/>
            <a:ext cx="3273552" cy="1217256"/>
          </a:xfrm>
          <a:prstGeom prst="rect">
            <a:avLst/>
          </a:prstGeom>
          <a:noFill/>
        </p:spPr>
        <p:txBody>
          <a:bodyPr wrap="square" lIns="0" tIns="0" rIns="0" bIns="0">
            <a:spAutoFit/>
          </a:bodyPr>
          <a:lstStyle/>
          <a:p>
            <a:pPr>
              <a:buNone/>
              <a:defRPr sz="1130" b="0">
                <a:solidFill>
                  <a:srgbClr val="DCEBE2"/>
                </a:solidFill>
                <a:latin typeface="Aptos"/>
                <a:ea typeface="Aptos"/>
                <a:cs typeface="Aptos"/>
              </a:defRPr>
            </a:pPr>
            <a:r>
              <a:rPr dirty="0"/>
              <a:t>Special thanks to Professor Dr. Victor </a:t>
            </a:r>
            <a:r>
              <a:rPr dirty="0" err="1"/>
              <a:t>Govindaswamy</a:t>
            </a:r>
            <a:r>
              <a:rPr dirty="0"/>
              <a:t> for his continued guidance and support throughout my AWS Generative AI learning journey. This topic helped me understand how resource planning, throughput, batch processing, and caching can make Generative AI applications more practical and efficient as usage grows.</a:t>
            </a:r>
          </a:p>
        </p:txBody>
      </p:sp>
    </p:spTree>
    <p:extLst>
      <p:ext uri="{BB962C8B-B14F-4D97-AF65-F5344CB8AC3E}">
        <p14:creationId xmlns:p14="http://schemas.microsoft.com/office/powerpoint/2010/main" val="5136934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1981</Words>
  <Application>Microsoft Office PowerPoint</Application>
  <DocSecurity>0</DocSecurity>
  <PresentationFormat>Widescreen</PresentationFormat>
  <Paragraphs>165</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Akash Patel</cp:lastModifiedBy>
  <cp:revision>2</cp:revision>
  <dcterms:created xsi:type="dcterms:W3CDTF">2026-10-27T03:49:23Z</dcterms:created>
  <dcterms:modified xsi:type="dcterms:W3CDTF">2026-10-27T19:18:47Z</dcterms:modified>
</cp:coreProperties>
</file>