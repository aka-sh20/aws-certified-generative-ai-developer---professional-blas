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FA71D9C-058A-4551-B3CA-65ECC7678CCD}"/>
              </a:ext>
            </a:extLst>
          </p:cNvPr>
          <p:cNvSpPr>
            <a:spLocks noGrp="1"/>
          </p:cNvSpPr>
          <p:nvPr/>
        </p:nvSpPr>
        <p:spPr>
          <a:xfrm>
            <a:off x="0" y="0"/>
            <a:ext cx="12191695" cy="109728"/>
          </a:xfrm>
          <a:prstGeom prst="rect">
            <a:avLst/>
          </a:prstGeom>
          <a:solidFill>
            <a:srgbClr val="FF9900"/>
          </a:solidFill>
          <a:ln w="12700">
            <a:solidFill>
              <a:srgbClr val="FF9900"/>
            </a:solidFill>
            <a:prstDash val="solid"/>
          </a:ln>
        </p:spPr>
      </p:sp>
      <p:sp>
        <p:nvSpPr>
          <p:cNvPr id="3" name="Text 1">
            <a:extLst>
              <a:ext uri="{FF2B5EF4-FFF2-40B4-BE49-F238E27FC236}">
                <a16:creationId xmlns:a16="http://schemas.microsoft.com/office/drawing/2014/main" id="{394924B1-D872-46F2-94A6-AED439990626}"/>
              </a:ext>
            </a:extLst>
          </p:cNvPr>
          <p:cNvSpPr>
            <a:spLocks noGrp="1"/>
          </p:cNvSpPr>
          <p:nvPr/>
        </p:nvSpPr>
        <p:spPr>
          <a:xfrm>
            <a:off x="502920" y="6565392"/>
            <a:ext cx="4206240" cy="182880"/>
          </a:xfrm>
          <a:prstGeom prst="rect">
            <a:avLst/>
          </a:prstGeom>
          <a:noFill/>
        </p:spPr>
        <p:txBody>
          <a:bodyPr wrap="square" lIns="0" tIns="0" rIns="0" bIns="0" anchor="ctr"/>
          <a:lstStyle/>
          <a:p>
            <a:pPr marL="0" indent="0">
              <a:buNone/>
            </a:pPr>
            <a:r>
              <a:rPr sz="900">
                <a:solidFill>
                  <a:srgbClr val="6B7280"/>
                </a:solidFill>
                <a:latin typeface="Aptos"/>
                <a:ea typeface="Aptos"/>
                <a:cs typeface="Aptos"/>
              </a:rPr>
              <a:t>AWS Generative AI Learning Series</a:t>
            </a:r>
            <a:endParaRPr sz="900"/>
          </a:p>
        </p:txBody>
      </p:sp>
      <p:sp>
        <p:nvSpPr>
          <p:cNvPr id="4" name="Text 2">
            <a:extLst>
              <a:ext uri="{FF2B5EF4-FFF2-40B4-BE49-F238E27FC236}">
                <a16:creationId xmlns:a16="http://schemas.microsoft.com/office/drawing/2014/main" id="{28F0C239-E434-48E0-8565-BAB87D469C14}"/>
              </a:ext>
            </a:extLst>
          </p:cNvPr>
          <p:cNvSpPr>
            <a:spLocks noGrp="1"/>
          </p:cNvSpPr>
          <p:nvPr/>
        </p:nvSpPr>
        <p:spPr>
          <a:xfrm>
            <a:off x="7498080" y="6565392"/>
            <a:ext cx="4160520" cy="182880"/>
          </a:xfrm>
          <a:prstGeom prst="rect">
            <a:avLst/>
          </a:prstGeom>
          <a:noFill/>
        </p:spPr>
        <p:txBody>
          <a:bodyPr wrap="square" lIns="0" tIns="0" rIns="0" bIns="0" anchor="ctr"/>
          <a:lstStyle/>
          <a:p>
            <a:pPr marL="0" indent="0" algn="r">
              <a:buNone/>
            </a:pPr>
            <a:r>
              <a:rPr sz="900">
                <a:solidFill>
                  <a:srgbClr val="6B7280"/>
                </a:solidFill>
                <a:latin typeface="Aptos"/>
                <a:ea typeface="Aptos"/>
                <a:cs typeface="Aptos"/>
              </a:rPr>
              <a:t>Akash Patel | Concordia University Chicago</a:t>
            </a:r>
            <a:endParaRPr sz="900"/>
          </a:p>
        </p:txBody>
      </p:sp>
      <p:sp>
        <p:nvSpPr>
          <p:cNvPr id="25" name="Slide Number Placeholder 0">
            <a:extLst>
              <a:ext uri="{FF2B5EF4-FFF2-40B4-BE49-F238E27FC236}">
                <a16:creationId xmlns:a16="http://schemas.microsoft.com/office/drawing/2014/main" id="{7708EF0B-5271-41F1-899A-B0F63F10BEB8}"/>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B4CB29B-1410-4796-AC04-284349864352}"/>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A3A"/>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70855F2-5FAF-4054-982B-15BCA1609672}"/>
              </a:ext>
            </a:extLst>
          </p:cNvPr>
          <p:cNvSpPr>
            <a:spLocks noGrp="1"/>
          </p:cNvSpPr>
          <p:nvPr/>
        </p:nvSpPr>
        <p:spPr>
          <a:xfrm>
            <a:off x="0" y="0"/>
            <a:ext cx="12191695" cy="6858000"/>
          </a:xfrm>
          <a:prstGeom prst="rect">
            <a:avLst/>
          </a:prstGeom>
          <a:solidFill>
            <a:srgbClr val="172A3A"/>
          </a:solidFill>
          <a:ln w="12700">
            <a:solidFill>
              <a:srgbClr val="172A3A"/>
            </a:solidFill>
            <a:prstDash val="solid"/>
          </a:ln>
        </p:spPr>
        <p:txBody>
          <a:bodyPr/>
          <a:lstStyle/>
          <a:p>
            <a:endParaRPr lang="en-IN"/>
          </a:p>
        </p:txBody>
      </p:sp>
      <p:sp>
        <p:nvSpPr>
          <p:cNvPr id="3" name="Shape 1">
            <a:extLst>
              <a:ext uri="{FF2B5EF4-FFF2-40B4-BE49-F238E27FC236}">
                <a16:creationId xmlns:a16="http://schemas.microsoft.com/office/drawing/2014/main" id="{A728481D-0298-4CFB-9507-02BD5B38DB19}"/>
              </a:ext>
            </a:extLst>
          </p:cNvPr>
          <p:cNvSpPr>
            <a:spLocks noGrp="1"/>
          </p:cNvSpPr>
          <p:nvPr/>
        </p:nvSpPr>
        <p:spPr>
          <a:xfrm>
            <a:off x="640080" y="594360"/>
            <a:ext cx="109728" cy="4937760"/>
          </a:xfrm>
          <a:prstGeom prst="rect">
            <a:avLst/>
          </a:prstGeom>
          <a:solidFill>
            <a:srgbClr val="FF9900"/>
          </a:solidFill>
          <a:ln w="12700">
            <a:solidFill>
              <a:srgbClr val="FF9900"/>
            </a:solidFill>
            <a:prstDash val="solid"/>
          </a:ln>
        </p:spPr>
        <p:txBody>
          <a:bodyPr/>
          <a:lstStyle/>
          <a:p>
            <a:endParaRPr lang="en-IN"/>
          </a:p>
        </p:txBody>
      </p:sp>
      <p:sp>
        <p:nvSpPr>
          <p:cNvPr id="4" name="Text 2">
            <a:extLst>
              <a:ext uri="{FF2B5EF4-FFF2-40B4-BE49-F238E27FC236}">
                <a16:creationId xmlns:a16="http://schemas.microsoft.com/office/drawing/2014/main" id="{B56CE818-531E-4568-AD73-79FE8F6BAE4C}"/>
              </a:ext>
            </a:extLst>
          </p:cNvPr>
          <p:cNvSpPr>
            <a:spLocks noGrp="1"/>
          </p:cNvSpPr>
          <p:nvPr/>
        </p:nvSpPr>
        <p:spPr>
          <a:xfrm>
            <a:off x="1024128" y="914400"/>
            <a:ext cx="9966960" cy="1417320"/>
          </a:xfrm>
          <a:prstGeom prst="rect">
            <a:avLst/>
          </a:prstGeom>
          <a:noFill/>
        </p:spPr>
        <p:txBody>
          <a:bodyPr wrap="square" lIns="0" tIns="0" rIns="0" bIns="0" anchor="ctr">
            <a:normAutofit/>
          </a:bodyPr>
          <a:lstStyle/>
          <a:p>
            <a:pPr marL="0" indent="0">
              <a:buNone/>
            </a:pPr>
            <a:r>
              <a:rPr sz="3100" b="1">
                <a:solidFill>
                  <a:srgbClr val="FFFFFF"/>
                </a:solidFill>
                <a:latin typeface="Aptos Display"/>
                <a:ea typeface="Aptos Display"/>
                <a:cs typeface="Aptos Display"/>
              </a:rPr>
              <a:t>Token Efficiency, Context Optimization, and Smart Model Selection</a:t>
            </a:r>
            <a:endParaRPr sz="3100"/>
          </a:p>
        </p:txBody>
      </p:sp>
      <p:sp>
        <p:nvSpPr>
          <p:cNvPr id="5" name="Text 3">
            <a:extLst>
              <a:ext uri="{FF2B5EF4-FFF2-40B4-BE49-F238E27FC236}">
                <a16:creationId xmlns:a16="http://schemas.microsoft.com/office/drawing/2014/main" id="{464F2962-4871-4269-81EC-B4047447A735}"/>
              </a:ext>
            </a:extLst>
          </p:cNvPr>
          <p:cNvSpPr>
            <a:spLocks noGrp="1"/>
          </p:cNvSpPr>
          <p:nvPr/>
        </p:nvSpPr>
        <p:spPr>
          <a:xfrm>
            <a:off x="1042416" y="2560320"/>
            <a:ext cx="9418320" cy="502920"/>
          </a:xfrm>
          <a:prstGeom prst="rect">
            <a:avLst/>
          </a:prstGeom>
          <a:noFill/>
        </p:spPr>
        <p:txBody>
          <a:bodyPr wrap="square" lIns="0" tIns="0" rIns="0" bIns="0" anchor="ctr"/>
          <a:lstStyle/>
          <a:p>
            <a:pPr marL="0" indent="0">
              <a:buNone/>
            </a:pPr>
            <a:r>
              <a:rPr sz="1800">
                <a:solidFill>
                  <a:srgbClr val="D6DEE8"/>
                </a:solidFill>
              </a:rPr>
              <a:t>Building More Cost-Efficient Generative AI Applications on AWS</a:t>
            </a:r>
            <a:endParaRPr sz="1800"/>
          </a:p>
        </p:txBody>
      </p:sp>
      <p:sp>
        <p:nvSpPr>
          <p:cNvPr id="6" name="Shape 4">
            <a:extLst>
              <a:ext uri="{FF2B5EF4-FFF2-40B4-BE49-F238E27FC236}">
                <a16:creationId xmlns:a16="http://schemas.microsoft.com/office/drawing/2014/main" id="{486DDCDB-D641-4BB8-B341-422F10CAA614}"/>
              </a:ext>
            </a:extLst>
          </p:cNvPr>
          <p:cNvSpPr>
            <a:spLocks noGrp="1"/>
          </p:cNvSpPr>
          <p:nvPr/>
        </p:nvSpPr>
        <p:spPr>
          <a:xfrm>
            <a:off x="1051560" y="3794760"/>
            <a:ext cx="2834640" cy="502920"/>
          </a:xfrm>
          <a:prstGeom prst="roundRect">
            <a:avLst/>
          </a:prstGeom>
          <a:solidFill>
            <a:srgbClr val="233D52"/>
          </a:solidFill>
          <a:ln w="12700">
            <a:solidFill>
              <a:srgbClr val="35546D"/>
            </a:solidFill>
            <a:prstDash val="solid"/>
          </a:ln>
        </p:spPr>
        <p:txBody>
          <a:bodyPr/>
          <a:lstStyle/>
          <a:p>
            <a:endParaRPr lang="en-IN"/>
          </a:p>
        </p:txBody>
      </p:sp>
      <p:sp>
        <p:nvSpPr>
          <p:cNvPr id="7" name="Text 5">
            <a:extLst>
              <a:ext uri="{FF2B5EF4-FFF2-40B4-BE49-F238E27FC236}">
                <a16:creationId xmlns:a16="http://schemas.microsoft.com/office/drawing/2014/main" id="{70EDF474-CADB-402D-BC97-012E83BFDCC6}"/>
              </a:ext>
            </a:extLst>
          </p:cNvPr>
          <p:cNvSpPr>
            <a:spLocks noGrp="1"/>
          </p:cNvSpPr>
          <p:nvPr/>
        </p:nvSpPr>
        <p:spPr>
          <a:xfrm>
            <a:off x="1207008" y="3950208"/>
            <a:ext cx="2560320" cy="201168"/>
          </a:xfrm>
          <a:prstGeom prst="rect">
            <a:avLst/>
          </a:prstGeom>
          <a:noFill/>
        </p:spPr>
        <p:txBody>
          <a:bodyPr wrap="square" lIns="0" tIns="0" rIns="0" bIns="0" anchor="ctr"/>
          <a:lstStyle/>
          <a:p>
            <a:pPr marL="0" indent="0" algn="ctr">
              <a:buNone/>
            </a:pPr>
            <a:r>
              <a:rPr sz="1250" b="1">
                <a:solidFill>
                  <a:srgbClr val="FF9900"/>
                </a:solidFill>
              </a:rPr>
              <a:t>AWS Generative AI Learning Series</a:t>
            </a:r>
            <a:endParaRPr sz="1250"/>
          </a:p>
        </p:txBody>
      </p:sp>
      <p:sp>
        <p:nvSpPr>
          <p:cNvPr id="8" name="Text 6">
            <a:extLst>
              <a:ext uri="{FF2B5EF4-FFF2-40B4-BE49-F238E27FC236}">
                <a16:creationId xmlns:a16="http://schemas.microsoft.com/office/drawing/2014/main" id="{EFFC9C05-26A6-41B8-81E6-6BB4A7F0F0CE}"/>
              </a:ext>
            </a:extLst>
          </p:cNvPr>
          <p:cNvSpPr>
            <a:spLocks noGrp="1"/>
          </p:cNvSpPr>
          <p:nvPr/>
        </p:nvSpPr>
        <p:spPr>
          <a:xfrm>
            <a:off x="1051560" y="4681728"/>
            <a:ext cx="4023360" cy="292608"/>
          </a:xfrm>
          <a:prstGeom prst="rect">
            <a:avLst/>
          </a:prstGeom>
          <a:noFill/>
        </p:spPr>
        <p:txBody>
          <a:bodyPr wrap="square" lIns="0" tIns="0" rIns="0" bIns="0" anchor="ctr"/>
          <a:lstStyle/>
          <a:p>
            <a:pPr marL="0" indent="0">
              <a:buNone/>
            </a:pPr>
            <a:r>
              <a:rPr sz="1700" b="1">
                <a:solidFill>
                  <a:srgbClr val="FFFFFF"/>
                </a:solidFill>
              </a:rPr>
              <a:t>Presented by: Akash Patel</a:t>
            </a:r>
            <a:endParaRPr sz="1700"/>
          </a:p>
        </p:txBody>
      </p:sp>
      <p:sp>
        <p:nvSpPr>
          <p:cNvPr id="9" name="Text 7">
            <a:extLst>
              <a:ext uri="{FF2B5EF4-FFF2-40B4-BE49-F238E27FC236}">
                <a16:creationId xmlns:a16="http://schemas.microsoft.com/office/drawing/2014/main" id="{92A68EFE-7D94-44E2-A2CD-1E3C726983B6}"/>
              </a:ext>
            </a:extLst>
          </p:cNvPr>
          <p:cNvSpPr>
            <a:spLocks noGrp="1"/>
          </p:cNvSpPr>
          <p:nvPr/>
        </p:nvSpPr>
        <p:spPr>
          <a:xfrm>
            <a:off x="1051560" y="5047488"/>
            <a:ext cx="4114800" cy="274320"/>
          </a:xfrm>
          <a:prstGeom prst="rect">
            <a:avLst/>
          </a:prstGeom>
          <a:noFill/>
        </p:spPr>
        <p:txBody>
          <a:bodyPr wrap="square" lIns="0" tIns="0" rIns="0" bIns="0" anchor="ctr"/>
          <a:lstStyle/>
          <a:p>
            <a:pPr marL="0" indent="0">
              <a:buNone/>
            </a:pPr>
            <a:r>
              <a:rPr sz="1450">
                <a:solidFill>
                  <a:srgbClr val="D6DEE8"/>
                </a:solidFill>
              </a:rPr>
              <a:t>Concordia University Chicago</a:t>
            </a:r>
            <a:endParaRPr sz="1450"/>
          </a:p>
        </p:txBody>
      </p:sp>
      <p:sp>
        <p:nvSpPr>
          <p:cNvPr id="10" name="Shape 8">
            <a:extLst>
              <a:ext uri="{FF2B5EF4-FFF2-40B4-BE49-F238E27FC236}">
                <a16:creationId xmlns:a16="http://schemas.microsoft.com/office/drawing/2014/main" id="{3D95E3AD-FBE9-446D-90CF-8E7130B0885D}"/>
              </a:ext>
            </a:extLst>
          </p:cNvPr>
          <p:cNvSpPr>
            <a:spLocks noGrp="1"/>
          </p:cNvSpPr>
          <p:nvPr/>
        </p:nvSpPr>
        <p:spPr>
          <a:xfrm>
            <a:off x="8915400" y="3657600"/>
            <a:ext cx="2011680" cy="2011680"/>
          </a:xfrm>
          <a:prstGeom prst="arc">
            <a:avLst/>
          </a:prstGeom>
          <a:solidFill>
            <a:srgbClr val="172A3A">
              <a:alpha val="0"/>
            </a:srgbClr>
          </a:solidFill>
          <a:ln w="12700">
            <a:solidFill>
              <a:srgbClr val="FF9900">
                <a:alpha val="90000"/>
              </a:srgbClr>
            </a:solidFill>
            <a:prstDash val="solid"/>
          </a:ln>
        </p:spPr>
        <p:txBody>
          <a:bodyPr/>
          <a:lstStyle/>
          <a:p>
            <a:endParaRPr lang="en-IN"/>
          </a:p>
        </p:txBody>
      </p:sp>
      <p:sp>
        <p:nvSpPr>
          <p:cNvPr id="11" name="Text 9">
            <a:extLst>
              <a:ext uri="{FF2B5EF4-FFF2-40B4-BE49-F238E27FC236}">
                <a16:creationId xmlns:a16="http://schemas.microsoft.com/office/drawing/2014/main" id="{7D840CCE-AF07-4600-A7F1-D23EB02E7209}"/>
              </a:ext>
            </a:extLst>
          </p:cNvPr>
          <p:cNvSpPr>
            <a:spLocks noGrp="1"/>
          </p:cNvSpPr>
          <p:nvPr/>
        </p:nvSpPr>
        <p:spPr>
          <a:xfrm>
            <a:off x="9144000" y="4352544"/>
            <a:ext cx="1554480" cy="274320"/>
          </a:xfrm>
          <a:prstGeom prst="rect">
            <a:avLst/>
          </a:prstGeom>
          <a:noFill/>
        </p:spPr>
        <p:txBody>
          <a:bodyPr wrap="square" lIns="0" tIns="0" rIns="0" bIns="0" anchor="ctr"/>
          <a:lstStyle/>
          <a:p>
            <a:pPr marL="0" indent="0" algn="ctr">
              <a:buNone/>
            </a:pPr>
            <a:r>
              <a:rPr sz="1700" b="1">
                <a:solidFill>
                  <a:srgbClr val="FF9900"/>
                </a:solidFill>
              </a:rPr>
              <a:t>TOKENS</a:t>
            </a:r>
            <a:endParaRPr sz="1700"/>
          </a:p>
        </p:txBody>
      </p:sp>
    </p:spTree>
    <p:extLst>
      <p:ext uri="{BB962C8B-B14F-4D97-AF65-F5344CB8AC3E}">
        <p14:creationId xmlns:p14="http://schemas.microsoft.com/office/powerpoint/2010/main" val="1121020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185145B-213B-4E8F-AADA-7017F8856BE9}"/>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Why Optimization Matters in Generative AI</a:t>
            </a:r>
            <a:endParaRPr sz="2500"/>
          </a:p>
        </p:txBody>
      </p:sp>
      <p:sp>
        <p:nvSpPr>
          <p:cNvPr id="3" name="Text 1">
            <a:extLst>
              <a:ext uri="{FF2B5EF4-FFF2-40B4-BE49-F238E27FC236}">
                <a16:creationId xmlns:a16="http://schemas.microsoft.com/office/drawing/2014/main" id="{4363C9B2-BC01-4F1B-8199-4980412C8313}"/>
              </a:ext>
            </a:extLst>
          </p:cNvPr>
          <p:cNvSpPr>
            <a:spLocks noGrp="1"/>
          </p:cNvSpPr>
          <p:nvPr/>
        </p:nvSpPr>
        <p:spPr>
          <a:xfrm>
            <a:off x="713232" y="1234440"/>
            <a:ext cx="10744200" cy="3931920"/>
          </a:xfrm>
          <a:prstGeom prst="rect">
            <a:avLst/>
          </a:prstGeom>
          <a:noFill/>
        </p:spPr>
        <p:txBody>
          <a:bodyPr wrap="square" lIns="508" tIns="508" rIns="508" bIns="508" anchor="ctr">
            <a:normAutofit/>
          </a:bodyPr>
          <a:lstStyle/>
          <a:p>
            <a:pPr marL="228600" indent="-228600">
              <a:buSzPct val="100000"/>
              <a:buChar char="•"/>
            </a:pPr>
            <a:r>
              <a:rPr sz="1830" dirty="0">
                <a:solidFill>
                  <a:srgbClr val="1F2937"/>
                </a:solidFill>
                <a:latin typeface="Aptos"/>
                <a:ea typeface="Aptos"/>
                <a:cs typeface="Aptos"/>
              </a:rPr>
              <a:t>Building a Generative AI application is not only about getting a correct response. A real application also needs to control cost, latency, token usage, and model performance.</a:t>
            </a:r>
            <a:endParaRPr sz="1830" dirty="0"/>
          </a:p>
          <a:p>
            <a:pPr marL="228600" indent="-228600">
              <a:buSzPct val="100000"/>
              <a:buChar char="•"/>
            </a:pPr>
            <a:r>
              <a:rPr sz="1830" dirty="0">
                <a:solidFill>
                  <a:srgbClr val="1F2937"/>
                </a:solidFill>
                <a:latin typeface="Aptos"/>
                <a:ea typeface="Aptos"/>
                <a:cs typeface="Aptos"/>
              </a:rPr>
              <a:t>A prompt may work correctly during testing, but if the application sends very large prompts thousands of times, the total cost and response time can increase quickly.</a:t>
            </a:r>
            <a:endParaRPr sz="1830" dirty="0"/>
          </a:p>
          <a:p>
            <a:pPr marL="228600" indent="-228600">
              <a:buSzPct val="100000"/>
              <a:buChar char="•"/>
            </a:pPr>
            <a:r>
              <a:rPr sz="1830" dirty="0">
                <a:solidFill>
                  <a:srgbClr val="1F2937"/>
                </a:solidFill>
                <a:latin typeface="Aptos"/>
                <a:ea typeface="Aptos"/>
                <a:cs typeface="Aptos"/>
              </a:rPr>
              <a:t>Optimization means reducing unnecessary work while still keeping enough information for the model to answer accurately.</a:t>
            </a:r>
            <a:endParaRPr sz="1830" dirty="0"/>
          </a:p>
          <a:p>
            <a:pPr marL="228600" indent="-228600">
              <a:buSzPct val="100000"/>
              <a:buChar char="•"/>
            </a:pPr>
            <a:r>
              <a:rPr sz="1830" dirty="0">
                <a:solidFill>
                  <a:srgbClr val="1F2937"/>
                </a:solidFill>
                <a:latin typeface="Aptos"/>
                <a:ea typeface="Aptos"/>
                <a:cs typeface="Aptos"/>
              </a:rPr>
              <a:t>This does not mean making every prompt as short as possible. Removing useful context can also reduce answer quality.</a:t>
            </a:r>
            <a:endParaRPr sz="1830" dirty="0"/>
          </a:p>
          <a:p>
            <a:pPr marL="228600" indent="-228600">
              <a:buSzPct val="100000"/>
              <a:buChar char="•"/>
            </a:pPr>
            <a:r>
              <a:rPr sz="1830" dirty="0">
                <a:solidFill>
                  <a:srgbClr val="1F2937"/>
                </a:solidFill>
                <a:latin typeface="Aptos"/>
                <a:ea typeface="Aptos"/>
                <a:cs typeface="Aptos"/>
              </a:rPr>
              <a:t>A better goal is to find the right balance between quality, cost, speed, and context.</a:t>
            </a:r>
            <a:endParaRPr sz="1830" dirty="0"/>
          </a:p>
        </p:txBody>
      </p:sp>
      <p:sp>
        <p:nvSpPr>
          <p:cNvPr id="4" name="Shape 2">
            <a:extLst>
              <a:ext uri="{FF2B5EF4-FFF2-40B4-BE49-F238E27FC236}">
                <a16:creationId xmlns:a16="http://schemas.microsoft.com/office/drawing/2014/main" id="{79B087E4-840B-491A-812F-96C93CB219EE}"/>
              </a:ext>
            </a:extLst>
          </p:cNvPr>
          <p:cNvSpPr>
            <a:spLocks noGrp="1"/>
          </p:cNvSpPr>
          <p:nvPr/>
        </p:nvSpPr>
        <p:spPr>
          <a:xfrm>
            <a:off x="658368" y="5394960"/>
            <a:ext cx="10881360" cy="658368"/>
          </a:xfrm>
          <a:prstGeom prst="roundRect">
            <a:avLst>
              <a:gd name="adj" fmla="val 11111"/>
            </a:avLst>
          </a:prstGeom>
          <a:solidFill>
            <a:srgbClr val="FFFFFF"/>
          </a:solidFill>
          <a:ln w="12700">
            <a:solidFill>
              <a:srgbClr val="255C99"/>
            </a:solidFill>
            <a:prstDash val="solid"/>
          </a:ln>
        </p:spPr>
        <p:txBody>
          <a:bodyPr/>
          <a:lstStyle/>
          <a:p>
            <a:endParaRPr lang="en-IN"/>
          </a:p>
        </p:txBody>
      </p:sp>
      <p:sp>
        <p:nvSpPr>
          <p:cNvPr id="5" name="Text 3">
            <a:extLst>
              <a:ext uri="{FF2B5EF4-FFF2-40B4-BE49-F238E27FC236}">
                <a16:creationId xmlns:a16="http://schemas.microsoft.com/office/drawing/2014/main" id="{9EA09200-476C-4F90-A942-2E47C1B19063}"/>
              </a:ext>
            </a:extLst>
          </p:cNvPr>
          <p:cNvSpPr>
            <a:spLocks noGrp="1"/>
          </p:cNvSpPr>
          <p:nvPr/>
        </p:nvSpPr>
        <p:spPr>
          <a:xfrm>
            <a:off x="868680" y="5504688"/>
            <a:ext cx="1371600" cy="219456"/>
          </a:xfrm>
          <a:prstGeom prst="rect">
            <a:avLst/>
          </a:prstGeom>
          <a:noFill/>
        </p:spPr>
        <p:txBody>
          <a:bodyPr wrap="square" lIns="0" tIns="0" rIns="0" bIns="0" anchor="ctr"/>
          <a:lstStyle/>
          <a:p>
            <a:pPr marL="0" indent="0">
              <a:buNone/>
            </a:pPr>
            <a:r>
              <a:rPr sz="1350" b="1">
                <a:solidFill>
                  <a:srgbClr val="255C99"/>
                </a:solidFill>
              </a:rPr>
              <a:t>Main Idea:</a:t>
            </a:r>
            <a:endParaRPr sz="1350"/>
          </a:p>
        </p:txBody>
      </p:sp>
      <p:sp>
        <p:nvSpPr>
          <p:cNvPr id="6" name="Text 4">
            <a:extLst>
              <a:ext uri="{FF2B5EF4-FFF2-40B4-BE49-F238E27FC236}">
                <a16:creationId xmlns:a16="http://schemas.microsoft.com/office/drawing/2014/main" id="{DB996808-C40E-46EC-BF51-DCA20C39B756}"/>
              </a:ext>
            </a:extLst>
          </p:cNvPr>
          <p:cNvSpPr>
            <a:spLocks noGrp="1"/>
          </p:cNvSpPr>
          <p:nvPr/>
        </p:nvSpPr>
        <p:spPr>
          <a:xfrm>
            <a:off x="2148840" y="5477256"/>
            <a:ext cx="9098280" cy="310896"/>
          </a:xfrm>
          <a:prstGeom prst="rect">
            <a:avLst/>
          </a:prstGeom>
          <a:noFill/>
        </p:spPr>
        <p:txBody>
          <a:bodyPr wrap="square" lIns="0" tIns="0" rIns="0" bIns="0" anchor="ctr">
            <a:normAutofit/>
          </a:bodyPr>
          <a:lstStyle/>
          <a:p>
            <a:pPr marL="0" indent="0">
              <a:buNone/>
            </a:pPr>
            <a:r>
              <a:rPr sz="1520" b="1">
                <a:solidFill>
                  <a:srgbClr val="1F2937"/>
                </a:solidFill>
              </a:rPr>
              <a:t>A good GenAI application should not only work correctly; it should also use its models and tokens efficiently.</a:t>
            </a:r>
            <a:endParaRPr sz="1520"/>
          </a:p>
        </p:txBody>
      </p:sp>
      <p:sp>
        <p:nvSpPr>
          <p:cNvPr id="25" name="Slide Number Placeholder 0">
            <a:extLst>
              <a:ext uri="{FF2B5EF4-FFF2-40B4-BE49-F238E27FC236}">
                <a16:creationId xmlns:a16="http://schemas.microsoft.com/office/drawing/2014/main" id="{8C602F02-CA13-4254-A9F3-0AE40E4CA114}"/>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2</a:t>
            </a:fld>
            <a:endParaRPr/>
          </a:p>
        </p:txBody>
      </p:sp>
    </p:spTree>
    <p:extLst>
      <p:ext uri="{BB962C8B-B14F-4D97-AF65-F5344CB8AC3E}">
        <p14:creationId xmlns:p14="http://schemas.microsoft.com/office/powerpoint/2010/main" val="1489206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D50AD28-672A-4794-86C2-D32FE8FF6F84}"/>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What Are Tokens?</a:t>
            </a:r>
            <a:endParaRPr sz="2500"/>
          </a:p>
        </p:txBody>
      </p:sp>
      <p:sp>
        <p:nvSpPr>
          <p:cNvPr id="3" name="Text 1">
            <a:extLst>
              <a:ext uri="{FF2B5EF4-FFF2-40B4-BE49-F238E27FC236}">
                <a16:creationId xmlns:a16="http://schemas.microsoft.com/office/drawing/2014/main" id="{BD169890-B31A-4132-8C99-238BCD0E1B83}"/>
              </a:ext>
            </a:extLst>
          </p:cNvPr>
          <p:cNvSpPr>
            <a:spLocks noGrp="1"/>
          </p:cNvSpPr>
          <p:nvPr/>
        </p:nvSpPr>
        <p:spPr>
          <a:xfrm>
            <a:off x="694944" y="1170432"/>
            <a:ext cx="6812280" cy="4434840"/>
          </a:xfrm>
          <a:prstGeom prst="rect">
            <a:avLst/>
          </a:prstGeom>
          <a:noFill/>
        </p:spPr>
        <p:txBody>
          <a:bodyPr wrap="square" lIns="508" tIns="508" rIns="508" bIns="508" anchor="ctr">
            <a:normAutofit/>
          </a:bodyPr>
          <a:lstStyle/>
          <a:p>
            <a:pPr marL="228600" indent="-228600">
              <a:buSzPct val="100000"/>
              <a:buChar char="•"/>
            </a:pPr>
            <a:r>
              <a:rPr sz="1730" dirty="0">
                <a:solidFill>
                  <a:srgbClr val="1F2937"/>
                </a:solidFill>
                <a:latin typeface="Aptos"/>
                <a:ea typeface="Aptos"/>
                <a:cs typeface="Aptos"/>
              </a:rPr>
              <a:t>Foundation Models do not process text exactly as complete words. They process smaller units called tokens.</a:t>
            </a:r>
            <a:endParaRPr sz="1730" dirty="0"/>
          </a:p>
          <a:p>
            <a:pPr marL="228600" indent="-228600">
              <a:buSzPct val="100000"/>
              <a:buChar char="•"/>
            </a:pPr>
            <a:r>
              <a:rPr sz="1730" dirty="0">
                <a:solidFill>
                  <a:srgbClr val="1F2937"/>
                </a:solidFill>
                <a:latin typeface="Aptos"/>
                <a:ea typeface="Aptos"/>
                <a:cs typeface="Aptos"/>
              </a:rPr>
              <a:t>A token may represent a full word, part of a word, punctuation, or another piece of text depending on the model and tokenizer.</a:t>
            </a:r>
            <a:endParaRPr sz="1730" dirty="0"/>
          </a:p>
          <a:p>
            <a:pPr marL="228600" indent="-228600">
              <a:buSzPct val="100000"/>
              <a:buChar char="•"/>
            </a:pPr>
            <a:r>
              <a:rPr sz="1730" dirty="0">
                <a:solidFill>
                  <a:srgbClr val="1F2937"/>
                </a:solidFill>
                <a:latin typeface="Aptos"/>
                <a:ea typeface="Aptos"/>
                <a:cs typeface="Aptos"/>
              </a:rPr>
              <a:t>Both the information sent to the model and the response generated by the model use tokens.</a:t>
            </a:r>
            <a:endParaRPr sz="1730" dirty="0"/>
          </a:p>
          <a:p>
            <a:pPr marL="228600" indent="-228600">
              <a:buSzPct val="100000"/>
              <a:buChar char="•"/>
            </a:pPr>
            <a:r>
              <a:rPr sz="1730" dirty="0">
                <a:solidFill>
                  <a:srgbClr val="1F2937"/>
                </a:solidFill>
                <a:latin typeface="Aptos"/>
                <a:ea typeface="Aptos"/>
                <a:cs typeface="Aptos"/>
              </a:rPr>
              <a:t>Input tokens come from the user prompt, system instructions, conversation history, retrieved RAG context, and other information sent to the model.</a:t>
            </a:r>
            <a:endParaRPr sz="1730" dirty="0"/>
          </a:p>
          <a:p>
            <a:pPr marL="228600" indent="-228600">
              <a:buSzPct val="100000"/>
              <a:buChar char="•"/>
            </a:pPr>
            <a:r>
              <a:rPr sz="1730" dirty="0">
                <a:solidFill>
                  <a:srgbClr val="1F2937"/>
                </a:solidFill>
                <a:latin typeface="Aptos"/>
                <a:ea typeface="Aptos"/>
                <a:cs typeface="Aptos"/>
              </a:rPr>
              <a:t>Output tokens are the tokens generated in the model’s response.</a:t>
            </a:r>
            <a:endParaRPr sz="1730" dirty="0"/>
          </a:p>
          <a:p>
            <a:pPr marL="228600" indent="-228600">
              <a:buSzPct val="100000"/>
              <a:buChar char="•"/>
            </a:pPr>
            <a:r>
              <a:rPr sz="1730" dirty="0">
                <a:solidFill>
                  <a:srgbClr val="1F2937"/>
                </a:solidFill>
                <a:latin typeface="Aptos"/>
                <a:ea typeface="Aptos"/>
                <a:cs typeface="Aptos"/>
              </a:rPr>
              <a:t>Token usage matters because it affects context limits, model cost, and sometimes response latency.</a:t>
            </a:r>
            <a:endParaRPr sz="1730" dirty="0"/>
          </a:p>
        </p:txBody>
      </p:sp>
      <p:sp>
        <p:nvSpPr>
          <p:cNvPr id="4" name="Shape 2">
            <a:extLst>
              <a:ext uri="{FF2B5EF4-FFF2-40B4-BE49-F238E27FC236}">
                <a16:creationId xmlns:a16="http://schemas.microsoft.com/office/drawing/2014/main" id="{0A8334B2-E753-4B95-BA44-31D01736A450}"/>
              </a:ext>
            </a:extLst>
          </p:cNvPr>
          <p:cNvSpPr>
            <a:spLocks noGrp="1"/>
          </p:cNvSpPr>
          <p:nvPr/>
        </p:nvSpPr>
        <p:spPr>
          <a:xfrm>
            <a:off x="7863840" y="1508759"/>
            <a:ext cx="3383280" cy="3667089"/>
          </a:xfrm>
          <a:prstGeom prst="roundRect">
            <a:avLst/>
          </a:prstGeom>
          <a:solidFill>
            <a:srgbClr val="FFFFFF"/>
          </a:solidFill>
          <a:ln w="12700">
            <a:solidFill>
              <a:srgbClr val="D7DEE8"/>
            </a:solidFill>
            <a:prstDash val="solid"/>
          </a:ln>
        </p:spPr>
        <p:txBody>
          <a:bodyPr/>
          <a:lstStyle/>
          <a:p>
            <a:endParaRPr lang="en-IN"/>
          </a:p>
        </p:txBody>
      </p:sp>
      <p:sp>
        <p:nvSpPr>
          <p:cNvPr id="5" name="Text 3">
            <a:extLst>
              <a:ext uri="{FF2B5EF4-FFF2-40B4-BE49-F238E27FC236}">
                <a16:creationId xmlns:a16="http://schemas.microsoft.com/office/drawing/2014/main" id="{3962B7B4-9115-4751-9B90-B7101B32FC2F}"/>
              </a:ext>
            </a:extLst>
          </p:cNvPr>
          <p:cNvSpPr>
            <a:spLocks noGrp="1"/>
          </p:cNvSpPr>
          <p:nvPr/>
        </p:nvSpPr>
        <p:spPr>
          <a:xfrm>
            <a:off x="8138160" y="1783080"/>
            <a:ext cx="2560320" cy="274320"/>
          </a:xfrm>
          <a:prstGeom prst="rect">
            <a:avLst/>
          </a:prstGeom>
          <a:noFill/>
        </p:spPr>
        <p:txBody>
          <a:bodyPr wrap="square" lIns="0" tIns="0" rIns="0" bIns="0" anchor="ctr"/>
          <a:lstStyle/>
          <a:p>
            <a:pPr marL="0" indent="0">
              <a:buNone/>
            </a:pPr>
            <a:r>
              <a:rPr sz="1700" b="1">
                <a:solidFill>
                  <a:srgbClr val="FF9900"/>
                </a:solidFill>
              </a:rPr>
              <a:t>Simple Example:</a:t>
            </a:r>
            <a:endParaRPr sz="1700"/>
          </a:p>
        </p:txBody>
      </p:sp>
      <p:sp>
        <p:nvSpPr>
          <p:cNvPr id="6" name="Text 4">
            <a:extLst>
              <a:ext uri="{FF2B5EF4-FFF2-40B4-BE49-F238E27FC236}">
                <a16:creationId xmlns:a16="http://schemas.microsoft.com/office/drawing/2014/main" id="{1CD63488-B611-4E43-B14E-412975716415}"/>
              </a:ext>
            </a:extLst>
          </p:cNvPr>
          <p:cNvSpPr>
            <a:spLocks noGrp="1"/>
          </p:cNvSpPr>
          <p:nvPr/>
        </p:nvSpPr>
        <p:spPr>
          <a:xfrm>
            <a:off x="8156448" y="2331720"/>
            <a:ext cx="2651760" cy="731520"/>
          </a:xfrm>
          <a:prstGeom prst="rect">
            <a:avLst/>
          </a:prstGeom>
          <a:noFill/>
        </p:spPr>
        <p:txBody>
          <a:bodyPr wrap="square" lIns="0" tIns="0" rIns="0" bIns="0" anchor="ctr">
            <a:normAutofit/>
          </a:bodyPr>
          <a:lstStyle/>
          <a:p>
            <a:pPr marL="0" indent="0" algn="ctr">
              <a:buNone/>
            </a:pPr>
            <a:r>
              <a:rPr sz="1700" b="1">
                <a:solidFill>
                  <a:srgbClr val="1F2937"/>
                </a:solidFill>
              </a:rPr>
              <a:t>Large prompt + large retrieved context + long answer</a:t>
            </a:r>
            <a:endParaRPr sz="1700"/>
          </a:p>
        </p:txBody>
      </p:sp>
      <p:sp>
        <p:nvSpPr>
          <p:cNvPr id="7" name="Text 5">
            <a:extLst>
              <a:ext uri="{FF2B5EF4-FFF2-40B4-BE49-F238E27FC236}">
                <a16:creationId xmlns:a16="http://schemas.microsoft.com/office/drawing/2014/main" id="{D70CC71C-A1FC-45F2-BCFF-618C47D17689}"/>
              </a:ext>
            </a:extLst>
          </p:cNvPr>
          <p:cNvSpPr>
            <a:spLocks noGrp="1"/>
          </p:cNvSpPr>
          <p:nvPr/>
        </p:nvSpPr>
        <p:spPr>
          <a:xfrm>
            <a:off x="9052560" y="3063240"/>
            <a:ext cx="731520" cy="320040"/>
          </a:xfrm>
          <a:prstGeom prst="rect">
            <a:avLst/>
          </a:prstGeom>
          <a:noFill/>
        </p:spPr>
        <p:txBody>
          <a:bodyPr wrap="square" lIns="0" tIns="0" rIns="0" bIns="0" anchor="ctr"/>
          <a:lstStyle/>
          <a:p>
            <a:pPr marL="0" indent="0" algn="ctr">
              <a:buNone/>
            </a:pPr>
            <a:r>
              <a:rPr sz="2400" b="1">
                <a:solidFill>
                  <a:srgbClr val="6B7280"/>
                </a:solidFill>
              </a:rPr>
              <a:t>↓</a:t>
            </a:r>
            <a:endParaRPr sz="2400"/>
          </a:p>
        </p:txBody>
      </p:sp>
      <p:sp>
        <p:nvSpPr>
          <p:cNvPr id="8" name="Text 6">
            <a:extLst>
              <a:ext uri="{FF2B5EF4-FFF2-40B4-BE49-F238E27FC236}">
                <a16:creationId xmlns:a16="http://schemas.microsoft.com/office/drawing/2014/main" id="{B8230141-1C0B-4515-9D24-3031480188B2}"/>
              </a:ext>
            </a:extLst>
          </p:cNvPr>
          <p:cNvSpPr>
            <a:spLocks noGrp="1"/>
          </p:cNvSpPr>
          <p:nvPr/>
        </p:nvSpPr>
        <p:spPr>
          <a:xfrm>
            <a:off x="8183880" y="3369333"/>
            <a:ext cx="2514600" cy="1311100"/>
          </a:xfrm>
          <a:prstGeom prst="rect">
            <a:avLst/>
          </a:prstGeom>
          <a:noFill/>
        </p:spPr>
        <p:txBody>
          <a:bodyPr wrap="square" lIns="0" tIns="0" rIns="0" bIns="0" anchor="ctr">
            <a:normAutofit/>
          </a:bodyPr>
          <a:lstStyle/>
          <a:p>
            <a:pPr marL="0" indent="0" algn="ctr">
              <a:buNone/>
            </a:pPr>
            <a:r>
              <a:rPr sz="1520" dirty="0">
                <a:solidFill>
                  <a:srgbClr val="1F2937"/>
                </a:solidFill>
              </a:rPr>
              <a:t>More tokens</a:t>
            </a:r>
            <a:endParaRPr sz="1520" dirty="0"/>
          </a:p>
          <a:p>
            <a:pPr marL="0" indent="0" algn="ctr">
              <a:buNone/>
            </a:pPr>
            <a:r>
              <a:rPr sz="1520" dirty="0">
                <a:solidFill>
                  <a:srgbClr val="1F2937"/>
                </a:solidFill>
              </a:rPr>
              <a:t>↓</a:t>
            </a:r>
            <a:endParaRPr sz="1520" dirty="0"/>
          </a:p>
          <a:p>
            <a:pPr marL="0" indent="0" algn="ctr">
              <a:buNone/>
            </a:pPr>
            <a:r>
              <a:rPr sz="1520" dirty="0">
                <a:solidFill>
                  <a:srgbClr val="1F2937"/>
                </a:solidFill>
              </a:rPr>
              <a:t>More processing</a:t>
            </a:r>
            <a:endParaRPr sz="1520" dirty="0"/>
          </a:p>
          <a:p>
            <a:pPr marL="0" indent="0" algn="ctr">
              <a:buNone/>
            </a:pPr>
            <a:r>
              <a:rPr sz="1520" dirty="0">
                <a:solidFill>
                  <a:srgbClr val="1F2937"/>
                </a:solidFill>
              </a:rPr>
              <a:t>↓</a:t>
            </a:r>
            <a:endParaRPr sz="1520" dirty="0"/>
          </a:p>
          <a:p>
            <a:pPr marL="0" indent="0" algn="ctr">
              <a:buNone/>
            </a:pPr>
            <a:r>
              <a:rPr sz="1520" dirty="0">
                <a:solidFill>
                  <a:srgbClr val="1F2937"/>
                </a:solidFill>
              </a:rPr>
              <a:t>Higher possible cost</a:t>
            </a:r>
            <a:endParaRPr sz="1520" dirty="0"/>
          </a:p>
        </p:txBody>
      </p:sp>
      <p:sp>
        <p:nvSpPr>
          <p:cNvPr id="25" name="Slide Number Placeholder 0">
            <a:extLst>
              <a:ext uri="{FF2B5EF4-FFF2-40B4-BE49-F238E27FC236}">
                <a16:creationId xmlns:a16="http://schemas.microsoft.com/office/drawing/2014/main" id="{4429F8EB-260E-4A08-8EE2-2104A75C328E}"/>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3</a:t>
            </a:fld>
            <a:endParaRPr/>
          </a:p>
        </p:txBody>
      </p:sp>
    </p:spTree>
    <p:extLst>
      <p:ext uri="{BB962C8B-B14F-4D97-AF65-F5344CB8AC3E}">
        <p14:creationId xmlns:p14="http://schemas.microsoft.com/office/powerpoint/2010/main" val="1828755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05FA74C-E7E2-4F98-A4FA-2224886F219A}"/>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Amazon Bedrock CountTokens API</a:t>
            </a:r>
            <a:endParaRPr sz="2500"/>
          </a:p>
        </p:txBody>
      </p:sp>
      <p:sp>
        <p:nvSpPr>
          <p:cNvPr id="3" name="Text 1">
            <a:extLst>
              <a:ext uri="{FF2B5EF4-FFF2-40B4-BE49-F238E27FC236}">
                <a16:creationId xmlns:a16="http://schemas.microsoft.com/office/drawing/2014/main" id="{3474C003-989B-4CE3-8786-8644E35C0118}"/>
              </a:ext>
            </a:extLst>
          </p:cNvPr>
          <p:cNvSpPr>
            <a:spLocks noGrp="1"/>
          </p:cNvSpPr>
          <p:nvPr/>
        </p:nvSpPr>
        <p:spPr>
          <a:xfrm>
            <a:off x="713232" y="1188720"/>
            <a:ext cx="10698480" cy="3429000"/>
          </a:xfrm>
          <a:prstGeom prst="rect">
            <a:avLst/>
          </a:prstGeom>
          <a:noFill/>
        </p:spPr>
        <p:txBody>
          <a:bodyPr wrap="square" lIns="508" tIns="508" rIns="508" bIns="508" anchor="ctr">
            <a:normAutofit/>
          </a:bodyPr>
          <a:lstStyle/>
          <a:p>
            <a:pPr marL="228600" indent="-228600">
              <a:buSzPct val="100000"/>
              <a:buChar char="•"/>
            </a:pPr>
            <a:r>
              <a:rPr sz="1780">
                <a:solidFill>
                  <a:srgbClr val="1F2937"/>
                </a:solidFill>
                <a:latin typeface="Aptos"/>
                <a:ea typeface="Aptos"/>
                <a:cs typeface="Aptos"/>
              </a:rPr>
              <a:t>Amazon Bedrock provides a CountTokens API that can calculate how many tokens a request will use before the model actually performs inference.</a:t>
            </a:r>
            <a:endParaRPr sz="1780"/>
          </a:p>
          <a:p>
            <a:pPr marL="228600" indent="-228600">
              <a:buSzPct val="100000"/>
              <a:buChar char="•"/>
            </a:pPr>
            <a:r>
              <a:rPr sz="1780">
                <a:solidFill>
                  <a:srgbClr val="1F2937"/>
                </a:solidFill>
                <a:latin typeface="Aptos"/>
                <a:ea typeface="Aptos"/>
                <a:cs typeface="Aptos"/>
              </a:rPr>
              <a:t>This allows an application to inspect a prompt before sending it to a Foundation Model.</a:t>
            </a:r>
            <a:endParaRPr sz="1780"/>
          </a:p>
          <a:p>
            <a:pPr marL="228600" indent="-228600">
              <a:buSzPct val="100000"/>
              <a:buChar char="•"/>
            </a:pPr>
            <a:r>
              <a:rPr sz="1780">
                <a:solidFill>
                  <a:srgbClr val="1F2937"/>
                </a:solidFill>
                <a:latin typeface="Aptos"/>
                <a:ea typeface="Aptos"/>
                <a:cs typeface="Aptos"/>
              </a:rPr>
              <a:t>The API can help developers check whether a request is becoming too large for the selected model’s context window.</a:t>
            </a:r>
            <a:endParaRPr sz="1780"/>
          </a:p>
          <a:p>
            <a:pPr marL="228600" indent="-228600">
              <a:buSzPct val="100000"/>
              <a:buChar char="•"/>
            </a:pPr>
            <a:r>
              <a:rPr sz="1780">
                <a:solidFill>
                  <a:srgbClr val="1F2937"/>
                </a:solidFill>
                <a:latin typeface="Aptos"/>
                <a:ea typeface="Aptos"/>
                <a:cs typeface="Aptos"/>
              </a:rPr>
              <a:t>It can also help estimate expected token usage before inference, which makes cost planning easier.</a:t>
            </a:r>
            <a:endParaRPr sz="1780"/>
          </a:p>
          <a:p>
            <a:pPr marL="228600" indent="-228600">
              <a:buSzPct val="100000"/>
              <a:buChar char="•"/>
            </a:pPr>
            <a:r>
              <a:rPr sz="1780">
                <a:solidFill>
                  <a:srgbClr val="1F2937"/>
                </a:solidFill>
                <a:latin typeface="Aptos"/>
                <a:ea typeface="Aptos"/>
                <a:cs typeface="Aptos"/>
              </a:rPr>
              <a:t>Different models may tokenize the same text differently, so token counts should be checked for the actual model being used.</a:t>
            </a:r>
            <a:endParaRPr sz="1780"/>
          </a:p>
        </p:txBody>
      </p:sp>
      <p:sp>
        <p:nvSpPr>
          <p:cNvPr id="4" name="Shape 2">
            <a:extLst>
              <a:ext uri="{FF2B5EF4-FFF2-40B4-BE49-F238E27FC236}">
                <a16:creationId xmlns:a16="http://schemas.microsoft.com/office/drawing/2014/main" id="{1509ABE6-694A-45E9-9806-F6F24619CD3C}"/>
              </a:ext>
            </a:extLst>
          </p:cNvPr>
          <p:cNvSpPr>
            <a:spLocks noGrp="1"/>
          </p:cNvSpPr>
          <p:nvPr/>
        </p:nvSpPr>
        <p:spPr>
          <a:xfrm>
            <a:off x="822960" y="4709160"/>
            <a:ext cx="1995221" cy="566928"/>
          </a:xfrm>
          <a:prstGeom prst="roundRect">
            <a:avLst/>
          </a:prstGeom>
          <a:solidFill>
            <a:srgbClr val="EAF2FB"/>
          </a:solidFill>
          <a:ln w="12700">
            <a:solidFill>
              <a:srgbClr val="255C99"/>
            </a:solidFill>
            <a:prstDash val="solid"/>
          </a:ln>
        </p:spPr>
        <p:txBody>
          <a:bodyPr/>
          <a:lstStyle/>
          <a:p>
            <a:endParaRPr lang="en-IN"/>
          </a:p>
        </p:txBody>
      </p:sp>
      <p:sp>
        <p:nvSpPr>
          <p:cNvPr id="5" name="Text 3">
            <a:extLst>
              <a:ext uri="{FF2B5EF4-FFF2-40B4-BE49-F238E27FC236}">
                <a16:creationId xmlns:a16="http://schemas.microsoft.com/office/drawing/2014/main" id="{961C52B7-AD9E-4229-93FC-98E1D3999242}"/>
              </a:ext>
            </a:extLst>
          </p:cNvPr>
          <p:cNvSpPr>
            <a:spLocks noGrp="1"/>
          </p:cNvSpPr>
          <p:nvPr/>
        </p:nvSpPr>
        <p:spPr>
          <a:xfrm>
            <a:off x="877824" y="481888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Prompt</a:t>
            </a:r>
            <a:endParaRPr sz="1240"/>
          </a:p>
        </p:txBody>
      </p:sp>
      <p:sp>
        <p:nvSpPr>
          <p:cNvPr id="6" name="Text 4">
            <a:extLst>
              <a:ext uri="{FF2B5EF4-FFF2-40B4-BE49-F238E27FC236}">
                <a16:creationId xmlns:a16="http://schemas.microsoft.com/office/drawing/2014/main" id="{F8950FBE-1897-4D01-AA99-6D8D111EC39D}"/>
              </a:ext>
            </a:extLst>
          </p:cNvPr>
          <p:cNvSpPr>
            <a:spLocks noGrp="1"/>
          </p:cNvSpPr>
          <p:nvPr/>
        </p:nvSpPr>
        <p:spPr>
          <a:xfrm>
            <a:off x="2809037"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7" name="Shape 5">
            <a:extLst>
              <a:ext uri="{FF2B5EF4-FFF2-40B4-BE49-F238E27FC236}">
                <a16:creationId xmlns:a16="http://schemas.microsoft.com/office/drawing/2014/main" id="{BCA76104-E892-484F-963F-4F880065C18B}"/>
              </a:ext>
            </a:extLst>
          </p:cNvPr>
          <p:cNvSpPr>
            <a:spLocks noGrp="1"/>
          </p:cNvSpPr>
          <p:nvPr/>
        </p:nvSpPr>
        <p:spPr>
          <a:xfrm>
            <a:off x="2964485" y="4709160"/>
            <a:ext cx="1995221" cy="566928"/>
          </a:xfrm>
          <a:prstGeom prst="roundRect">
            <a:avLst/>
          </a:prstGeom>
          <a:solidFill>
            <a:srgbClr val="FFF4E6"/>
          </a:solidFill>
          <a:ln w="12700">
            <a:solidFill>
              <a:srgbClr val="FF9900"/>
            </a:solidFill>
            <a:prstDash val="solid"/>
          </a:ln>
        </p:spPr>
        <p:txBody>
          <a:bodyPr/>
          <a:lstStyle/>
          <a:p>
            <a:endParaRPr lang="en-IN"/>
          </a:p>
        </p:txBody>
      </p:sp>
      <p:sp>
        <p:nvSpPr>
          <p:cNvPr id="8" name="Text 6">
            <a:extLst>
              <a:ext uri="{FF2B5EF4-FFF2-40B4-BE49-F238E27FC236}">
                <a16:creationId xmlns:a16="http://schemas.microsoft.com/office/drawing/2014/main" id="{0FC36D44-22E0-41DB-8951-555F618EC4B9}"/>
              </a:ext>
            </a:extLst>
          </p:cNvPr>
          <p:cNvSpPr>
            <a:spLocks noGrp="1"/>
          </p:cNvSpPr>
          <p:nvPr/>
        </p:nvSpPr>
        <p:spPr>
          <a:xfrm>
            <a:off x="3019349" y="481888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CountTokens</a:t>
            </a:r>
            <a:endParaRPr sz="1240"/>
          </a:p>
        </p:txBody>
      </p:sp>
      <p:sp>
        <p:nvSpPr>
          <p:cNvPr id="9" name="Text 7">
            <a:extLst>
              <a:ext uri="{FF2B5EF4-FFF2-40B4-BE49-F238E27FC236}">
                <a16:creationId xmlns:a16="http://schemas.microsoft.com/office/drawing/2014/main" id="{E197DCD6-D008-4211-9E1A-67DB74C19168}"/>
              </a:ext>
            </a:extLst>
          </p:cNvPr>
          <p:cNvSpPr>
            <a:spLocks noGrp="1"/>
          </p:cNvSpPr>
          <p:nvPr/>
        </p:nvSpPr>
        <p:spPr>
          <a:xfrm>
            <a:off x="4950562"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0" name="Shape 8">
            <a:extLst>
              <a:ext uri="{FF2B5EF4-FFF2-40B4-BE49-F238E27FC236}">
                <a16:creationId xmlns:a16="http://schemas.microsoft.com/office/drawing/2014/main" id="{89E88C99-08B2-419B-A6F9-26C4188373DF}"/>
              </a:ext>
            </a:extLst>
          </p:cNvPr>
          <p:cNvSpPr>
            <a:spLocks noGrp="1"/>
          </p:cNvSpPr>
          <p:nvPr/>
        </p:nvSpPr>
        <p:spPr>
          <a:xfrm>
            <a:off x="5106010" y="4709160"/>
            <a:ext cx="1995221" cy="566928"/>
          </a:xfrm>
          <a:prstGeom prst="roundRect">
            <a:avLst/>
          </a:prstGeom>
          <a:solidFill>
            <a:srgbClr val="EAF2FB"/>
          </a:solidFill>
          <a:ln w="12700">
            <a:solidFill>
              <a:srgbClr val="255C99"/>
            </a:solidFill>
            <a:prstDash val="solid"/>
          </a:ln>
        </p:spPr>
        <p:txBody>
          <a:bodyPr/>
          <a:lstStyle/>
          <a:p>
            <a:endParaRPr lang="en-IN"/>
          </a:p>
        </p:txBody>
      </p:sp>
      <p:sp>
        <p:nvSpPr>
          <p:cNvPr id="11" name="Text 9">
            <a:extLst>
              <a:ext uri="{FF2B5EF4-FFF2-40B4-BE49-F238E27FC236}">
                <a16:creationId xmlns:a16="http://schemas.microsoft.com/office/drawing/2014/main" id="{A456D8F8-D02A-4DE1-A267-C1B6C9B02973}"/>
              </a:ext>
            </a:extLst>
          </p:cNvPr>
          <p:cNvSpPr>
            <a:spLocks noGrp="1"/>
          </p:cNvSpPr>
          <p:nvPr/>
        </p:nvSpPr>
        <p:spPr>
          <a:xfrm>
            <a:off x="5160874" y="481888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Token Count</a:t>
            </a:r>
            <a:endParaRPr sz="1240"/>
          </a:p>
        </p:txBody>
      </p:sp>
      <p:sp>
        <p:nvSpPr>
          <p:cNvPr id="12" name="Text 10">
            <a:extLst>
              <a:ext uri="{FF2B5EF4-FFF2-40B4-BE49-F238E27FC236}">
                <a16:creationId xmlns:a16="http://schemas.microsoft.com/office/drawing/2014/main" id="{64F790C0-72A7-4B50-A852-707593692A75}"/>
              </a:ext>
            </a:extLst>
          </p:cNvPr>
          <p:cNvSpPr>
            <a:spLocks noGrp="1"/>
          </p:cNvSpPr>
          <p:nvPr/>
        </p:nvSpPr>
        <p:spPr>
          <a:xfrm>
            <a:off x="7092086"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3" name="Shape 11">
            <a:extLst>
              <a:ext uri="{FF2B5EF4-FFF2-40B4-BE49-F238E27FC236}">
                <a16:creationId xmlns:a16="http://schemas.microsoft.com/office/drawing/2014/main" id="{1D192326-8408-4B82-84DA-732D277CBED2}"/>
              </a:ext>
            </a:extLst>
          </p:cNvPr>
          <p:cNvSpPr>
            <a:spLocks noGrp="1"/>
          </p:cNvSpPr>
          <p:nvPr/>
        </p:nvSpPr>
        <p:spPr>
          <a:xfrm>
            <a:off x="7247534" y="4709160"/>
            <a:ext cx="1995221" cy="566928"/>
          </a:xfrm>
          <a:prstGeom prst="roundRect">
            <a:avLst/>
          </a:prstGeom>
          <a:solidFill>
            <a:srgbClr val="FFF4E6"/>
          </a:solidFill>
          <a:ln w="12700">
            <a:solidFill>
              <a:srgbClr val="FF9900"/>
            </a:solidFill>
            <a:prstDash val="solid"/>
          </a:ln>
        </p:spPr>
        <p:txBody>
          <a:bodyPr/>
          <a:lstStyle/>
          <a:p>
            <a:endParaRPr lang="en-IN"/>
          </a:p>
        </p:txBody>
      </p:sp>
      <p:sp>
        <p:nvSpPr>
          <p:cNvPr id="14" name="Text 12">
            <a:extLst>
              <a:ext uri="{FF2B5EF4-FFF2-40B4-BE49-F238E27FC236}">
                <a16:creationId xmlns:a16="http://schemas.microsoft.com/office/drawing/2014/main" id="{5624A935-7711-4622-85A2-C7E03661945C}"/>
              </a:ext>
            </a:extLst>
          </p:cNvPr>
          <p:cNvSpPr>
            <a:spLocks noGrp="1"/>
          </p:cNvSpPr>
          <p:nvPr/>
        </p:nvSpPr>
        <p:spPr>
          <a:xfrm>
            <a:off x="7302398" y="481888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Decide Whether to Send or Optimize</a:t>
            </a:r>
            <a:endParaRPr sz="1240"/>
          </a:p>
        </p:txBody>
      </p:sp>
      <p:sp>
        <p:nvSpPr>
          <p:cNvPr id="15" name="Text 13">
            <a:extLst>
              <a:ext uri="{FF2B5EF4-FFF2-40B4-BE49-F238E27FC236}">
                <a16:creationId xmlns:a16="http://schemas.microsoft.com/office/drawing/2014/main" id="{6D2DAC0E-BFAE-4971-B11E-0AF5F946A753}"/>
              </a:ext>
            </a:extLst>
          </p:cNvPr>
          <p:cNvSpPr>
            <a:spLocks noGrp="1"/>
          </p:cNvSpPr>
          <p:nvPr/>
        </p:nvSpPr>
        <p:spPr>
          <a:xfrm>
            <a:off x="9233611"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6" name="Shape 14">
            <a:extLst>
              <a:ext uri="{FF2B5EF4-FFF2-40B4-BE49-F238E27FC236}">
                <a16:creationId xmlns:a16="http://schemas.microsoft.com/office/drawing/2014/main" id="{F24E8D73-59FA-4559-9163-BDC2D71784A1}"/>
              </a:ext>
            </a:extLst>
          </p:cNvPr>
          <p:cNvSpPr>
            <a:spLocks noGrp="1"/>
          </p:cNvSpPr>
          <p:nvPr/>
        </p:nvSpPr>
        <p:spPr>
          <a:xfrm>
            <a:off x="9389059" y="4709160"/>
            <a:ext cx="1995221" cy="566928"/>
          </a:xfrm>
          <a:prstGeom prst="roundRect">
            <a:avLst/>
          </a:prstGeom>
          <a:solidFill>
            <a:srgbClr val="EAF2FB"/>
          </a:solidFill>
          <a:ln w="12700">
            <a:solidFill>
              <a:srgbClr val="255C99"/>
            </a:solidFill>
            <a:prstDash val="solid"/>
          </a:ln>
        </p:spPr>
        <p:txBody>
          <a:bodyPr/>
          <a:lstStyle/>
          <a:p>
            <a:endParaRPr lang="en-IN"/>
          </a:p>
        </p:txBody>
      </p:sp>
      <p:sp>
        <p:nvSpPr>
          <p:cNvPr id="17" name="Text 15">
            <a:extLst>
              <a:ext uri="{FF2B5EF4-FFF2-40B4-BE49-F238E27FC236}">
                <a16:creationId xmlns:a16="http://schemas.microsoft.com/office/drawing/2014/main" id="{31C2E045-8932-4B78-B6FF-0E4B9B9D5C98}"/>
              </a:ext>
            </a:extLst>
          </p:cNvPr>
          <p:cNvSpPr>
            <a:spLocks noGrp="1"/>
          </p:cNvSpPr>
          <p:nvPr/>
        </p:nvSpPr>
        <p:spPr>
          <a:xfrm>
            <a:off x="9443923" y="481888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Model</a:t>
            </a:r>
            <a:endParaRPr sz="1240"/>
          </a:p>
        </p:txBody>
      </p:sp>
      <p:sp>
        <p:nvSpPr>
          <p:cNvPr id="18" name="Shape 16">
            <a:extLst>
              <a:ext uri="{FF2B5EF4-FFF2-40B4-BE49-F238E27FC236}">
                <a16:creationId xmlns:a16="http://schemas.microsoft.com/office/drawing/2014/main" id="{17DE9F7A-54A7-4A25-9A05-1C6014FA234F}"/>
              </a:ext>
            </a:extLst>
          </p:cNvPr>
          <p:cNvSpPr>
            <a:spLocks noGrp="1"/>
          </p:cNvSpPr>
          <p:nvPr/>
        </p:nvSpPr>
        <p:spPr>
          <a:xfrm>
            <a:off x="658368" y="5486400"/>
            <a:ext cx="10881360" cy="658368"/>
          </a:xfrm>
          <a:prstGeom prst="roundRect">
            <a:avLst>
              <a:gd name="adj" fmla="val 11111"/>
            </a:avLst>
          </a:prstGeom>
          <a:solidFill>
            <a:srgbClr val="FFFFFF"/>
          </a:solidFill>
          <a:ln w="12700">
            <a:solidFill>
              <a:srgbClr val="FF9900"/>
            </a:solidFill>
            <a:prstDash val="solid"/>
          </a:ln>
        </p:spPr>
        <p:txBody>
          <a:bodyPr/>
          <a:lstStyle/>
          <a:p>
            <a:endParaRPr lang="en-IN"/>
          </a:p>
        </p:txBody>
      </p:sp>
      <p:sp>
        <p:nvSpPr>
          <p:cNvPr id="19" name="Text 17">
            <a:extLst>
              <a:ext uri="{FF2B5EF4-FFF2-40B4-BE49-F238E27FC236}">
                <a16:creationId xmlns:a16="http://schemas.microsoft.com/office/drawing/2014/main" id="{DABCF56D-93AD-48B3-B80A-A7B3E2F2D540}"/>
              </a:ext>
            </a:extLst>
          </p:cNvPr>
          <p:cNvSpPr>
            <a:spLocks noGrp="1"/>
          </p:cNvSpPr>
          <p:nvPr/>
        </p:nvSpPr>
        <p:spPr>
          <a:xfrm>
            <a:off x="868680" y="5596128"/>
            <a:ext cx="1371600" cy="219456"/>
          </a:xfrm>
          <a:prstGeom prst="rect">
            <a:avLst/>
          </a:prstGeom>
          <a:noFill/>
        </p:spPr>
        <p:txBody>
          <a:bodyPr wrap="square" lIns="0" tIns="0" rIns="0" bIns="0" anchor="ctr"/>
          <a:lstStyle/>
          <a:p>
            <a:pPr marL="0" indent="0">
              <a:buNone/>
            </a:pPr>
            <a:r>
              <a:rPr sz="1350" b="1">
                <a:solidFill>
                  <a:srgbClr val="FF9900"/>
                </a:solidFill>
              </a:rPr>
              <a:t>Main Benefit:</a:t>
            </a:r>
            <a:endParaRPr sz="1350"/>
          </a:p>
        </p:txBody>
      </p:sp>
      <p:sp>
        <p:nvSpPr>
          <p:cNvPr id="20" name="Text 18">
            <a:extLst>
              <a:ext uri="{FF2B5EF4-FFF2-40B4-BE49-F238E27FC236}">
                <a16:creationId xmlns:a16="http://schemas.microsoft.com/office/drawing/2014/main" id="{D5E5DD28-634D-4210-A301-2F2351503F78}"/>
              </a:ext>
            </a:extLst>
          </p:cNvPr>
          <p:cNvSpPr>
            <a:spLocks noGrp="1"/>
          </p:cNvSpPr>
          <p:nvPr/>
        </p:nvSpPr>
        <p:spPr>
          <a:xfrm>
            <a:off x="2148840" y="5568696"/>
            <a:ext cx="9098280" cy="310896"/>
          </a:xfrm>
          <a:prstGeom prst="rect">
            <a:avLst/>
          </a:prstGeom>
          <a:noFill/>
        </p:spPr>
        <p:txBody>
          <a:bodyPr wrap="square" lIns="0" tIns="0" rIns="0" bIns="0" anchor="ctr">
            <a:normAutofit/>
          </a:bodyPr>
          <a:lstStyle/>
          <a:p>
            <a:pPr marL="0" indent="0">
              <a:buNone/>
            </a:pPr>
            <a:r>
              <a:rPr sz="1520" b="1">
                <a:solidFill>
                  <a:srgbClr val="1F2937"/>
                </a:solidFill>
              </a:rPr>
              <a:t>We can measure the size of a request before paying for or processing the actual inference.</a:t>
            </a:r>
            <a:endParaRPr sz="1520"/>
          </a:p>
        </p:txBody>
      </p:sp>
      <p:sp>
        <p:nvSpPr>
          <p:cNvPr id="25" name="Slide Number Placeholder 0">
            <a:extLst>
              <a:ext uri="{FF2B5EF4-FFF2-40B4-BE49-F238E27FC236}">
                <a16:creationId xmlns:a16="http://schemas.microsoft.com/office/drawing/2014/main" id="{D54D7E1E-CB4A-4151-9F53-229D2885E580}"/>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4</a:t>
            </a:fld>
            <a:endParaRPr/>
          </a:p>
        </p:txBody>
      </p:sp>
    </p:spTree>
    <p:extLst>
      <p:ext uri="{BB962C8B-B14F-4D97-AF65-F5344CB8AC3E}">
        <p14:creationId xmlns:p14="http://schemas.microsoft.com/office/powerpoint/2010/main" val="466594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2E5387-13AA-4E83-90C2-FD0C800FAB09}"/>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Monitoring Token Usage with CloudWatch</a:t>
            </a:r>
            <a:endParaRPr sz="2500"/>
          </a:p>
        </p:txBody>
      </p:sp>
      <p:sp>
        <p:nvSpPr>
          <p:cNvPr id="3" name="Text 1">
            <a:extLst>
              <a:ext uri="{FF2B5EF4-FFF2-40B4-BE49-F238E27FC236}">
                <a16:creationId xmlns:a16="http://schemas.microsoft.com/office/drawing/2014/main" id="{21AED623-F17B-436F-BB92-4F8FA4A8CFD4}"/>
              </a:ext>
            </a:extLst>
          </p:cNvPr>
          <p:cNvSpPr>
            <a:spLocks noGrp="1"/>
          </p:cNvSpPr>
          <p:nvPr/>
        </p:nvSpPr>
        <p:spPr>
          <a:xfrm>
            <a:off x="694944" y="1188720"/>
            <a:ext cx="7315200" cy="4206240"/>
          </a:xfrm>
          <a:prstGeom prst="rect">
            <a:avLst/>
          </a:prstGeom>
          <a:noFill/>
        </p:spPr>
        <p:txBody>
          <a:bodyPr wrap="square" lIns="508" tIns="508" rIns="508" bIns="508" anchor="ctr">
            <a:normAutofit/>
          </a:bodyPr>
          <a:lstStyle/>
          <a:p>
            <a:pPr marL="228600" indent="-228600">
              <a:buSzPct val="100000"/>
              <a:buChar char="•"/>
            </a:pPr>
            <a:r>
              <a:rPr sz="1740">
                <a:solidFill>
                  <a:srgbClr val="1F2937"/>
                </a:solidFill>
                <a:latin typeface="Aptos"/>
                <a:ea typeface="Aptos"/>
                <a:cs typeface="Aptos"/>
              </a:rPr>
              <a:t>Token optimization should not depend only on guessing. Developers need real usage information from the running application.</a:t>
            </a:r>
            <a:endParaRPr sz="1740"/>
          </a:p>
          <a:p>
            <a:pPr marL="228600" indent="-228600">
              <a:buSzPct val="100000"/>
              <a:buChar char="•"/>
            </a:pPr>
            <a:r>
              <a:rPr sz="1740">
                <a:solidFill>
                  <a:srgbClr val="1F2937"/>
                </a:solidFill>
                <a:latin typeface="Aptos"/>
                <a:ea typeface="Aptos"/>
                <a:cs typeface="Aptos"/>
              </a:rPr>
              <a:t>Amazon CloudWatch can track metrics related to model usage, including input token count and output token count.</a:t>
            </a:r>
            <a:endParaRPr sz="1740"/>
          </a:p>
          <a:p>
            <a:pPr marL="228600" indent="-228600">
              <a:buSzPct val="100000"/>
              <a:buChar char="•"/>
            </a:pPr>
            <a:r>
              <a:rPr sz="1740">
                <a:solidFill>
                  <a:srgbClr val="1F2937"/>
                </a:solidFill>
                <a:latin typeface="Aptos"/>
                <a:ea typeface="Aptos"/>
                <a:cs typeface="Aptos"/>
              </a:rPr>
              <a:t>These metrics help identify prompts or workflows that are consuming more tokens than expected.</a:t>
            </a:r>
            <a:endParaRPr sz="1740"/>
          </a:p>
          <a:p>
            <a:pPr marL="228600" indent="-228600">
              <a:buSzPct val="100000"/>
              <a:buChar char="•"/>
            </a:pPr>
            <a:r>
              <a:rPr sz="1740">
                <a:solidFill>
                  <a:srgbClr val="1F2937"/>
                </a:solidFill>
                <a:latin typeface="Aptos"/>
                <a:ea typeface="Aptos"/>
                <a:cs typeface="Aptos"/>
              </a:rPr>
              <a:t>CloudWatch can also monitor other useful information such as request count, model latency, throttles, client errors, server errors, and streaming performance.</a:t>
            </a:r>
            <a:endParaRPr sz="1740"/>
          </a:p>
          <a:p>
            <a:pPr marL="228600" indent="-228600">
              <a:buSzPct val="100000"/>
              <a:buChar char="•"/>
            </a:pPr>
            <a:r>
              <a:rPr sz="1740">
                <a:solidFill>
                  <a:srgbClr val="1F2937"/>
                </a:solidFill>
                <a:latin typeface="Aptos"/>
                <a:ea typeface="Aptos"/>
                <a:cs typeface="Aptos"/>
              </a:rPr>
              <a:t>By monitoring these metrics over time, developers can see whether optimization changes actually improve the application.</a:t>
            </a:r>
            <a:endParaRPr sz="1740"/>
          </a:p>
        </p:txBody>
      </p:sp>
      <p:sp>
        <p:nvSpPr>
          <p:cNvPr id="4" name="Shape 2">
            <a:extLst>
              <a:ext uri="{FF2B5EF4-FFF2-40B4-BE49-F238E27FC236}">
                <a16:creationId xmlns:a16="http://schemas.microsoft.com/office/drawing/2014/main" id="{F9112897-DAE9-43E0-99E9-72BC2AEB8B99}"/>
              </a:ext>
            </a:extLst>
          </p:cNvPr>
          <p:cNvSpPr>
            <a:spLocks noGrp="1"/>
          </p:cNvSpPr>
          <p:nvPr/>
        </p:nvSpPr>
        <p:spPr>
          <a:xfrm>
            <a:off x="8321040" y="1417320"/>
            <a:ext cx="2926080" cy="3017520"/>
          </a:xfrm>
          <a:prstGeom prst="roundRect">
            <a:avLst/>
          </a:prstGeom>
          <a:solidFill>
            <a:srgbClr val="FFFFFF"/>
          </a:solidFill>
          <a:ln w="12700">
            <a:solidFill>
              <a:srgbClr val="D7DEE8"/>
            </a:solidFill>
            <a:prstDash val="solid"/>
          </a:ln>
        </p:spPr>
        <p:txBody>
          <a:bodyPr/>
          <a:lstStyle/>
          <a:p>
            <a:endParaRPr lang="en-IN"/>
          </a:p>
        </p:txBody>
      </p:sp>
      <p:sp>
        <p:nvSpPr>
          <p:cNvPr id="5" name="Text 3">
            <a:extLst>
              <a:ext uri="{FF2B5EF4-FFF2-40B4-BE49-F238E27FC236}">
                <a16:creationId xmlns:a16="http://schemas.microsoft.com/office/drawing/2014/main" id="{706EA445-7155-493F-BA91-787663B45F6F}"/>
              </a:ext>
            </a:extLst>
          </p:cNvPr>
          <p:cNvSpPr>
            <a:spLocks noGrp="1"/>
          </p:cNvSpPr>
          <p:nvPr/>
        </p:nvSpPr>
        <p:spPr>
          <a:xfrm>
            <a:off x="8595360" y="1700784"/>
            <a:ext cx="1280160" cy="274320"/>
          </a:xfrm>
          <a:prstGeom prst="rect">
            <a:avLst/>
          </a:prstGeom>
          <a:noFill/>
        </p:spPr>
        <p:txBody>
          <a:bodyPr wrap="square" lIns="0" tIns="0" rIns="0" bIns="0" anchor="ctr"/>
          <a:lstStyle/>
          <a:p>
            <a:pPr marL="0" indent="0">
              <a:buNone/>
            </a:pPr>
            <a:r>
              <a:rPr sz="1700" b="1">
                <a:solidFill>
                  <a:srgbClr val="FF9900"/>
                </a:solidFill>
              </a:rPr>
              <a:t>Example:</a:t>
            </a:r>
            <a:endParaRPr sz="1700"/>
          </a:p>
        </p:txBody>
      </p:sp>
      <p:sp>
        <p:nvSpPr>
          <p:cNvPr id="6" name="Text 4">
            <a:extLst>
              <a:ext uri="{FF2B5EF4-FFF2-40B4-BE49-F238E27FC236}">
                <a16:creationId xmlns:a16="http://schemas.microsoft.com/office/drawing/2014/main" id="{6B4F4B0F-6059-46C8-A345-49109192227D}"/>
              </a:ext>
            </a:extLst>
          </p:cNvPr>
          <p:cNvSpPr>
            <a:spLocks noGrp="1"/>
          </p:cNvSpPr>
          <p:nvPr/>
        </p:nvSpPr>
        <p:spPr>
          <a:xfrm>
            <a:off x="8577072" y="2194560"/>
            <a:ext cx="2423160" cy="1645920"/>
          </a:xfrm>
          <a:prstGeom prst="rect">
            <a:avLst/>
          </a:prstGeom>
          <a:noFill/>
        </p:spPr>
        <p:txBody>
          <a:bodyPr wrap="square" lIns="0" tIns="0" rIns="0" bIns="0" anchor="ctr">
            <a:normAutofit/>
          </a:bodyPr>
          <a:lstStyle/>
          <a:p>
            <a:pPr marL="0" indent="0">
              <a:buNone/>
            </a:pPr>
            <a:r>
              <a:rPr sz="1620">
                <a:solidFill>
                  <a:srgbClr val="1F2937"/>
                </a:solidFill>
              </a:rPr>
              <a:t>If one workflow suddenly starts using much more input context, CloudWatch metrics can help identify the increase before it becomes a larger cost problem.</a:t>
            </a:r>
            <a:endParaRPr sz="1620"/>
          </a:p>
        </p:txBody>
      </p:sp>
      <p:sp>
        <p:nvSpPr>
          <p:cNvPr id="7" name="Shape 5">
            <a:extLst>
              <a:ext uri="{FF2B5EF4-FFF2-40B4-BE49-F238E27FC236}">
                <a16:creationId xmlns:a16="http://schemas.microsoft.com/office/drawing/2014/main" id="{84E67920-558A-4C29-9C0E-543EBB7F6421}"/>
              </a:ext>
            </a:extLst>
          </p:cNvPr>
          <p:cNvSpPr>
            <a:spLocks noGrp="1"/>
          </p:cNvSpPr>
          <p:nvPr/>
        </p:nvSpPr>
        <p:spPr>
          <a:xfrm>
            <a:off x="658368" y="5422392"/>
            <a:ext cx="10881360" cy="658368"/>
          </a:xfrm>
          <a:prstGeom prst="roundRect">
            <a:avLst>
              <a:gd name="adj" fmla="val 11111"/>
            </a:avLst>
          </a:prstGeom>
          <a:solidFill>
            <a:srgbClr val="FFFFFF"/>
          </a:solidFill>
          <a:ln w="12700">
            <a:solidFill>
              <a:srgbClr val="255C99"/>
            </a:solidFill>
            <a:prstDash val="solid"/>
          </a:ln>
        </p:spPr>
        <p:txBody>
          <a:bodyPr/>
          <a:lstStyle/>
          <a:p>
            <a:endParaRPr lang="en-IN"/>
          </a:p>
        </p:txBody>
      </p:sp>
      <p:sp>
        <p:nvSpPr>
          <p:cNvPr id="8" name="Text 6">
            <a:extLst>
              <a:ext uri="{FF2B5EF4-FFF2-40B4-BE49-F238E27FC236}">
                <a16:creationId xmlns:a16="http://schemas.microsoft.com/office/drawing/2014/main" id="{681AD1A5-EFE3-46A9-A392-E0C8A8EE6ACA}"/>
              </a:ext>
            </a:extLst>
          </p:cNvPr>
          <p:cNvSpPr>
            <a:spLocks noGrp="1"/>
          </p:cNvSpPr>
          <p:nvPr/>
        </p:nvSpPr>
        <p:spPr>
          <a:xfrm>
            <a:off x="868680" y="5532120"/>
            <a:ext cx="1371600" cy="219456"/>
          </a:xfrm>
          <a:prstGeom prst="rect">
            <a:avLst/>
          </a:prstGeom>
          <a:noFill/>
        </p:spPr>
        <p:txBody>
          <a:bodyPr wrap="square" lIns="0" tIns="0" rIns="0" bIns="0" anchor="ctr"/>
          <a:lstStyle/>
          <a:p>
            <a:pPr marL="0" indent="0">
              <a:buNone/>
            </a:pPr>
            <a:r>
              <a:rPr sz="1350" b="1">
                <a:solidFill>
                  <a:srgbClr val="255C99"/>
                </a:solidFill>
              </a:rPr>
              <a:t>Main Idea:</a:t>
            </a:r>
            <a:endParaRPr sz="1350"/>
          </a:p>
        </p:txBody>
      </p:sp>
      <p:sp>
        <p:nvSpPr>
          <p:cNvPr id="9" name="Text 7">
            <a:extLst>
              <a:ext uri="{FF2B5EF4-FFF2-40B4-BE49-F238E27FC236}">
                <a16:creationId xmlns:a16="http://schemas.microsoft.com/office/drawing/2014/main" id="{9DBE9B84-EA00-4412-A8EE-BE8F3251770C}"/>
              </a:ext>
            </a:extLst>
          </p:cNvPr>
          <p:cNvSpPr>
            <a:spLocks noGrp="1"/>
          </p:cNvSpPr>
          <p:nvPr/>
        </p:nvSpPr>
        <p:spPr>
          <a:xfrm>
            <a:off x="2148840" y="5504688"/>
            <a:ext cx="9098280" cy="310896"/>
          </a:xfrm>
          <a:prstGeom prst="rect">
            <a:avLst/>
          </a:prstGeom>
          <a:noFill/>
        </p:spPr>
        <p:txBody>
          <a:bodyPr wrap="square" lIns="0" tIns="0" rIns="0" bIns="0" anchor="ctr">
            <a:normAutofit/>
          </a:bodyPr>
          <a:lstStyle/>
          <a:p>
            <a:pPr marL="0" indent="0">
              <a:buNone/>
            </a:pPr>
            <a:r>
              <a:rPr sz="1520" b="1">
                <a:solidFill>
                  <a:srgbClr val="1F2937"/>
                </a:solidFill>
              </a:rPr>
              <a:t>Measure first, then optimize.</a:t>
            </a:r>
            <a:endParaRPr sz="1520"/>
          </a:p>
        </p:txBody>
      </p:sp>
      <p:sp>
        <p:nvSpPr>
          <p:cNvPr id="25" name="Slide Number Placeholder 0">
            <a:extLst>
              <a:ext uri="{FF2B5EF4-FFF2-40B4-BE49-F238E27FC236}">
                <a16:creationId xmlns:a16="http://schemas.microsoft.com/office/drawing/2014/main" id="{F4B77579-3407-452C-B2E6-3B5841523267}"/>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5</a:t>
            </a:fld>
            <a:endParaRPr/>
          </a:p>
        </p:txBody>
      </p:sp>
    </p:spTree>
    <p:extLst>
      <p:ext uri="{BB962C8B-B14F-4D97-AF65-F5344CB8AC3E}">
        <p14:creationId xmlns:p14="http://schemas.microsoft.com/office/powerpoint/2010/main" val="1567197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9DAF7D1-F643-4C4D-8227-427B02DC040C}"/>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What Is Context Window Optimization?</a:t>
            </a:r>
            <a:endParaRPr sz="2500"/>
          </a:p>
        </p:txBody>
      </p:sp>
      <p:sp>
        <p:nvSpPr>
          <p:cNvPr id="3" name="Text 1">
            <a:extLst>
              <a:ext uri="{FF2B5EF4-FFF2-40B4-BE49-F238E27FC236}">
                <a16:creationId xmlns:a16="http://schemas.microsoft.com/office/drawing/2014/main" id="{2D022F9B-B270-4E0D-BFF7-41D0DBFF8855}"/>
              </a:ext>
            </a:extLst>
          </p:cNvPr>
          <p:cNvSpPr>
            <a:spLocks noGrp="1"/>
          </p:cNvSpPr>
          <p:nvPr/>
        </p:nvSpPr>
        <p:spPr>
          <a:xfrm>
            <a:off x="713232" y="1188720"/>
            <a:ext cx="10698480" cy="4160520"/>
          </a:xfrm>
          <a:prstGeom prst="rect">
            <a:avLst/>
          </a:prstGeom>
          <a:noFill/>
        </p:spPr>
        <p:txBody>
          <a:bodyPr wrap="square" lIns="508" tIns="508" rIns="508" bIns="508" anchor="ctr">
            <a:normAutofit/>
          </a:bodyPr>
          <a:lstStyle/>
          <a:p>
            <a:pPr marL="228600" indent="-228600">
              <a:buSzPct val="100000"/>
              <a:buChar char="•"/>
            </a:pPr>
            <a:r>
              <a:rPr sz="1780">
                <a:solidFill>
                  <a:srgbClr val="1F2937"/>
                </a:solidFill>
                <a:latin typeface="Aptos"/>
                <a:ea typeface="Aptos"/>
                <a:cs typeface="Aptos"/>
              </a:rPr>
              <a:t>The context window is the amount of information a model can consider during one request.</a:t>
            </a:r>
            <a:endParaRPr sz="1780"/>
          </a:p>
          <a:p>
            <a:pPr marL="228600" indent="-228600">
              <a:buSzPct val="100000"/>
              <a:buChar char="•"/>
            </a:pPr>
            <a:r>
              <a:rPr sz="1780">
                <a:solidFill>
                  <a:srgbClr val="1F2937"/>
                </a:solidFill>
                <a:latin typeface="Aptos"/>
                <a:ea typeface="Aptos"/>
                <a:cs typeface="Aptos"/>
              </a:rPr>
              <a:t>That context can contain system instructions, the current user request, earlier conversation messages, retrieved documents, examples, and other supporting information.</a:t>
            </a:r>
            <a:endParaRPr sz="1780"/>
          </a:p>
          <a:p>
            <a:pPr marL="228600" indent="-228600">
              <a:buSzPct val="100000"/>
              <a:buChar char="•"/>
            </a:pPr>
            <a:r>
              <a:rPr sz="1780">
                <a:solidFill>
                  <a:srgbClr val="1F2937"/>
                </a:solidFill>
                <a:latin typeface="Aptos"/>
                <a:ea typeface="Aptos"/>
                <a:cs typeface="Aptos"/>
              </a:rPr>
              <a:t>Adding more context may seem helpful, but too much information can increase token usage and may also distract the model with irrelevant content.</a:t>
            </a:r>
            <a:endParaRPr sz="1780"/>
          </a:p>
          <a:p>
            <a:pPr marL="228600" indent="-228600">
              <a:buSzPct val="100000"/>
              <a:buChar char="•"/>
            </a:pPr>
            <a:r>
              <a:rPr sz="1780">
                <a:solidFill>
                  <a:srgbClr val="1F2937"/>
                </a:solidFill>
                <a:latin typeface="Aptos"/>
                <a:ea typeface="Aptos"/>
                <a:cs typeface="Aptos"/>
              </a:rPr>
              <a:t>Context-window optimization means keeping the information that is useful while removing or reducing information that does not help the current task.</a:t>
            </a:r>
            <a:endParaRPr sz="1780"/>
          </a:p>
          <a:p>
            <a:pPr marL="228600" indent="-228600">
              <a:buSzPct val="100000"/>
              <a:buChar char="•"/>
            </a:pPr>
            <a:r>
              <a:rPr sz="1780">
                <a:solidFill>
                  <a:srgbClr val="1F2937"/>
                </a:solidFill>
                <a:latin typeface="Aptos"/>
                <a:ea typeface="Aptos"/>
                <a:cs typeface="Aptos"/>
              </a:rPr>
              <a:t>This is especially important in long conversations and RAG applications where the amount of context can grow quickly.</a:t>
            </a:r>
            <a:endParaRPr sz="1780"/>
          </a:p>
        </p:txBody>
      </p:sp>
      <p:sp>
        <p:nvSpPr>
          <p:cNvPr id="4" name="Shape 2">
            <a:extLst>
              <a:ext uri="{FF2B5EF4-FFF2-40B4-BE49-F238E27FC236}">
                <a16:creationId xmlns:a16="http://schemas.microsoft.com/office/drawing/2014/main" id="{C10253C5-E1F6-4BC6-8944-77267C98572A}"/>
              </a:ext>
            </a:extLst>
          </p:cNvPr>
          <p:cNvSpPr>
            <a:spLocks noGrp="1"/>
          </p:cNvSpPr>
          <p:nvPr/>
        </p:nvSpPr>
        <p:spPr>
          <a:xfrm>
            <a:off x="658368" y="5413248"/>
            <a:ext cx="10881360" cy="658368"/>
          </a:xfrm>
          <a:prstGeom prst="roundRect">
            <a:avLst>
              <a:gd name="adj" fmla="val 11111"/>
            </a:avLst>
          </a:prstGeom>
          <a:solidFill>
            <a:srgbClr val="FFFFFF"/>
          </a:solidFill>
          <a:ln w="12700">
            <a:solidFill>
              <a:srgbClr val="6B46C1"/>
            </a:solidFill>
            <a:prstDash val="solid"/>
          </a:ln>
        </p:spPr>
        <p:txBody>
          <a:bodyPr/>
          <a:lstStyle/>
          <a:p>
            <a:endParaRPr lang="en-IN"/>
          </a:p>
        </p:txBody>
      </p:sp>
      <p:sp>
        <p:nvSpPr>
          <p:cNvPr id="5" name="Text 3">
            <a:extLst>
              <a:ext uri="{FF2B5EF4-FFF2-40B4-BE49-F238E27FC236}">
                <a16:creationId xmlns:a16="http://schemas.microsoft.com/office/drawing/2014/main" id="{2FAB1BA5-B584-47BA-9BEF-E3AC57353825}"/>
              </a:ext>
            </a:extLst>
          </p:cNvPr>
          <p:cNvSpPr>
            <a:spLocks noGrp="1"/>
          </p:cNvSpPr>
          <p:nvPr/>
        </p:nvSpPr>
        <p:spPr>
          <a:xfrm>
            <a:off x="868680" y="5522976"/>
            <a:ext cx="1371600" cy="219456"/>
          </a:xfrm>
          <a:prstGeom prst="rect">
            <a:avLst/>
          </a:prstGeom>
          <a:noFill/>
        </p:spPr>
        <p:txBody>
          <a:bodyPr wrap="square" lIns="0" tIns="0" rIns="0" bIns="0" anchor="ctr"/>
          <a:lstStyle/>
          <a:p>
            <a:pPr marL="0" indent="0">
              <a:buNone/>
            </a:pPr>
            <a:r>
              <a:rPr sz="1350" b="1">
                <a:solidFill>
                  <a:srgbClr val="6B46C1"/>
                </a:solidFill>
              </a:rPr>
              <a:t>Main Lesson:</a:t>
            </a:r>
            <a:endParaRPr sz="1350"/>
          </a:p>
        </p:txBody>
      </p:sp>
      <p:sp>
        <p:nvSpPr>
          <p:cNvPr id="6" name="Text 4">
            <a:extLst>
              <a:ext uri="{FF2B5EF4-FFF2-40B4-BE49-F238E27FC236}">
                <a16:creationId xmlns:a16="http://schemas.microsoft.com/office/drawing/2014/main" id="{2D51661E-46EC-4B36-A59D-A6DAD7C2EA24}"/>
              </a:ext>
            </a:extLst>
          </p:cNvPr>
          <p:cNvSpPr>
            <a:spLocks noGrp="1"/>
          </p:cNvSpPr>
          <p:nvPr/>
        </p:nvSpPr>
        <p:spPr>
          <a:xfrm>
            <a:off x="2148840" y="5495544"/>
            <a:ext cx="9098280" cy="310896"/>
          </a:xfrm>
          <a:prstGeom prst="rect">
            <a:avLst/>
          </a:prstGeom>
          <a:noFill/>
        </p:spPr>
        <p:txBody>
          <a:bodyPr wrap="square" lIns="0" tIns="0" rIns="0" bIns="0" anchor="ctr">
            <a:normAutofit/>
          </a:bodyPr>
          <a:lstStyle/>
          <a:p>
            <a:pPr marL="0" indent="0">
              <a:buNone/>
            </a:pPr>
            <a:r>
              <a:rPr sz="1520" b="1">
                <a:solidFill>
                  <a:srgbClr val="1F2937"/>
                </a:solidFill>
              </a:rPr>
              <a:t>The goal is not to give the model the most information. The goal is to give it the most useful information.</a:t>
            </a:r>
            <a:endParaRPr sz="1520"/>
          </a:p>
        </p:txBody>
      </p:sp>
      <p:sp>
        <p:nvSpPr>
          <p:cNvPr id="25" name="Slide Number Placeholder 0">
            <a:extLst>
              <a:ext uri="{FF2B5EF4-FFF2-40B4-BE49-F238E27FC236}">
                <a16:creationId xmlns:a16="http://schemas.microsoft.com/office/drawing/2014/main" id="{FE91A3B5-89B5-444B-9FEA-C7393EBDC528}"/>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6</a:t>
            </a:fld>
            <a:endParaRPr/>
          </a:p>
        </p:txBody>
      </p:sp>
    </p:spTree>
    <p:extLst>
      <p:ext uri="{BB962C8B-B14F-4D97-AF65-F5344CB8AC3E}">
        <p14:creationId xmlns:p14="http://schemas.microsoft.com/office/powerpoint/2010/main" val="90170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D9DFAC2-3E43-45C0-B1FC-CB8ECE2679FE}"/>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Context Pruning in RAG Applications</a:t>
            </a:r>
            <a:endParaRPr sz="2500"/>
          </a:p>
        </p:txBody>
      </p:sp>
      <p:sp>
        <p:nvSpPr>
          <p:cNvPr id="3" name="Text 1">
            <a:extLst>
              <a:ext uri="{FF2B5EF4-FFF2-40B4-BE49-F238E27FC236}">
                <a16:creationId xmlns:a16="http://schemas.microsoft.com/office/drawing/2014/main" id="{25E645CA-0C3E-4A9C-8D91-60BB379AE3DD}"/>
              </a:ext>
            </a:extLst>
          </p:cNvPr>
          <p:cNvSpPr>
            <a:spLocks noGrp="1"/>
          </p:cNvSpPr>
          <p:nvPr/>
        </p:nvSpPr>
        <p:spPr>
          <a:xfrm>
            <a:off x="694944" y="1143000"/>
            <a:ext cx="7132320" cy="4251960"/>
          </a:xfrm>
          <a:prstGeom prst="rect">
            <a:avLst/>
          </a:prstGeom>
          <a:noFill/>
        </p:spPr>
        <p:txBody>
          <a:bodyPr wrap="square" lIns="508" tIns="508" rIns="508" bIns="508" anchor="ctr">
            <a:normAutofit/>
          </a:bodyPr>
          <a:lstStyle/>
          <a:p>
            <a:pPr marL="228600" indent="-228600">
              <a:buSzPct val="100000"/>
              <a:buChar char="•"/>
            </a:pPr>
            <a:r>
              <a:rPr sz="1720">
                <a:solidFill>
                  <a:srgbClr val="1F2937"/>
                </a:solidFill>
                <a:latin typeface="Aptos"/>
                <a:ea typeface="Aptos"/>
                <a:cs typeface="Aptos"/>
              </a:rPr>
              <a:t>In a RAG application, the retriever may find several chunks of information related to a user’s question.</a:t>
            </a:r>
            <a:endParaRPr sz="1720"/>
          </a:p>
          <a:p>
            <a:pPr marL="228600" indent="-228600">
              <a:buSzPct val="100000"/>
              <a:buChar char="•"/>
            </a:pPr>
            <a:r>
              <a:rPr sz="1720">
                <a:solidFill>
                  <a:srgbClr val="1F2937"/>
                </a:solidFill>
                <a:latin typeface="Aptos"/>
                <a:ea typeface="Aptos"/>
                <a:cs typeface="Aptos"/>
              </a:rPr>
              <a:t>Sending every retrieved chunk to the model can increase token usage even when some chunks are only weakly related to the question.</a:t>
            </a:r>
            <a:endParaRPr sz="1720"/>
          </a:p>
          <a:p>
            <a:pPr marL="228600" indent="-228600">
              <a:buSzPct val="100000"/>
              <a:buChar char="•"/>
            </a:pPr>
            <a:r>
              <a:rPr sz="1720">
                <a:solidFill>
                  <a:srgbClr val="1F2937"/>
                </a:solidFill>
                <a:latin typeface="Aptos"/>
                <a:ea typeface="Aptos"/>
                <a:cs typeface="Aptos"/>
              </a:rPr>
              <a:t>One optimization technique is to limit the number of chunks retrieved and only send the most relevant results.</a:t>
            </a:r>
            <a:endParaRPr sz="1720"/>
          </a:p>
          <a:p>
            <a:pPr marL="228600" indent="-228600">
              <a:buSzPct val="100000"/>
              <a:buChar char="•"/>
            </a:pPr>
            <a:r>
              <a:rPr sz="1720">
                <a:solidFill>
                  <a:srgbClr val="1F2937"/>
                </a:solidFill>
                <a:latin typeface="Aptos"/>
                <a:ea typeface="Aptos"/>
                <a:cs typeface="Aptos"/>
              </a:rPr>
              <a:t>Metadata filters can also remove information that does not match important conditions such as document type, department, date, product, or user permissions.</a:t>
            </a:r>
            <a:endParaRPr sz="1720"/>
          </a:p>
          <a:p>
            <a:pPr marL="228600" indent="-228600">
              <a:buSzPct val="100000"/>
              <a:buChar char="•"/>
            </a:pPr>
            <a:r>
              <a:rPr sz="1720">
                <a:solidFill>
                  <a:srgbClr val="1F2937"/>
                </a:solidFill>
                <a:latin typeface="Aptos"/>
                <a:ea typeface="Aptos"/>
                <a:cs typeface="Aptos"/>
              </a:rPr>
              <a:t>Better retrieval means the Foundation Model receives a smaller and more focused context.</a:t>
            </a:r>
            <a:endParaRPr sz="1720"/>
          </a:p>
        </p:txBody>
      </p:sp>
      <p:sp>
        <p:nvSpPr>
          <p:cNvPr id="4" name="Shape 2">
            <a:extLst>
              <a:ext uri="{FF2B5EF4-FFF2-40B4-BE49-F238E27FC236}">
                <a16:creationId xmlns:a16="http://schemas.microsoft.com/office/drawing/2014/main" id="{41848967-0F03-4AB7-98F0-488EE584ABC3}"/>
              </a:ext>
            </a:extLst>
          </p:cNvPr>
          <p:cNvSpPr>
            <a:spLocks noGrp="1"/>
          </p:cNvSpPr>
          <p:nvPr/>
        </p:nvSpPr>
        <p:spPr>
          <a:xfrm>
            <a:off x="8138160" y="1353312"/>
            <a:ext cx="3154680" cy="3611880"/>
          </a:xfrm>
          <a:prstGeom prst="roundRect">
            <a:avLst/>
          </a:prstGeom>
          <a:solidFill>
            <a:srgbClr val="FFFFFF"/>
          </a:solidFill>
          <a:ln w="12700">
            <a:solidFill>
              <a:srgbClr val="D7DEE8"/>
            </a:solidFill>
            <a:prstDash val="solid"/>
          </a:ln>
        </p:spPr>
        <p:txBody>
          <a:bodyPr/>
          <a:lstStyle/>
          <a:p>
            <a:endParaRPr lang="en-IN"/>
          </a:p>
        </p:txBody>
      </p:sp>
      <p:sp>
        <p:nvSpPr>
          <p:cNvPr id="5" name="Text 3">
            <a:extLst>
              <a:ext uri="{FF2B5EF4-FFF2-40B4-BE49-F238E27FC236}">
                <a16:creationId xmlns:a16="http://schemas.microsoft.com/office/drawing/2014/main" id="{AEFA4E67-762F-47AF-8FC1-20B6CF0DB550}"/>
              </a:ext>
            </a:extLst>
          </p:cNvPr>
          <p:cNvSpPr>
            <a:spLocks noGrp="1"/>
          </p:cNvSpPr>
          <p:nvPr/>
        </p:nvSpPr>
        <p:spPr>
          <a:xfrm>
            <a:off x="8412480" y="1645920"/>
            <a:ext cx="1280160" cy="274320"/>
          </a:xfrm>
          <a:prstGeom prst="rect">
            <a:avLst/>
          </a:prstGeom>
          <a:noFill/>
        </p:spPr>
        <p:txBody>
          <a:bodyPr wrap="square" lIns="0" tIns="0" rIns="0" bIns="0" anchor="ctr"/>
          <a:lstStyle/>
          <a:p>
            <a:pPr marL="0" indent="0">
              <a:buNone/>
            </a:pPr>
            <a:r>
              <a:rPr sz="1700" b="1">
                <a:solidFill>
                  <a:srgbClr val="FF9900"/>
                </a:solidFill>
              </a:rPr>
              <a:t>Example:</a:t>
            </a:r>
            <a:endParaRPr sz="1700"/>
          </a:p>
        </p:txBody>
      </p:sp>
      <p:sp>
        <p:nvSpPr>
          <p:cNvPr id="6" name="Text 4">
            <a:extLst>
              <a:ext uri="{FF2B5EF4-FFF2-40B4-BE49-F238E27FC236}">
                <a16:creationId xmlns:a16="http://schemas.microsoft.com/office/drawing/2014/main" id="{56B8E7A0-4CE4-4778-8E53-6DA6CDBE1638}"/>
              </a:ext>
            </a:extLst>
          </p:cNvPr>
          <p:cNvSpPr>
            <a:spLocks noGrp="1"/>
          </p:cNvSpPr>
          <p:nvPr/>
        </p:nvSpPr>
        <p:spPr>
          <a:xfrm>
            <a:off x="8412480" y="2057399"/>
            <a:ext cx="2496312" cy="2715883"/>
          </a:xfrm>
          <a:prstGeom prst="rect">
            <a:avLst/>
          </a:prstGeom>
          <a:noFill/>
        </p:spPr>
        <p:txBody>
          <a:bodyPr wrap="square" lIns="0" tIns="0" rIns="0" bIns="0" anchor="ctr">
            <a:normAutofit/>
          </a:bodyPr>
          <a:lstStyle/>
          <a:p>
            <a:pPr marL="0" indent="0">
              <a:buNone/>
            </a:pPr>
            <a:r>
              <a:rPr sz="1580" dirty="0">
                <a:solidFill>
                  <a:srgbClr val="1F2937"/>
                </a:solidFill>
              </a:rPr>
              <a:t>User asks about the company’s 2026 vacation policy.</a:t>
            </a:r>
            <a:endParaRPr sz="1580" dirty="0"/>
          </a:p>
          <a:p>
            <a:pPr marL="0" indent="0">
              <a:buNone/>
            </a:pPr>
            <a:endParaRPr sz="1580" dirty="0"/>
          </a:p>
          <a:p>
            <a:pPr marL="0" indent="0">
              <a:buNone/>
            </a:pPr>
            <a:r>
              <a:rPr sz="1580" dirty="0">
                <a:solidFill>
                  <a:srgbClr val="1F2937"/>
                </a:solidFill>
              </a:rPr>
              <a:t>Instead of sending ten HR documents, the system can retrieve only the most relevant vacation-policy sections and filter out unrelated benefits documents.</a:t>
            </a:r>
            <a:endParaRPr sz="1580" dirty="0"/>
          </a:p>
        </p:txBody>
      </p:sp>
      <p:sp>
        <p:nvSpPr>
          <p:cNvPr id="7" name="Shape 5">
            <a:extLst>
              <a:ext uri="{FF2B5EF4-FFF2-40B4-BE49-F238E27FC236}">
                <a16:creationId xmlns:a16="http://schemas.microsoft.com/office/drawing/2014/main" id="{707EED3D-ABEB-4D23-8D50-7F7A8E492B7D}"/>
              </a:ext>
            </a:extLst>
          </p:cNvPr>
          <p:cNvSpPr>
            <a:spLocks noGrp="1"/>
          </p:cNvSpPr>
          <p:nvPr/>
        </p:nvSpPr>
        <p:spPr>
          <a:xfrm>
            <a:off x="658368" y="5413248"/>
            <a:ext cx="10881360" cy="658368"/>
          </a:xfrm>
          <a:prstGeom prst="roundRect">
            <a:avLst>
              <a:gd name="adj" fmla="val 11111"/>
            </a:avLst>
          </a:prstGeom>
          <a:solidFill>
            <a:srgbClr val="FFFFFF"/>
          </a:solidFill>
          <a:ln w="12700">
            <a:solidFill>
              <a:srgbClr val="2F855A"/>
            </a:solidFill>
            <a:prstDash val="solid"/>
          </a:ln>
        </p:spPr>
        <p:txBody>
          <a:bodyPr/>
          <a:lstStyle/>
          <a:p>
            <a:endParaRPr lang="en-IN"/>
          </a:p>
        </p:txBody>
      </p:sp>
      <p:sp>
        <p:nvSpPr>
          <p:cNvPr id="8" name="Text 6">
            <a:extLst>
              <a:ext uri="{FF2B5EF4-FFF2-40B4-BE49-F238E27FC236}">
                <a16:creationId xmlns:a16="http://schemas.microsoft.com/office/drawing/2014/main" id="{68488DF1-8B1B-45E3-BAC5-8325EE72C174}"/>
              </a:ext>
            </a:extLst>
          </p:cNvPr>
          <p:cNvSpPr>
            <a:spLocks noGrp="1"/>
          </p:cNvSpPr>
          <p:nvPr/>
        </p:nvSpPr>
        <p:spPr>
          <a:xfrm>
            <a:off x="868680" y="5522976"/>
            <a:ext cx="1371600" cy="219456"/>
          </a:xfrm>
          <a:prstGeom prst="rect">
            <a:avLst/>
          </a:prstGeom>
          <a:noFill/>
        </p:spPr>
        <p:txBody>
          <a:bodyPr wrap="square" lIns="0" tIns="0" rIns="0" bIns="0" anchor="ctr"/>
          <a:lstStyle/>
          <a:p>
            <a:pPr marL="0" indent="0">
              <a:buNone/>
            </a:pPr>
            <a:r>
              <a:rPr sz="1350" b="1">
                <a:solidFill>
                  <a:srgbClr val="2F855A"/>
                </a:solidFill>
              </a:rPr>
              <a:t>Main Idea:</a:t>
            </a:r>
            <a:endParaRPr sz="1350"/>
          </a:p>
        </p:txBody>
      </p:sp>
      <p:sp>
        <p:nvSpPr>
          <p:cNvPr id="9" name="Text 7">
            <a:extLst>
              <a:ext uri="{FF2B5EF4-FFF2-40B4-BE49-F238E27FC236}">
                <a16:creationId xmlns:a16="http://schemas.microsoft.com/office/drawing/2014/main" id="{3B5CEE06-F01C-4DB7-A477-ACAF776D97DD}"/>
              </a:ext>
            </a:extLst>
          </p:cNvPr>
          <p:cNvSpPr>
            <a:spLocks noGrp="1"/>
          </p:cNvSpPr>
          <p:nvPr/>
        </p:nvSpPr>
        <p:spPr>
          <a:xfrm>
            <a:off x="2148840" y="5495544"/>
            <a:ext cx="9098280" cy="310896"/>
          </a:xfrm>
          <a:prstGeom prst="rect">
            <a:avLst/>
          </a:prstGeom>
          <a:noFill/>
        </p:spPr>
        <p:txBody>
          <a:bodyPr wrap="square" lIns="0" tIns="0" rIns="0" bIns="0" anchor="ctr">
            <a:normAutofit/>
          </a:bodyPr>
          <a:lstStyle/>
          <a:p>
            <a:pPr marL="0" indent="0">
              <a:buNone/>
            </a:pPr>
            <a:r>
              <a:rPr sz="1520" b="1">
                <a:solidFill>
                  <a:srgbClr val="1F2937"/>
                </a:solidFill>
              </a:rPr>
              <a:t>Better retrieval can reduce tokens before the model is even called.</a:t>
            </a:r>
            <a:endParaRPr sz="1520"/>
          </a:p>
        </p:txBody>
      </p:sp>
      <p:sp>
        <p:nvSpPr>
          <p:cNvPr id="25" name="Slide Number Placeholder 0">
            <a:extLst>
              <a:ext uri="{FF2B5EF4-FFF2-40B4-BE49-F238E27FC236}">
                <a16:creationId xmlns:a16="http://schemas.microsoft.com/office/drawing/2014/main" id="{3A6599BF-10BA-4216-BE35-F35FFE59C184}"/>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7</a:t>
            </a:fld>
            <a:endParaRPr/>
          </a:p>
        </p:txBody>
      </p:sp>
    </p:spTree>
    <p:extLst>
      <p:ext uri="{BB962C8B-B14F-4D97-AF65-F5344CB8AC3E}">
        <p14:creationId xmlns:p14="http://schemas.microsoft.com/office/powerpoint/2010/main" val="56345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9CAA4D9-4B9D-47AB-9DDC-E146709D7B7F}"/>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Optimizing Conversation History</a:t>
            </a:r>
            <a:endParaRPr sz="2500"/>
          </a:p>
        </p:txBody>
      </p:sp>
      <p:sp>
        <p:nvSpPr>
          <p:cNvPr id="3" name="Text 1">
            <a:extLst>
              <a:ext uri="{FF2B5EF4-FFF2-40B4-BE49-F238E27FC236}">
                <a16:creationId xmlns:a16="http://schemas.microsoft.com/office/drawing/2014/main" id="{ECA711AA-A0CB-4449-9B7C-3CB5F57FD313}"/>
              </a:ext>
            </a:extLst>
          </p:cNvPr>
          <p:cNvSpPr>
            <a:spLocks noGrp="1"/>
          </p:cNvSpPr>
          <p:nvPr/>
        </p:nvSpPr>
        <p:spPr>
          <a:xfrm>
            <a:off x="694944" y="1188720"/>
            <a:ext cx="7315200" cy="4160520"/>
          </a:xfrm>
          <a:prstGeom prst="rect">
            <a:avLst/>
          </a:prstGeom>
          <a:noFill/>
        </p:spPr>
        <p:txBody>
          <a:bodyPr wrap="square" lIns="508" tIns="508" rIns="508" bIns="508" anchor="ctr">
            <a:normAutofit/>
          </a:bodyPr>
          <a:lstStyle/>
          <a:p>
            <a:pPr marL="228600" indent="-228600">
              <a:buSzPct val="100000"/>
              <a:buChar char="•"/>
            </a:pPr>
            <a:r>
              <a:rPr sz="1730">
                <a:solidFill>
                  <a:srgbClr val="1F2937"/>
                </a:solidFill>
                <a:latin typeface="Aptos"/>
                <a:ea typeface="Aptos"/>
                <a:cs typeface="Aptos"/>
              </a:rPr>
              <a:t>Chat applications can also become expensive when the full conversation history is repeatedly sent with every new message.</a:t>
            </a:r>
            <a:endParaRPr sz="1730"/>
          </a:p>
          <a:p>
            <a:pPr marL="228600" indent="-228600">
              <a:buSzPct val="100000"/>
              <a:buChar char="•"/>
            </a:pPr>
            <a:r>
              <a:rPr sz="1730">
                <a:solidFill>
                  <a:srgbClr val="1F2937"/>
                </a:solidFill>
                <a:latin typeface="Aptos"/>
                <a:ea typeface="Aptos"/>
                <a:cs typeface="Aptos"/>
              </a:rPr>
              <a:t>As the conversation becomes longer, older messages may no longer be important for the current question.</a:t>
            </a:r>
            <a:endParaRPr sz="1730"/>
          </a:p>
          <a:p>
            <a:pPr marL="228600" indent="-228600">
              <a:buSzPct val="100000"/>
              <a:buChar char="•"/>
            </a:pPr>
            <a:r>
              <a:rPr sz="1730">
                <a:solidFill>
                  <a:srgbClr val="1F2937"/>
                </a:solidFill>
                <a:latin typeface="Aptos"/>
                <a:ea typeface="Aptos"/>
                <a:cs typeface="Aptos"/>
              </a:rPr>
              <a:t>One approach is to keep the most recent and relevant messages while removing older content that no longer matters.</a:t>
            </a:r>
            <a:endParaRPr sz="1730"/>
          </a:p>
          <a:p>
            <a:pPr marL="228600" indent="-228600">
              <a:buSzPct val="100000"/>
              <a:buChar char="•"/>
            </a:pPr>
            <a:r>
              <a:rPr sz="1730">
                <a:solidFill>
                  <a:srgbClr val="1F2937"/>
                </a:solidFill>
                <a:latin typeface="Aptos"/>
                <a:ea typeface="Aptos"/>
                <a:cs typeface="Aptos"/>
              </a:rPr>
              <a:t>Another approach is to summarize older conversation history into a shorter representation.</a:t>
            </a:r>
            <a:endParaRPr sz="1730"/>
          </a:p>
          <a:p>
            <a:pPr marL="228600" indent="-228600">
              <a:buSzPct val="100000"/>
              <a:buChar char="•"/>
            </a:pPr>
            <a:r>
              <a:rPr sz="1730">
                <a:solidFill>
                  <a:srgbClr val="1F2937"/>
                </a:solidFill>
                <a:latin typeface="Aptos"/>
                <a:ea typeface="Aptos"/>
                <a:cs typeface="Aptos"/>
              </a:rPr>
              <a:t>The summary keeps the important context while using fewer tokens than resending every previous message.</a:t>
            </a:r>
            <a:endParaRPr sz="1730"/>
          </a:p>
        </p:txBody>
      </p:sp>
      <p:sp>
        <p:nvSpPr>
          <p:cNvPr id="4" name="Shape 2">
            <a:extLst>
              <a:ext uri="{FF2B5EF4-FFF2-40B4-BE49-F238E27FC236}">
                <a16:creationId xmlns:a16="http://schemas.microsoft.com/office/drawing/2014/main" id="{BDF3E639-5FB7-4802-B197-77C74AA5B1DF}"/>
              </a:ext>
            </a:extLst>
          </p:cNvPr>
          <p:cNvSpPr>
            <a:spLocks noGrp="1"/>
          </p:cNvSpPr>
          <p:nvPr/>
        </p:nvSpPr>
        <p:spPr>
          <a:xfrm>
            <a:off x="8275320" y="1463040"/>
            <a:ext cx="2971800" cy="3246120"/>
          </a:xfrm>
          <a:prstGeom prst="roundRect">
            <a:avLst/>
          </a:prstGeom>
          <a:solidFill>
            <a:srgbClr val="FFFFFF"/>
          </a:solidFill>
          <a:ln w="12700">
            <a:solidFill>
              <a:srgbClr val="D7DEE8"/>
            </a:solidFill>
            <a:prstDash val="solid"/>
          </a:ln>
        </p:spPr>
        <p:txBody>
          <a:bodyPr/>
          <a:lstStyle/>
          <a:p>
            <a:endParaRPr lang="en-IN"/>
          </a:p>
        </p:txBody>
      </p:sp>
      <p:sp>
        <p:nvSpPr>
          <p:cNvPr id="5" name="Text 3">
            <a:extLst>
              <a:ext uri="{FF2B5EF4-FFF2-40B4-BE49-F238E27FC236}">
                <a16:creationId xmlns:a16="http://schemas.microsoft.com/office/drawing/2014/main" id="{51EFAF51-6CC0-4799-896C-4577109A2C75}"/>
              </a:ext>
            </a:extLst>
          </p:cNvPr>
          <p:cNvSpPr>
            <a:spLocks noGrp="1"/>
          </p:cNvSpPr>
          <p:nvPr/>
        </p:nvSpPr>
        <p:spPr>
          <a:xfrm>
            <a:off x="8549640" y="1737360"/>
            <a:ext cx="1371600" cy="274320"/>
          </a:xfrm>
          <a:prstGeom prst="rect">
            <a:avLst/>
          </a:prstGeom>
          <a:noFill/>
        </p:spPr>
        <p:txBody>
          <a:bodyPr wrap="square" lIns="0" tIns="0" rIns="0" bIns="0" anchor="ctr"/>
          <a:lstStyle/>
          <a:p>
            <a:pPr marL="0" indent="0">
              <a:buNone/>
            </a:pPr>
            <a:r>
              <a:rPr sz="1700" b="1">
                <a:solidFill>
                  <a:srgbClr val="FF9900"/>
                </a:solidFill>
              </a:rPr>
              <a:t>Example:</a:t>
            </a:r>
            <a:endParaRPr sz="1700"/>
          </a:p>
        </p:txBody>
      </p:sp>
      <p:sp>
        <p:nvSpPr>
          <p:cNvPr id="6" name="Text 4">
            <a:extLst>
              <a:ext uri="{FF2B5EF4-FFF2-40B4-BE49-F238E27FC236}">
                <a16:creationId xmlns:a16="http://schemas.microsoft.com/office/drawing/2014/main" id="{A199EBD4-A253-46E3-86AD-BE616663B20F}"/>
              </a:ext>
            </a:extLst>
          </p:cNvPr>
          <p:cNvSpPr>
            <a:spLocks noGrp="1"/>
          </p:cNvSpPr>
          <p:nvPr/>
        </p:nvSpPr>
        <p:spPr>
          <a:xfrm>
            <a:off x="8503920" y="2240280"/>
            <a:ext cx="2468880" cy="1508760"/>
          </a:xfrm>
          <a:prstGeom prst="rect">
            <a:avLst/>
          </a:prstGeom>
          <a:noFill/>
        </p:spPr>
        <p:txBody>
          <a:bodyPr wrap="square" lIns="0" tIns="0" rIns="0" bIns="0" anchor="ctr">
            <a:normAutofit/>
          </a:bodyPr>
          <a:lstStyle/>
          <a:p>
            <a:pPr marL="0" indent="0">
              <a:buNone/>
            </a:pPr>
            <a:r>
              <a:rPr sz="1600">
                <a:solidFill>
                  <a:srgbClr val="1F2937"/>
                </a:solidFill>
              </a:rPr>
              <a:t>Instead of sending 40 earlier messages, the application may keep the latest messages plus a short summary of the earlier conversation.</a:t>
            </a:r>
            <a:endParaRPr sz="1600"/>
          </a:p>
        </p:txBody>
      </p:sp>
      <p:sp>
        <p:nvSpPr>
          <p:cNvPr id="7" name="Shape 5">
            <a:extLst>
              <a:ext uri="{FF2B5EF4-FFF2-40B4-BE49-F238E27FC236}">
                <a16:creationId xmlns:a16="http://schemas.microsoft.com/office/drawing/2014/main" id="{7C1D9133-A636-44D5-8131-26243E94A03D}"/>
              </a:ext>
            </a:extLst>
          </p:cNvPr>
          <p:cNvSpPr>
            <a:spLocks noGrp="1"/>
          </p:cNvSpPr>
          <p:nvPr/>
        </p:nvSpPr>
        <p:spPr>
          <a:xfrm>
            <a:off x="658368" y="5413248"/>
            <a:ext cx="10881360" cy="658368"/>
          </a:xfrm>
          <a:prstGeom prst="roundRect">
            <a:avLst>
              <a:gd name="adj" fmla="val 11111"/>
            </a:avLst>
          </a:prstGeom>
          <a:solidFill>
            <a:srgbClr val="FFFFFF"/>
          </a:solidFill>
          <a:ln w="12700">
            <a:solidFill>
              <a:srgbClr val="255C99"/>
            </a:solidFill>
            <a:prstDash val="solid"/>
          </a:ln>
        </p:spPr>
        <p:txBody>
          <a:bodyPr/>
          <a:lstStyle/>
          <a:p>
            <a:endParaRPr lang="en-IN"/>
          </a:p>
        </p:txBody>
      </p:sp>
      <p:sp>
        <p:nvSpPr>
          <p:cNvPr id="8" name="Text 6">
            <a:extLst>
              <a:ext uri="{FF2B5EF4-FFF2-40B4-BE49-F238E27FC236}">
                <a16:creationId xmlns:a16="http://schemas.microsoft.com/office/drawing/2014/main" id="{71ED6AE0-469E-4612-924F-CFBB941577A4}"/>
              </a:ext>
            </a:extLst>
          </p:cNvPr>
          <p:cNvSpPr>
            <a:spLocks noGrp="1"/>
          </p:cNvSpPr>
          <p:nvPr/>
        </p:nvSpPr>
        <p:spPr>
          <a:xfrm>
            <a:off x="868680" y="5522976"/>
            <a:ext cx="1371600" cy="219456"/>
          </a:xfrm>
          <a:prstGeom prst="rect">
            <a:avLst/>
          </a:prstGeom>
          <a:noFill/>
        </p:spPr>
        <p:txBody>
          <a:bodyPr wrap="square" lIns="0" tIns="0" rIns="0" bIns="0" anchor="ctr"/>
          <a:lstStyle/>
          <a:p>
            <a:pPr marL="0" indent="0">
              <a:buNone/>
            </a:pPr>
            <a:r>
              <a:rPr sz="1350" b="1">
                <a:solidFill>
                  <a:srgbClr val="255C99"/>
                </a:solidFill>
              </a:rPr>
              <a:t>Important Point:</a:t>
            </a:r>
            <a:endParaRPr sz="1350"/>
          </a:p>
        </p:txBody>
      </p:sp>
      <p:sp>
        <p:nvSpPr>
          <p:cNvPr id="9" name="Text 7">
            <a:extLst>
              <a:ext uri="{FF2B5EF4-FFF2-40B4-BE49-F238E27FC236}">
                <a16:creationId xmlns:a16="http://schemas.microsoft.com/office/drawing/2014/main" id="{2D9D2D50-24A4-4D47-8D4F-B3A573B239C9}"/>
              </a:ext>
            </a:extLst>
          </p:cNvPr>
          <p:cNvSpPr>
            <a:spLocks noGrp="1"/>
          </p:cNvSpPr>
          <p:nvPr/>
        </p:nvSpPr>
        <p:spPr>
          <a:xfrm>
            <a:off x="2225040" y="5486400"/>
            <a:ext cx="9098280" cy="310896"/>
          </a:xfrm>
          <a:prstGeom prst="rect">
            <a:avLst/>
          </a:prstGeom>
          <a:noFill/>
        </p:spPr>
        <p:txBody>
          <a:bodyPr wrap="square" lIns="0" tIns="0" rIns="0" bIns="0" anchor="ctr">
            <a:normAutofit fontScale="92500"/>
          </a:bodyPr>
          <a:lstStyle/>
          <a:p>
            <a:pPr marL="0" indent="0">
              <a:buNone/>
            </a:pPr>
            <a:r>
              <a:rPr sz="1520" b="1" dirty="0">
                <a:solidFill>
                  <a:srgbClr val="1F2937"/>
                </a:solidFill>
              </a:rPr>
              <a:t>Conversation memory should preserve useful context without automatically sending the entire chat forever.</a:t>
            </a:r>
            <a:endParaRPr sz="1520" dirty="0"/>
          </a:p>
        </p:txBody>
      </p:sp>
      <p:sp>
        <p:nvSpPr>
          <p:cNvPr id="25" name="Slide Number Placeholder 0">
            <a:extLst>
              <a:ext uri="{FF2B5EF4-FFF2-40B4-BE49-F238E27FC236}">
                <a16:creationId xmlns:a16="http://schemas.microsoft.com/office/drawing/2014/main" id="{FD37FE3D-3D69-46AE-8565-C64B9BA31940}"/>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8</a:t>
            </a:fld>
            <a:endParaRPr/>
          </a:p>
        </p:txBody>
      </p:sp>
    </p:spTree>
    <p:extLst>
      <p:ext uri="{BB962C8B-B14F-4D97-AF65-F5344CB8AC3E}">
        <p14:creationId xmlns:p14="http://schemas.microsoft.com/office/powerpoint/2010/main" val="1379768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738010C-8F04-4410-8621-3CB58F41BD2B}"/>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Controlling Response Size</a:t>
            </a:r>
            <a:endParaRPr sz="2500"/>
          </a:p>
        </p:txBody>
      </p:sp>
      <p:sp>
        <p:nvSpPr>
          <p:cNvPr id="3" name="Text 1">
            <a:extLst>
              <a:ext uri="{FF2B5EF4-FFF2-40B4-BE49-F238E27FC236}">
                <a16:creationId xmlns:a16="http://schemas.microsoft.com/office/drawing/2014/main" id="{1C0B5D36-D830-461B-A115-E6ED522D2874}"/>
              </a:ext>
            </a:extLst>
          </p:cNvPr>
          <p:cNvSpPr>
            <a:spLocks noGrp="1"/>
          </p:cNvSpPr>
          <p:nvPr/>
        </p:nvSpPr>
        <p:spPr>
          <a:xfrm>
            <a:off x="694944" y="1170432"/>
            <a:ext cx="10607040" cy="4434840"/>
          </a:xfrm>
          <a:prstGeom prst="rect">
            <a:avLst/>
          </a:prstGeom>
          <a:noFill/>
        </p:spPr>
        <p:txBody>
          <a:bodyPr wrap="square" lIns="508" tIns="508" rIns="508" bIns="508" anchor="ctr">
            <a:normAutofit/>
          </a:bodyPr>
          <a:lstStyle/>
          <a:p>
            <a:pPr marL="228600" indent="-228600">
              <a:buSzPct val="100000"/>
              <a:buChar char="•"/>
            </a:pPr>
            <a:r>
              <a:rPr sz="1720">
                <a:solidFill>
                  <a:srgbClr val="1F2937"/>
                </a:solidFill>
                <a:latin typeface="Aptos"/>
                <a:ea typeface="Aptos"/>
                <a:cs typeface="Aptos"/>
              </a:rPr>
              <a:t>Optimization is not only about reducing input tokens. The number of output tokens also affects cost and response time.</a:t>
            </a:r>
            <a:endParaRPr sz="1720"/>
          </a:p>
          <a:p>
            <a:pPr marL="228600" indent="-228600">
              <a:buSzPct val="100000"/>
              <a:buChar char="•"/>
            </a:pPr>
            <a:r>
              <a:rPr sz="1720">
                <a:solidFill>
                  <a:srgbClr val="1F2937"/>
                </a:solidFill>
                <a:latin typeface="Aptos"/>
                <a:ea typeface="Aptos"/>
                <a:cs typeface="Aptos"/>
              </a:rPr>
              <a:t>A model can often generate a much longer answer than the application actually needs.</a:t>
            </a:r>
            <a:endParaRPr sz="1720"/>
          </a:p>
          <a:p>
            <a:pPr marL="228600" indent="-228600">
              <a:buSzPct val="100000"/>
              <a:buChar char="•"/>
            </a:pPr>
            <a:r>
              <a:rPr sz="1720">
                <a:solidFill>
                  <a:srgbClr val="1F2937"/>
                </a:solidFill>
                <a:latin typeface="Aptos"/>
                <a:ea typeface="Aptos"/>
                <a:cs typeface="Aptos"/>
              </a:rPr>
              <a:t>Developers can use settings such as maxTokens to control the maximum response length.</a:t>
            </a:r>
            <a:endParaRPr sz="1720"/>
          </a:p>
          <a:p>
            <a:pPr marL="228600" indent="-228600">
              <a:buSzPct val="100000"/>
              <a:buChar char="•"/>
            </a:pPr>
            <a:r>
              <a:rPr sz="1720">
                <a:solidFill>
                  <a:srgbClr val="1F2937"/>
                </a:solidFill>
                <a:latin typeface="Aptos"/>
                <a:ea typeface="Aptos"/>
                <a:cs typeface="Aptos"/>
              </a:rPr>
              <a:t>The prompt can also clearly describe the expected format or length, for example: “Answer in fewer than 100 words.”</a:t>
            </a:r>
            <a:endParaRPr sz="1720"/>
          </a:p>
          <a:p>
            <a:pPr marL="228600" indent="-228600">
              <a:buSzPct val="100000"/>
              <a:buChar char="•"/>
            </a:pPr>
            <a:r>
              <a:rPr sz="1720">
                <a:solidFill>
                  <a:srgbClr val="1F2937"/>
                </a:solidFill>
                <a:latin typeface="Aptos"/>
                <a:ea typeface="Aptos"/>
                <a:cs typeface="Aptos"/>
              </a:rPr>
              <a:t>Few-shot examples can demonstrate the desired response style and level of detail.</a:t>
            </a:r>
            <a:endParaRPr sz="1720"/>
          </a:p>
          <a:p>
            <a:pPr marL="228600" indent="-228600">
              <a:buSzPct val="100000"/>
              <a:buChar char="•"/>
            </a:pPr>
            <a:r>
              <a:rPr sz="1720">
                <a:solidFill>
                  <a:srgbClr val="1F2937"/>
                </a:solidFill>
                <a:latin typeface="Aptos"/>
                <a:ea typeface="Aptos"/>
                <a:cs typeface="Aptos"/>
              </a:rPr>
              <a:t>Structured formats such as JSON can also help make responses more predictable and reduce unnecessary text.</a:t>
            </a:r>
            <a:endParaRPr sz="1720"/>
          </a:p>
        </p:txBody>
      </p:sp>
      <p:sp>
        <p:nvSpPr>
          <p:cNvPr id="4" name="Shape 2">
            <a:extLst>
              <a:ext uri="{FF2B5EF4-FFF2-40B4-BE49-F238E27FC236}">
                <a16:creationId xmlns:a16="http://schemas.microsoft.com/office/drawing/2014/main" id="{799CD8FF-4CD7-4CDB-8E51-42AE7C9EA5CE}"/>
              </a:ext>
            </a:extLst>
          </p:cNvPr>
          <p:cNvSpPr>
            <a:spLocks noGrp="1"/>
          </p:cNvSpPr>
          <p:nvPr/>
        </p:nvSpPr>
        <p:spPr>
          <a:xfrm>
            <a:off x="658368" y="5458968"/>
            <a:ext cx="10881360" cy="658368"/>
          </a:xfrm>
          <a:prstGeom prst="roundRect">
            <a:avLst>
              <a:gd name="adj" fmla="val 11111"/>
            </a:avLst>
          </a:prstGeom>
          <a:solidFill>
            <a:srgbClr val="FFFFFF"/>
          </a:solidFill>
          <a:ln w="12700">
            <a:solidFill>
              <a:srgbClr val="FF9900"/>
            </a:solidFill>
            <a:prstDash val="solid"/>
          </a:ln>
        </p:spPr>
        <p:txBody>
          <a:bodyPr/>
          <a:lstStyle/>
          <a:p>
            <a:endParaRPr lang="en-IN"/>
          </a:p>
        </p:txBody>
      </p:sp>
      <p:sp>
        <p:nvSpPr>
          <p:cNvPr id="5" name="Text 3">
            <a:extLst>
              <a:ext uri="{FF2B5EF4-FFF2-40B4-BE49-F238E27FC236}">
                <a16:creationId xmlns:a16="http://schemas.microsoft.com/office/drawing/2014/main" id="{753609E1-DCA2-44C6-A597-8D4506059B14}"/>
              </a:ext>
            </a:extLst>
          </p:cNvPr>
          <p:cNvSpPr>
            <a:spLocks noGrp="1"/>
          </p:cNvSpPr>
          <p:nvPr/>
        </p:nvSpPr>
        <p:spPr>
          <a:xfrm>
            <a:off x="868680" y="5568696"/>
            <a:ext cx="1371600" cy="219456"/>
          </a:xfrm>
          <a:prstGeom prst="rect">
            <a:avLst/>
          </a:prstGeom>
          <a:noFill/>
        </p:spPr>
        <p:txBody>
          <a:bodyPr wrap="square" lIns="0" tIns="0" rIns="0" bIns="0" anchor="ctr"/>
          <a:lstStyle/>
          <a:p>
            <a:pPr marL="0" indent="0">
              <a:buNone/>
            </a:pPr>
            <a:r>
              <a:rPr sz="1350" b="1">
                <a:solidFill>
                  <a:srgbClr val="FF9900"/>
                </a:solidFill>
              </a:rPr>
              <a:t>Main Idea:</a:t>
            </a:r>
            <a:endParaRPr sz="1350"/>
          </a:p>
        </p:txBody>
      </p:sp>
      <p:sp>
        <p:nvSpPr>
          <p:cNvPr id="6" name="Text 4">
            <a:extLst>
              <a:ext uri="{FF2B5EF4-FFF2-40B4-BE49-F238E27FC236}">
                <a16:creationId xmlns:a16="http://schemas.microsoft.com/office/drawing/2014/main" id="{AE0980AA-B035-4952-B18B-AB83285320CD}"/>
              </a:ext>
            </a:extLst>
          </p:cNvPr>
          <p:cNvSpPr>
            <a:spLocks noGrp="1"/>
          </p:cNvSpPr>
          <p:nvPr/>
        </p:nvSpPr>
        <p:spPr>
          <a:xfrm>
            <a:off x="2148840" y="5541264"/>
            <a:ext cx="9098280" cy="310896"/>
          </a:xfrm>
          <a:prstGeom prst="rect">
            <a:avLst/>
          </a:prstGeom>
          <a:noFill/>
        </p:spPr>
        <p:txBody>
          <a:bodyPr wrap="square" lIns="0" tIns="0" rIns="0" bIns="0" anchor="ctr">
            <a:normAutofit/>
          </a:bodyPr>
          <a:lstStyle/>
          <a:p>
            <a:pPr marL="0" indent="0">
              <a:buNone/>
            </a:pPr>
            <a:r>
              <a:rPr sz="1520" b="1">
                <a:solidFill>
                  <a:srgbClr val="1F2937"/>
                </a:solidFill>
              </a:rPr>
              <a:t>Ask the model for the amount of output the application actually needs.</a:t>
            </a:r>
            <a:endParaRPr sz="1520"/>
          </a:p>
        </p:txBody>
      </p:sp>
      <p:sp>
        <p:nvSpPr>
          <p:cNvPr id="25" name="Slide Number Placeholder 0">
            <a:extLst>
              <a:ext uri="{FF2B5EF4-FFF2-40B4-BE49-F238E27FC236}">
                <a16:creationId xmlns:a16="http://schemas.microsoft.com/office/drawing/2014/main" id="{F4DFEF49-DFF7-49D1-9E0F-6812BB528370}"/>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9</a:t>
            </a:fld>
            <a:endParaRPr/>
          </a:p>
        </p:txBody>
      </p:sp>
    </p:spTree>
    <p:extLst>
      <p:ext uri="{BB962C8B-B14F-4D97-AF65-F5344CB8AC3E}">
        <p14:creationId xmlns:p14="http://schemas.microsoft.com/office/powerpoint/2010/main" val="1995650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599A09A-6DCA-469C-993D-D1D9AB96390F}"/>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What Is Prompt Compression?</a:t>
            </a:r>
            <a:endParaRPr sz="2500"/>
          </a:p>
        </p:txBody>
      </p:sp>
      <p:sp>
        <p:nvSpPr>
          <p:cNvPr id="3" name="Text 1">
            <a:extLst>
              <a:ext uri="{FF2B5EF4-FFF2-40B4-BE49-F238E27FC236}">
                <a16:creationId xmlns:a16="http://schemas.microsoft.com/office/drawing/2014/main" id="{4D9F6567-5A12-444B-98CE-5682CC63D842}"/>
              </a:ext>
            </a:extLst>
          </p:cNvPr>
          <p:cNvSpPr>
            <a:spLocks noGrp="1"/>
          </p:cNvSpPr>
          <p:nvPr/>
        </p:nvSpPr>
        <p:spPr>
          <a:xfrm>
            <a:off x="694944" y="1152144"/>
            <a:ext cx="10652760" cy="3474720"/>
          </a:xfrm>
          <a:prstGeom prst="rect">
            <a:avLst/>
          </a:prstGeom>
          <a:noFill/>
        </p:spPr>
        <p:txBody>
          <a:bodyPr wrap="square" lIns="508" tIns="508" rIns="508" bIns="508" anchor="ctr">
            <a:normAutofit/>
          </a:bodyPr>
          <a:lstStyle/>
          <a:p>
            <a:pPr marL="228600" indent="-228600">
              <a:buSzPct val="100000"/>
              <a:buChar char="•"/>
            </a:pPr>
            <a:r>
              <a:rPr sz="1770">
                <a:solidFill>
                  <a:srgbClr val="1F2937"/>
                </a:solidFill>
                <a:latin typeface="Aptos"/>
                <a:ea typeface="Aptos"/>
                <a:cs typeface="Aptos"/>
              </a:rPr>
              <a:t>Some applications receive very large prompts, long conversations, or large amounts of text before the main model is called.</a:t>
            </a:r>
            <a:endParaRPr sz="1770"/>
          </a:p>
          <a:p>
            <a:pPr marL="228600" indent="-228600">
              <a:buSzPct val="100000"/>
              <a:buChar char="•"/>
            </a:pPr>
            <a:r>
              <a:rPr sz="1770">
                <a:solidFill>
                  <a:srgbClr val="1F2937"/>
                </a:solidFill>
                <a:latin typeface="Aptos"/>
                <a:ea typeface="Aptos"/>
                <a:cs typeface="Aptos"/>
              </a:rPr>
              <a:t>Prompt compression reduces this information while trying to preserve the parts that are important for the task.</a:t>
            </a:r>
            <a:endParaRPr sz="1770"/>
          </a:p>
          <a:p>
            <a:pPr marL="228600" indent="-228600">
              <a:buSzPct val="100000"/>
              <a:buChar char="•"/>
            </a:pPr>
            <a:r>
              <a:rPr sz="1770">
                <a:solidFill>
                  <a:srgbClr val="1F2937"/>
                </a:solidFill>
                <a:latin typeface="Aptos"/>
                <a:ea typeface="Aptos"/>
                <a:cs typeface="Aptos"/>
              </a:rPr>
              <a:t>One approach is to use a smaller and less expensive model to summarize a large conversation or document before sending it to a larger model.</a:t>
            </a:r>
            <a:endParaRPr sz="1770"/>
          </a:p>
          <a:p>
            <a:pPr marL="228600" indent="-228600">
              <a:buSzPct val="100000"/>
              <a:buChar char="•"/>
            </a:pPr>
            <a:r>
              <a:rPr sz="1770">
                <a:solidFill>
                  <a:srgbClr val="1F2937"/>
                </a:solidFill>
                <a:latin typeface="Aptos"/>
                <a:ea typeface="Aptos"/>
                <a:cs typeface="Aptos"/>
              </a:rPr>
              <a:t>This allows the larger model to work with a shorter and more focused prompt.</a:t>
            </a:r>
            <a:endParaRPr sz="1770"/>
          </a:p>
          <a:p>
            <a:pPr marL="228600" indent="-228600">
              <a:buSzPct val="100000"/>
              <a:buChar char="•"/>
            </a:pPr>
            <a:r>
              <a:rPr sz="1770">
                <a:solidFill>
                  <a:srgbClr val="1F2937"/>
                </a:solidFill>
                <a:latin typeface="Aptos"/>
                <a:ea typeface="Aptos"/>
                <a:cs typeface="Aptos"/>
              </a:rPr>
              <a:t>Prompt compression can reduce token usage, but the summary must still preserve important facts and instructions.</a:t>
            </a:r>
            <a:endParaRPr sz="1770"/>
          </a:p>
        </p:txBody>
      </p:sp>
      <p:sp>
        <p:nvSpPr>
          <p:cNvPr id="4" name="Shape 2">
            <a:extLst>
              <a:ext uri="{FF2B5EF4-FFF2-40B4-BE49-F238E27FC236}">
                <a16:creationId xmlns:a16="http://schemas.microsoft.com/office/drawing/2014/main" id="{0FB88CD2-6499-4596-9E4D-615822A927A2}"/>
              </a:ext>
            </a:extLst>
          </p:cNvPr>
          <p:cNvSpPr>
            <a:spLocks noGrp="1"/>
          </p:cNvSpPr>
          <p:nvPr/>
        </p:nvSpPr>
        <p:spPr>
          <a:xfrm>
            <a:off x="822960" y="4645152"/>
            <a:ext cx="2530602" cy="566928"/>
          </a:xfrm>
          <a:prstGeom prst="roundRect">
            <a:avLst/>
          </a:prstGeom>
          <a:solidFill>
            <a:srgbClr val="EAF2FB"/>
          </a:solidFill>
          <a:ln w="12700">
            <a:solidFill>
              <a:srgbClr val="255C99"/>
            </a:solidFill>
            <a:prstDash val="solid"/>
          </a:ln>
        </p:spPr>
        <p:txBody>
          <a:bodyPr/>
          <a:lstStyle/>
          <a:p>
            <a:endParaRPr lang="en-IN"/>
          </a:p>
        </p:txBody>
      </p:sp>
      <p:sp>
        <p:nvSpPr>
          <p:cNvPr id="5" name="Text 3">
            <a:extLst>
              <a:ext uri="{FF2B5EF4-FFF2-40B4-BE49-F238E27FC236}">
                <a16:creationId xmlns:a16="http://schemas.microsoft.com/office/drawing/2014/main" id="{8870E12E-2215-4CA0-9402-35EC6BB0361D}"/>
              </a:ext>
            </a:extLst>
          </p:cNvPr>
          <p:cNvSpPr>
            <a:spLocks noGrp="1"/>
          </p:cNvSpPr>
          <p:nvPr/>
        </p:nvSpPr>
        <p:spPr>
          <a:xfrm>
            <a:off x="877824" y="4754880"/>
            <a:ext cx="2420874" cy="310896"/>
          </a:xfrm>
          <a:prstGeom prst="rect">
            <a:avLst/>
          </a:prstGeom>
          <a:noFill/>
        </p:spPr>
        <p:txBody>
          <a:bodyPr wrap="square" lIns="0" tIns="0" rIns="0" bIns="0" anchor="ctr">
            <a:normAutofit/>
          </a:bodyPr>
          <a:lstStyle/>
          <a:p>
            <a:pPr marL="0" indent="0" algn="ctr">
              <a:buNone/>
            </a:pPr>
            <a:r>
              <a:rPr sz="1240" b="1">
                <a:solidFill>
                  <a:srgbClr val="1F2937"/>
                </a:solidFill>
              </a:rPr>
              <a:t>Large Context</a:t>
            </a:r>
            <a:endParaRPr sz="1240"/>
          </a:p>
        </p:txBody>
      </p:sp>
      <p:sp>
        <p:nvSpPr>
          <p:cNvPr id="6" name="Text 4">
            <a:extLst>
              <a:ext uri="{FF2B5EF4-FFF2-40B4-BE49-F238E27FC236}">
                <a16:creationId xmlns:a16="http://schemas.microsoft.com/office/drawing/2014/main" id="{5C28628D-3148-4AAE-A9A1-359FD81F532D}"/>
              </a:ext>
            </a:extLst>
          </p:cNvPr>
          <p:cNvSpPr>
            <a:spLocks noGrp="1"/>
          </p:cNvSpPr>
          <p:nvPr/>
        </p:nvSpPr>
        <p:spPr>
          <a:xfrm>
            <a:off x="3344418" y="4800600"/>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7" name="Shape 5">
            <a:extLst>
              <a:ext uri="{FF2B5EF4-FFF2-40B4-BE49-F238E27FC236}">
                <a16:creationId xmlns:a16="http://schemas.microsoft.com/office/drawing/2014/main" id="{ADB2E81C-0C5E-46BF-AFCB-DE0DCB057F2F}"/>
              </a:ext>
            </a:extLst>
          </p:cNvPr>
          <p:cNvSpPr>
            <a:spLocks noGrp="1"/>
          </p:cNvSpPr>
          <p:nvPr/>
        </p:nvSpPr>
        <p:spPr>
          <a:xfrm>
            <a:off x="3499866" y="4645152"/>
            <a:ext cx="2530602" cy="566928"/>
          </a:xfrm>
          <a:prstGeom prst="roundRect">
            <a:avLst/>
          </a:prstGeom>
          <a:solidFill>
            <a:srgbClr val="FFF4E6"/>
          </a:solidFill>
          <a:ln w="12700">
            <a:solidFill>
              <a:srgbClr val="FF9900"/>
            </a:solidFill>
            <a:prstDash val="solid"/>
          </a:ln>
        </p:spPr>
        <p:txBody>
          <a:bodyPr/>
          <a:lstStyle/>
          <a:p>
            <a:endParaRPr lang="en-IN"/>
          </a:p>
        </p:txBody>
      </p:sp>
      <p:sp>
        <p:nvSpPr>
          <p:cNvPr id="8" name="Text 6">
            <a:extLst>
              <a:ext uri="{FF2B5EF4-FFF2-40B4-BE49-F238E27FC236}">
                <a16:creationId xmlns:a16="http://schemas.microsoft.com/office/drawing/2014/main" id="{E65AB322-A4CC-4A52-9D56-C5A78492BF79}"/>
              </a:ext>
            </a:extLst>
          </p:cNvPr>
          <p:cNvSpPr>
            <a:spLocks noGrp="1"/>
          </p:cNvSpPr>
          <p:nvPr/>
        </p:nvSpPr>
        <p:spPr>
          <a:xfrm>
            <a:off x="3554730" y="4754880"/>
            <a:ext cx="2420874" cy="310896"/>
          </a:xfrm>
          <a:prstGeom prst="rect">
            <a:avLst/>
          </a:prstGeom>
          <a:noFill/>
        </p:spPr>
        <p:txBody>
          <a:bodyPr wrap="square" lIns="0" tIns="0" rIns="0" bIns="0" anchor="ctr">
            <a:normAutofit/>
          </a:bodyPr>
          <a:lstStyle/>
          <a:p>
            <a:pPr marL="0" indent="0" algn="ctr">
              <a:buNone/>
            </a:pPr>
            <a:r>
              <a:rPr sz="1240" b="1">
                <a:solidFill>
                  <a:srgbClr val="1F2937"/>
                </a:solidFill>
              </a:rPr>
              <a:t>Smaller Model Summarizes</a:t>
            </a:r>
            <a:endParaRPr sz="1240"/>
          </a:p>
        </p:txBody>
      </p:sp>
      <p:sp>
        <p:nvSpPr>
          <p:cNvPr id="9" name="Text 7">
            <a:extLst>
              <a:ext uri="{FF2B5EF4-FFF2-40B4-BE49-F238E27FC236}">
                <a16:creationId xmlns:a16="http://schemas.microsoft.com/office/drawing/2014/main" id="{A3096369-B1EF-48ED-AFFC-90F9B0D09674}"/>
              </a:ext>
            </a:extLst>
          </p:cNvPr>
          <p:cNvSpPr>
            <a:spLocks noGrp="1"/>
          </p:cNvSpPr>
          <p:nvPr/>
        </p:nvSpPr>
        <p:spPr>
          <a:xfrm>
            <a:off x="6021324" y="4800600"/>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0" name="Shape 8">
            <a:extLst>
              <a:ext uri="{FF2B5EF4-FFF2-40B4-BE49-F238E27FC236}">
                <a16:creationId xmlns:a16="http://schemas.microsoft.com/office/drawing/2014/main" id="{4196ED74-191B-4D96-A09A-B513EC44F1B2}"/>
              </a:ext>
            </a:extLst>
          </p:cNvPr>
          <p:cNvSpPr>
            <a:spLocks noGrp="1"/>
          </p:cNvSpPr>
          <p:nvPr/>
        </p:nvSpPr>
        <p:spPr>
          <a:xfrm>
            <a:off x="6176772" y="4645152"/>
            <a:ext cx="2530602" cy="566928"/>
          </a:xfrm>
          <a:prstGeom prst="roundRect">
            <a:avLst/>
          </a:prstGeom>
          <a:solidFill>
            <a:srgbClr val="EAF2FB"/>
          </a:solidFill>
          <a:ln w="12700">
            <a:solidFill>
              <a:srgbClr val="255C99"/>
            </a:solidFill>
            <a:prstDash val="solid"/>
          </a:ln>
        </p:spPr>
        <p:txBody>
          <a:bodyPr/>
          <a:lstStyle/>
          <a:p>
            <a:endParaRPr lang="en-IN"/>
          </a:p>
        </p:txBody>
      </p:sp>
      <p:sp>
        <p:nvSpPr>
          <p:cNvPr id="11" name="Text 9">
            <a:extLst>
              <a:ext uri="{FF2B5EF4-FFF2-40B4-BE49-F238E27FC236}">
                <a16:creationId xmlns:a16="http://schemas.microsoft.com/office/drawing/2014/main" id="{5100E482-678F-4F84-8BB2-79C89BF72758}"/>
              </a:ext>
            </a:extLst>
          </p:cNvPr>
          <p:cNvSpPr>
            <a:spLocks noGrp="1"/>
          </p:cNvSpPr>
          <p:nvPr/>
        </p:nvSpPr>
        <p:spPr>
          <a:xfrm>
            <a:off x="6231636" y="4754880"/>
            <a:ext cx="2420874" cy="310896"/>
          </a:xfrm>
          <a:prstGeom prst="rect">
            <a:avLst/>
          </a:prstGeom>
          <a:noFill/>
        </p:spPr>
        <p:txBody>
          <a:bodyPr wrap="square" lIns="0" tIns="0" rIns="0" bIns="0" anchor="ctr">
            <a:normAutofit/>
          </a:bodyPr>
          <a:lstStyle/>
          <a:p>
            <a:pPr marL="0" indent="0" algn="ctr">
              <a:buNone/>
            </a:pPr>
            <a:r>
              <a:rPr sz="1240" b="1">
                <a:solidFill>
                  <a:srgbClr val="1F2937"/>
                </a:solidFill>
              </a:rPr>
              <a:t>Compressed Context</a:t>
            </a:r>
            <a:endParaRPr sz="1240"/>
          </a:p>
        </p:txBody>
      </p:sp>
      <p:sp>
        <p:nvSpPr>
          <p:cNvPr id="12" name="Text 10">
            <a:extLst>
              <a:ext uri="{FF2B5EF4-FFF2-40B4-BE49-F238E27FC236}">
                <a16:creationId xmlns:a16="http://schemas.microsoft.com/office/drawing/2014/main" id="{5E62FF41-F092-4703-AFF4-E5011E99EB18}"/>
              </a:ext>
            </a:extLst>
          </p:cNvPr>
          <p:cNvSpPr>
            <a:spLocks noGrp="1"/>
          </p:cNvSpPr>
          <p:nvPr/>
        </p:nvSpPr>
        <p:spPr>
          <a:xfrm>
            <a:off x="8698230" y="4800600"/>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3" name="Shape 11">
            <a:extLst>
              <a:ext uri="{FF2B5EF4-FFF2-40B4-BE49-F238E27FC236}">
                <a16:creationId xmlns:a16="http://schemas.microsoft.com/office/drawing/2014/main" id="{71CA0783-2C8D-4F73-95BC-44B9E6143DEF}"/>
              </a:ext>
            </a:extLst>
          </p:cNvPr>
          <p:cNvSpPr>
            <a:spLocks noGrp="1"/>
          </p:cNvSpPr>
          <p:nvPr/>
        </p:nvSpPr>
        <p:spPr>
          <a:xfrm>
            <a:off x="8853678" y="4645152"/>
            <a:ext cx="2530602" cy="566928"/>
          </a:xfrm>
          <a:prstGeom prst="roundRect">
            <a:avLst/>
          </a:prstGeom>
          <a:solidFill>
            <a:srgbClr val="FFF4E6"/>
          </a:solidFill>
          <a:ln w="12700">
            <a:solidFill>
              <a:srgbClr val="FF9900"/>
            </a:solidFill>
            <a:prstDash val="solid"/>
          </a:ln>
        </p:spPr>
        <p:txBody>
          <a:bodyPr/>
          <a:lstStyle/>
          <a:p>
            <a:endParaRPr lang="en-IN"/>
          </a:p>
        </p:txBody>
      </p:sp>
      <p:sp>
        <p:nvSpPr>
          <p:cNvPr id="14" name="Text 12">
            <a:extLst>
              <a:ext uri="{FF2B5EF4-FFF2-40B4-BE49-F238E27FC236}">
                <a16:creationId xmlns:a16="http://schemas.microsoft.com/office/drawing/2014/main" id="{342D4510-1382-4B60-8020-1EC3F7D53032}"/>
              </a:ext>
            </a:extLst>
          </p:cNvPr>
          <p:cNvSpPr>
            <a:spLocks noGrp="1"/>
          </p:cNvSpPr>
          <p:nvPr/>
        </p:nvSpPr>
        <p:spPr>
          <a:xfrm>
            <a:off x="8908542" y="4754880"/>
            <a:ext cx="2420874" cy="310896"/>
          </a:xfrm>
          <a:prstGeom prst="rect">
            <a:avLst/>
          </a:prstGeom>
          <a:noFill/>
        </p:spPr>
        <p:txBody>
          <a:bodyPr wrap="square" lIns="0" tIns="0" rIns="0" bIns="0" anchor="ctr">
            <a:normAutofit/>
          </a:bodyPr>
          <a:lstStyle/>
          <a:p>
            <a:pPr marL="0" indent="0" algn="ctr">
              <a:buNone/>
            </a:pPr>
            <a:r>
              <a:rPr sz="1240" b="1">
                <a:solidFill>
                  <a:srgbClr val="1F2937"/>
                </a:solidFill>
              </a:rPr>
              <a:t>Larger Model Handles Complex Task</a:t>
            </a:r>
            <a:endParaRPr sz="1240"/>
          </a:p>
        </p:txBody>
      </p:sp>
      <p:sp>
        <p:nvSpPr>
          <p:cNvPr id="15" name="Shape 13">
            <a:extLst>
              <a:ext uri="{FF2B5EF4-FFF2-40B4-BE49-F238E27FC236}">
                <a16:creationId xmlns:a16="http://schemas.microsoft.com/office/drawing/2014/main" id="{0916CBBB-433E-49A2-B4A5-11C4AEBF1917}"/>
              </a:ext>
            </a:extLst>
          </p:cNvPr>
          <p:cNvSpPr>
            <a:spLocks noGrp="1"/>
          </p:cNvSpPr>
          <p:nvPr/>
        </p:nvSpPr>
        <p:spPr>
          <a:xfrm>
            <a:off x="658368" y="5440680"/>
            <a:ext cx="10881360" cy="658368"/>
          </a:xfrm>
          <a:prstGeom prst="roundRect">
            <a:avLst>
              <a:gd name="adj" fmla="val 11111"/>
            </a:avLst>
          </a:prstGeom>
          <a:solidFill>
            <a:srgbClr val="FFFFFF"/>
          </a:solidFill>
          <a:ln w="12700">
            <a:solidFill>
              <a:srgbClr val="6B46C1"/>
            </a:solidFill>
            <a:prstDash val="solid"/>
          </a:ln>
        </p:spPr>
        <p:txBody>
          <a:bodyPr/>
          <a:lstStyle/>
          <a:p>
            <a:endParaRPr lang="en-IN"/>
          </a:p>
        </p:txBody>
      </p:sp>
      <p:sp>
        <p:nvSpPr>
          <p:cNvPr id="16" name="Text 14">
            <a:extLst>
              <a:ext uri="{FF2B5EF4-FFF2-40B4-BE49-F238E27FC236}">
                <a16:creationId xmlns:a16="http://schemas.microsoft.com/office/drawing/2014/main" id="{52AAE99C-1D66-4D3F-9815-7B35A2398F8B}"/>
              </a:ext>
            </a:extLst>
          </p:cNvPr>
          <p:cNvSpPr>
            <a:spLocks noGrp="1"/>
          </p:cNvSpPr>
          <p:nvPr/>
        </p:nvSpPr>
        <p:spPr>
          <a:xfrm>
            <a:off x="868680" y="5550408"/>
            <a:ext cx="1371600" cy="219456"/>
          </a:xfrm>
          <a:prstGeom prst="rect">
            <a:avLst/>
          </a:prstGeom>
          <a:noFill/>
        </p:spPr>
        <p:txBody>
          <a:bodyPr wrap="square" lIns="0" tIns="0" rIns="0" bIns="0" anchor="ctr"/>
          <a:lstStyle/>
          <a:p>
            <a:pPr marL="0" indent="0">
              <a:buNone/>
            </a:pPr>
            <a:r>
              <a:rPr sz="1350" b="1">
                <a:solidFill>
                  <a:srgbClr val="6B46C1"/>
                </a:solidFill>
              </a:rPr>
              <a:t>Main Lesson:</a:t>
            </a:r>
            <a:endParaRPr sz="1350"/>
          </a:p>
        </p:txBody>
      </p:sp>
      <p:sp>
        <p:nvSpPr>
          <p:cNvPr id="17" name="Text 15">
            <a:extLst>
              <a:ext uri="{FF2B5EF4-FFF2-40B4-BE49-F238E27FC236}">
                <a16:creationId xmlns:a16="http://schemas.microsoft.com/office/drawing/2014/main" id="{107CC2BB-D2E1-4FC7-B2D6-2D11FF4EB782}"/>
              </a:ext>
            </a:extLst>
          </p:cNvPr>
          <p:cNvSpPr>
            <a:spLocks noGrp="1"/>
          </p:cNvSpPr>
          <p:nvPr/>
        </p:nvSpPr>
        <p:spPr>
          <a:xfrm>
            <a:off x="2148840" y="5522976"/>
            <a:ext cx="9098280" cy="310896"/>
          </a:xfrm>
          <a:prstGeom prst="rect">
            <a:avLst/>
          </a:prstGeom>
          <a:noFill/>
        </p:spPr>
        <p:txBody>
          <a:bodyPr wrap="square" lIns="0" tIns="0" rIns="0" bIns="0" anchor="ctr">
            <a:normAutofit/>
          </a:bodyPr>
          <a:lstStyle/>
          <a:p>
            <a:pPr marL="0" indent="0">
              <a:buNone/>
            </a:pPr>
            <a:r>
              <a:rPr sz="1520" b="1">
                <a:solidFill>
                  <a:srgbClr val="1F2937"/>
                </a:solidFill>
              </a:rPr>
              <a:t>Use expensive model capacity where it adds value instead of spending it on unnecessary input.</a:t>
            </a:r>
            <a:endParaRPr sz="1520"/>
          </a:p>
        </p:txBody>
      </p:sp>
      <p:sp>
        <p:nvSpPr>
          <p:cNvPr id="25" name="Slide Number Placeholder 0">
            <a:extLst>
              <a:ext uri="{FF2B5EF4-FFF2-40B4-BE49-F238E27FC236}">
                <a16:creationId xmlns:a16="http://schemas.microsoft.com/office/drawing/2014/main" id="{9E038961-DE81-4195-9D16-D85FF421750B}"/>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10</a:t>
            </a:fld>
            <a:endParaRPr/>
          </a:p>
        </p:txBody>
      </p:sp>
    </p:spTree>
    <p:extLst>
      <p:ext uri="{BB962C8B-B14F-4D97-AF65-F5344CB8AC3E}">
        <p14:creationId xmlns:p14="http://schemas.microsoft.com/office/powerpoint/2010/main" val="1526359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2283C59-FC25-4E86-A87F-76B65E8C5E02}"/>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Bigger Model Does Not Always Mean Better Choice</a:t>
            </a:r>
            <a:endParaRPr sz="2500"/>
          </a:p>
        </p:txBody>
      </p:sp>
      <p:sp>
        <p:nvSpPr>
          <p:cNvPr id="3" name="Text 1">
            <a:extLst>
              <a:ext uri="{FF2B5EF4-FFF2-40B4-BE49-F238E27FC236}">
                <a16:creationId xmlns:a16="http://schemas.microsoft.com/office/drawing/2014/main" id="{EF861B00-9A66-4B8E-84A4-1AF620C1C2A3}"/>
              </a:ext>
            </a:extLst>
          </p:cNvPr>
          <p:cNvSpPr>
            <a:spLocks noGrp="1"/>
          </p:cNvSpPr>
          <p:nvPr/>
        </p:nvSpPr>
        <p:spPr>
          <a:xfrm>
            <a:off x="694944" y="1133856"/>
            <a:ext cx="5897880" cy="4434840"/>
          </a:xfrm>
          <a:prstGeom prst="rect">
            <a:avLst/>
          </a:prstGeom>
          <a:noFill/>
        </p:spPr>
        <p:txBody>
          <a:bodyPr wrap="square" lIns="508" tIns="508" rIns="508" bIns="508" anchor="ctr">
            <a:normAutofit/>
          </a:bodyPr>
          <a:lstStyle/>
          <a:p>
            <a:pPr marL="228600" indent="-228600">
              <a:buSzPct val="100000"/>
              <a:buChar char="•"/>
            </a:pPr>
            <a:r>
              <a:rPr sz="1680">
                <a:solidFill>
                  <a:srgbClr val="1F2937"/>
                </a:solidFill>
                <a:latin typeface="Aptos"/>
                <a:ea typeface="Aptos"/>
                <a:cs typeface="Aptos"/>
              </a:rPr>
              <a:t>Different Foundation Models have different levels of capability, speed, and cost.</a:t>
            </a:r>
            <a:endParaRPr sz="1680"/>
          </a:p>
          <a:p>
            <a:pPr marL="228600" indent="-228600">
              <a:buSzPct val="100000"/>
              <a:buChar char="•"/>
            </a:pPr>
            <a:r>
              <a:rPr sz="1680">
                <a:solidFill>
                  <a:srgbClr val="1F2937"/>
                </a:solidFill>
                <a:latin typeface="Aptos"/>
                <a:ea typeface="Aptos"/>
                <a:cs typeface="Aptos"/>
              </a:rPr>
              <a:t>The most powerful model may be useful for complex reasoning, but many everyday tasks do not require the largest model.</a:t>
            </a:r>
            <a:endParaRPr sz="1680"/>
          </a:p>
          <a:p>
            <a:pPr marL="228600" indent="-228600">
              <a:buSzPct val="100000"/>
              <a:buChar char="•"/>
            </a:pPr>
            <a:r>
              <a:rPr sz="1680">
                <a:solidFill>
                  <a:srgbClr val="1F2937"/>
                </a:solidFill>
                <a:latin typeface="Aptos"/>
                <a:ea typeface="Aptos"/>
                <a:cs typeface="Aptos"/>
              </a:rPr>
              <a:t>Tasks such as basic classification, formatting, extraction, summarization, or simple preprocessing may work well with smaller models.</a:t>
            </a:r>
            <a:endParaRPr sz="1680"/>
          </a:p>
          <a:p>
            <a:pPr marL="228600" indent="-228600">
              <a:buSzPct val="100000"/>
              <a:buChar char="•"/>
            </a:pPr>
            <a:r>
              <a:rPr sz="1680">
                <a:solidFill>
                  <a:srgbClr val="1F2937"/>
                </a:solidFill>
                <a:latin typeface="Aptos"/>
                <a:ea typeface="Aptos"/>
                <a:cs typeface="Aptos"/>
              </a:rPr>
              <a:t>More difficult tasks can then be sent to a more capable model.</a:t>
            </a:r>
            <a:endParaRPr sz="1680"/>
          </a:p>
          <a:p>
            <a:pPr marL="228600" indent="-228600">
              <a:buSzPct val="100000"/>
              <a:buChar char="•"/>
            </a:pPr>
            <a:r>
              <a:rPr sz="1680">
                <a:solidFill>
                  <a:srgbClr val="1F2937"/>
                </a:solidFill>
                <a:latin typeface="Aptos"/>
                <a:ea typeface="Aptos"/>
                <a:cs typeface="Aptos"/>
              </a:rPr>
              <a:t>This allows the application to control cost without forcing every request through the most expensive option.</a:t>
            </a:r>
            <a:endParaRPr sz="1680"/>
          </a:p>
        </p:txBody>
      </p:sp>
      <p:sp>
        <p:nvSpPr>
          <p:cNvPr id="4" name="Shape 2">
            <a:extLst>
              <a:ext uri="{FF2B5EF4-FFF2-40B4-BE49-F238E27FC236}">
                <a16:creationId xmlns:a16="http://schemas.microsoft.com/office/drawing/2014/main" id="{4A4AF933-E608-4A94-A049-9B1426B039B5}"/>
              </a:ext>
            </a:extLst>
          </p:cNvPr>
          <p:cNvSpPr>
            <a:spLocks noGrp="1"/>
          </p:cNvSpPr>
          <p:nvPr/>
        </p:nvSpPr>
        <p:spPr>
          <a:xfrm>
            <a:off x="6903720" y="1417320"/>
            <a:ext cx="2148840" cy="3474720"/>
          </a:xfrm>
          <a:prstGeom prst="roundRect">
            <a:avLst/>
          </a:prstGeom>
          <a:solidFill>
            <a:srgbClr val="EAF2FB"/>
          </a:solidFill>
          <a:ln w="12700">
            <a:solidFill>
              <a:srgbClr val="255C99"/>
            </a:solidFill>
            <a:prstDash val="solid"/>
          </a:ln>
        </p:spPr>
        <p:txBody>
          <a:bodyPr/>
          <a:lstStyle/>
          <a:p>
            <a:endParaRPr lang="en-IN"/>
          </a:p>
        </p:txBody>
      </p:sp>
      <p:sp>
        <p:nvSpPr>
          <p:cNvPr id="5" name="Shape 3">
            <a:extLst>
              <a:ext uri="{FF2B5EF4-FFF2-40B4-BE49-F238E27FC236}">
                <a16:creationId xmlns:a16="http://schemas.microsoft.com/office/drawing/2014/main" id="{7BD1181A-8D89-4C4B-8BB5-7BD0FCA0668C}"/>
              </a:ext>
            </a:extLst>
          </p:cNvPr>
          <p:cNvSpPr>
            <a:spLocks noGrp="1"/>
          </p:cNvSpPr>
          <p:nvPr/>
        </p:nvSpPr>
        <p:spPr>
          <a:xfrm>
            <a:off x="9189720" y="1417320"/>
            <a:ext cx="2148840" cy="3474720"/>
          </a:xfrm>
          <a:prstGeom prst="roundRect">
            <a:avLst/>
          </a:prstGeom>
          <a:solidFill>
            <a:srgbClr val="FFF4E6"/>
          </a:solidFill>
          <a:ln w="12700">
            <a:solidFill>
              <a:srgbClr val="FF9900"/>
            </a:solidFill>
            <a:prstDash val="solid"/>
          </a:ln>
        </p:spPr>
        <p:txBody>
          <a:bodyPr/>
          <a:lstStyle/>
          <a:p>
            <a:endParaRPr lang="en-IN"/>
          </a:p>
        </p:txBody>
      </p:sp>
      <p:sp>
        <p:nvSpPr>
          <p:cNvPr id="6" name="Text 4">
            <a:extLst>
              <a:ext uri="{FF2B5EF4-FFF2-40B4-BE49-F238E27FC236}">
                <a16:creationId xmlns:a16="http://schemas.microsoft.com/office/drawing/2014/main" id="{43164A05-0DAA-432A-822F-0FB6562A0E14}"/>
              </a:ext>
            </a:extLst>
          </p:cNvPr>
          <p:cNvSpPr>
            <a:spLocks noGrp="1"/>
          </p:cNvSpPr>
          <p:nvPr/>
        </p:nvSpPr>
        <p:spPr>
          <a:xfrm>
            <a:off x="7150608" y="1737360"/>
            <a:ext cx="1645920" cy="274320"/>
          </a:xfrm>
          <a:prstGeom prst="rect">
            <a:avLst/>
          </a:prstGeom>
          <a:noFill/>
        </p:spPr>
        <p:txBody>
          <a:bodyPr wrap="square" lIns="0" tIns="0" rIns="0" bIns="0" anchor="ctr"/>
          <a:lstStyle/>
          <a:p>
            <a:pPr marL="0" indent="0" algn="ctr">
              <a:buNone/>
            </a:pPr>
            <a:r>
              <a:rPr sz="1700" b="1">
                <a:solidFill>
                  <a:srgbClr val="255C99"/>
                </a:solidFill>
              </a:rPr>
              <a:t>Small Model:</a:t>
            </a:r>
            <a:endParaRPr sz="1700"/>
          </a:p>
        </p:txBody>
      </p:sp>
      <p:sp>
        <p:nvSpPr>
          <p:cNvPr id="7" name="Text 5">
            <a:extLst>
              <a:ext uri="{FF2B5EF4-FFF2-40B4-BE49-F238E27FC236}">
                <a16:creationId xmlns:a16="http://schemas.microsoft.com/office/drawing/2014/main" id="{4C1553DF-0188-4720-B601-D6AC8F239D65}"/>
              </a:ext>
            </a:extLst>
          </p:cNvPr>
          <p:cNvSpPr>
            <a:spLocks noGrp="1"/>
          </p:cNvSpPr>
          <p:nvPr/>
        </p:nvSpPr>
        <p:spPr>
          <a:xfrm>
            <a:off x="7168896" y="2304288"/>
            <a:ext cx="1627632" cy="1965960"/>
          </a:xfrm>
          <a:prstGeom prst="rect">
            <a:avLst/>
          </a:prstGeom>
          <a:noFill/>
        </p:spPr>
        <p:txBody>
          <a:bodyPr wrap="square" lIns="254" tIns="254" rIns="254" bIns="254" anchor="ctr">
            <a:normAutofit/>
          </a:bodyPr>
          <a:lstStyle/>
          <a:p>
            <a:pPr marL="0" indent="0">
              <a:buNone/>
            </a:pPr>
            <a:r>
              <a:rPr sz="1480">
                <a:solidFill>
                  <a:srgbClr val="1F2937"/>
                </a:solidFill>
              </a:rPr>
              <a:t>• Classify support request</a:t>
            </a:r>
            <a:endParaRPr sz="1480"/>
          </a:p>
          <a:p>
            <a:pPr marL="0" indent="0">
              <a:buNone/>
            </a:pPr>
            <a:endParaRPr sz="1480"/>
          </a:p>
          <a:p>
            <a:pPr marL="0" indent="0">
              <a:buNone/>
            </a:pPr>
            <a:r>
              <a:rPr sz="1480">
                <a:solidFill>
                  <a:srgbClr val="1F2937"/>
                </a:solidFill>
              </a:rPr>
              <a:t>• Summarize conversation</a:t>
            </a:r>
            <a:endParaRPr sz="1480"/>
          </a:p>
          <a:p>
            <a:pPr marL="0" indent="0">
              <a:buNone/>
            </a:pPr>
            <a:endParaRPr sz="1480"/>
          </a:p>
          <a:p>
            <a:pPr marL="0" indent="0">
              <a:buNone/>
            </a:pPr>
            <a:r>
              <a:rPr sz="1480">
                <a:solidFill>
                  <a:srgbClr val="1F2937"/>
                </a:solidFill>
              </a:rPr>
              <a:t>• Extract important fields</a:t>
            </a:r>
            <a:endParaRPr sz="1480"/>
          </a:p>
        </p:txBody>
      </p:sp>
      <p:sp>
        <p:nvSpPr>
          <p:cNvPr id="8" name="Text 6">
            <a:extLst>
              <a:ext uri="{FF2B5EF4-FFF2-40B4-BE49-F238E27FC236}">
                <a16:creationId xmlns:a16="http://schemas.microsoft.com/office/drawing/2014/main" id="{809AEC76-B136-4A83-B4D8-CB64EC506AC6}"/>
              </a:ext>
            </a:extLst>
          </p:cNvPr>
          <p:cNvSpPr>
            <a:spLocks noGrp="1"/>
          </p:cNvSpPr>
          <p:nvPr/>
        </p:nvSpPr>
        <p:spPr>
          <a:xfrm>
            <a:off x="9436608" y="1737360"/>
            <a:ext cx="1645920" cy="274320"/>
          </a:xfrm>
          <a:prstGeom prst="rect">
            <a:avLst/>
          </a:prstGeom>
          <a:noFill/>
        </p:spPr>
        <p:txBody>
          <a:bodyPr wrap="square" lIns="0" tIns="0" rIns="0" bIns="0" anchor="ctr"/>
          <a:lstStyle/>
          <a:p>
            <a:pPr marL="0" indent="0" algn="ctr">
              <a:buNone/>
            </a:pPr>
            <a:r>
              <a:rPr sz="1700" b="1">
                <a:solidFill>
                  <a:srgbClr val="FF9900"/>
                </a:solidFill>
              </a:rPr>
              <a:t>Large Model:</a:t>
            </a:r>
            <a:endParaRPr sz="1700"/>
          </a:p>
        </p:txBody>
      </p:sp>
      <p:sp>
        <p:nvSpPr>
          <p:cNvPr id="9" name="Text 7">
            <a:extLst>
              <a:ext uri="{FF2B5EF4-FFF2-40B4-BE49-F238E27FC236}">
                <a16:creationId xmlns:a16="http://schemas.microsoft.com/office/drawing/2014/main" id="{283262F1-6156-4005-AF09-F4B7964E2AE1}"/>
              </a:ext>
            </a:extLst>
          </p:cNvPr>
          <p:cNvSpPr>
            <a:spLocks noGrp="1"/>
          </p:cNvSpPr>
          <p:nvPr/>
        </p:nvSpPr>
        <p:spPr>
          <a:xfrm>
            <a:off x="9436608" y="2304288"/>
            <a:ext cx="1645920" cy="1965960"/>
          </a:xfrm>
          <a:prstGeom prst="rect">
            <a:avLst/>
          </a:prstGeom>
          <a:noFill/>
        </p:spPr>
        <p:txBody>
          <a:bodyPr wrap="square" lIns="254" tIns="254" rIns="254" bIns="254" anchor="ctr">
            <a:normAutofit/>
          </a:bodyPr>
          <a:lstStyle/>
          <a:p>
            <a:pPr marL="0" indent="0">
              <a:buNone/>
            </a:pPr>
            <a:r>
              <a:rPr sz="1460">
                <a:solidFill>
                  <a:srgbClr val="1F2937"/>
                </a:solidFill>
              </a:rPr>
              <a:t>• Handle complex troubleshooting</a:t>
            </a:r>
            <a:endParaRPr sz="1460"/>
          </a:p>
          <a:p>
            <a:pPr marL="0" indent="0">
              <a:buNone/>
            </a:pPr>
            <a:endParaRPr sz="1460"/>
          </a:p>
          <a:p>
            <a:pPr marL="0" indent="0">
              <a:buNone/>
            </a:pPr>
            <a:r>
              <a:rPr sz="1460">
                <a:solidFill>
                  <a:srgbClr val="1F2937"/>
                </a:solidFill>
              </a:rPr>
              <a:t>• Analyze difficult business problem</a:t>
            </a:r>
            <a:endParaRPr sz="1460"/>
          </a:p>
          <a:p>
            <a:pPr marL="0" indent="0">
              <a:buNone/>
            </a:pPr>
            <a:endParaRPr sz="1460"/>
          </a:p>
          <a:p>
            <a:pPr marL="0" indent="0">
              <a:buNone/>
            </a:pPr>
            <a:r>
              <a:rPr sz="1460">
                <a:solidFill>
                  <a:srgbClr val="1F2937"/>
                </a:solidFill>
              </a:rPr>
              <a:t>• Produce deeper reasoning</a:t>
            </a:r>
            <a:endParaRPr sz="1460"/>
          </a:p>
        </p:txBody>
      </p:sp>
      <p:sp>
        <p:nvSpPr>
          <p:cNvPr id="10" name="Shape 8">
            <a:extLst>
              <a:ext uri="{FF2B5EF4-FFF2-40B4-BE49-F238E27FC236}">
                <a16:creationId xmlns:a16="http://schemas.microsoft.com/office/drawing/2014/main" id="{A5474171-B35A-47B0-9B42-FE20AFDE003A}"/>
              </a:ext>
            </a:extLst>
          </p:cNvPr>
          <p:cNvSpPr>
            <a:spLocks noGrp="1"/>
          </p:cNvSpPr>
          <p:nvPr/>
        </p:nvSpPr>
        <p:spPr>
          <a:xfrm>
            <a:off x="658368" y="5413248"/>
            <a:ext cx="10881360" cy="658368"/>
          </a:xfrm>
          <a:prstGeom prst="roundRect">
            <a:avLst>
              <a:gd name="adj" fmla="val 11111"/>
            </a:avLst>
          </a:prstGeom>
          <a:solidFill>
            <a:srgbClr val="FFFFFF"/>
          </a:solidFill>
          <a:ln w="12700">
            <a:solidFill>
              <a:srgbClr val="255C99"/>
            </a:solidFill>
            <a:prstDash val="solid"/>
          </a:ln>
        </p:spPr>
        <p:txBody>
          <a:bodyPr/>
          <a:lstStyle/>
          <a:p>
            <a:endParaRPr lang="en-IN"/>
          </a:p>
        </p:txBody>
      </p:sp>
      <p:sp>
        <p:nvSpPr>
          <p:cNvPr id="11" name="Text 9">
            <a:extLst>
              <a:ext uri="{FF2B5EF4-FFF2-40B4-BE49-F238E27FC236}">
                <a16:creationId xmlns:a16="http://schemas.microsoft.com/office/drawing/2014/main" id="{14483A54-4D4F-4118-8951-DE2480AC19EA}"/>
              </a:ext>
            </a:extLst>
          </p:cNvPr>
          <p:cNvSpPr>
            <a:spLocks noGrp="1"/>
          </p:cNvSpPr>
          <p:nvPr/>
        </p:nvSpPr>
        <p:spPr>
          <a:xfrm>
            <a:off x="868680" y="5522976"/>
            <a:ext cx="1371600" cy="219456"/>
          </a:xfrm>
          <a:prstGeom prst="rect">
            <a:avLst/>
          </a:prstGeom>
          <a:noFill/>
        </p:spPr>
        <p:txBody>
          <a:bodyPr wrap="square" lIns="0" tIns="0" rIns="0" bIns="0" anchor="ctr"/>
          <a:lstStyle/>
          <a:p>
            <a:pPr marL="0" indent="0">
              <a:buNone/>
            </a:pPr>
            <a:r>
              <a:rPr sz="1350" b="1">
                <a:solidFill>
                  <a:srgbClr val="255C99"/>
                </a:solidFill>
              </a:rPr>
              <a:t>Main Idea:</a:t>
            </a:r>
            <a:endParaRPr sz="1350"/>
          </a:p>
        </p:txBody>
      </p:sp>
      <p:sp>
        <p:nvSpPr>
          <p:cNvPr id="12" name="Text 10">
            <a:extLst>
              <a:ext uri="{FF2B5EF4-FFF2-40B4-BE49-F238E27FC236}">
                <a16:creationId xmlns:a16="http://schemas.microsoft.com/office/drawing/2014/main" id="{A40B25F6-0571-460D-8FF4-6AE1FBBD324A}"/>
              </a:ext>
            </a:extLst>
          </p:cNvPr>
          <p:cNvSpPr>
            <a:spLocks noGrp="1"/>
          </p:cNvSpPr>
          <p:nvPr/>
        </p:nvSpPr>
        <p:spPr>
          <a:xfrm>
            <a:off x="2148840" y="5495544"/>
            <a:ext cx="9098280" cy="310896"/>
          </a:xfrm>
          <a:prstGeom prst="rect">
            <a:avLst/>
          </a:prstGeom>
          <a:noFill/>
        </p:spPr>
        <p:txBody>
          <a:bodyPr wrap="square" lIns="0" tIns="0" rIns="0" bIns="0" anchor="ctr">
            <a:normAutofit/>
          </a:bodyPr>
          <a:lstStyle/>
          <a:p>
            <a:pPr marL="0" indent="0">
              <a:buNone/>
            </a:pPr>
            <a:r>
              <a:rPr sz="1520" b="1">
                <a:solidFill>
                  <a:srgbClr val="1F2937"/>
                </a:solidFill>
              </a:rPr>
              <a:t>Choose the model based on the task, not only on model size.</a:t>
            </a:r>
            <a:endParaRPr sz="1520"/>
          </a:p>
        </p:txBody>
      </p:sp>
      <p:sp>
        <p:nvSpPr>
          <p:cNvPr id="25" name="Slide Number Placeholder 0">
            <a:extLst>
              <a:ext uri="{FF2B5EF4-FFF2-40B4-BE49-F238E27FC236}">
                <a16:creationId xmlns:a16="http://schemas.microsoft.com/office/drawing/2014/main" id="{5D4999D7-FFC9-4915-B59A-644367055CB6}"/>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11</a:t>
            </a:fld>
            <a:endParaRPr/>
          </a:p>
        </p:txBody>
      </p:sp>
    </p:spTree>
    <p:extLst>
      <p:ext uri="{BB962C8B-B14F-4D97-AF65-F5344CB8AC3E}">
        <p14:creationId xmlns:p14="http://schemas.microsoft.com/office/powerpoint/2010/main" val="1798839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8B2B3C0-01A1-48C8-8E46-18498190ADB3}"/>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Cost vs. Capability Tradeoff</a:t>
            </a:r>
            <a:endParaRPr sz="2500"/>
          </a:p>
        </p:txBody>
      </p:sp>
      <p:sp>
        <p:nvSpPr>
          <p:cNvPr id="3" name="Text 1">
            <a:extLst>
              <a:ext uri="{FF2B5EF4-FFF2-40B4-BE49-F238E27FC236}">
                <a16:creationId xmlns:a16="http://schemas.microsoft.com/office/drawing/2014/main" id="{D64E3458-127C-4FE8-B0DB-3C57C5782F0A}"/>
              </a:ext>
            </a:extLst>
          </p:cNvPr>
          <p:cNvSpPr>
            <a:spLocks noGrp="1"/>
          </p:cNvSpPr>
          <p:nvPr/>
        </p:nvSpPr>
        <p:spPr>
          <a:xfrm>
            <a:off x="694944" y="1143000"/>
            <a:ext cx="6583680" cy="4206240"/>
          </a:xfrm>
          <a:prstGeom prst="rect">
            <a:avLst/>
          </a:prstGeom>
          <a:noFill/>
        </p:spPr>
        <p:txBody>
          <a:bodyPr wrap="square" lIns="508" tIns="508" rIns="508" bIns="508" anchor="ctr">
            <a:normAutofit/>
          </a:bodyPr>
          <a:lstStyle/>
          <a:p>
            <a:pPr marL="228600" indent="-228600">
              <a:buSzPct val="100000"/>
              <a:buChar char="•"/>
            </a:pPr>
            <a:r>
              <a:rPr sz="1720">
                <a:solidFill>
                  <a:srgbClr val="1F2937"/>
                </a:solidFill>
                <a:latin typeface="Aptos"/>
                <a:ea typeface="Aptos"/>
                <a:cs typeface="Aptos"/>
              </a:rPr>
              <a:t>Model selection is usually a tradeoff between quality, cost, latency, and capability.</a:t>
            </a:r>
            <a:endParaRPr sz="1720"/>
          </a:p>
          <a:p>
            <a:pPr marL="228600" indent="-228600">
              <a:buSzPct val="100000"/>
              <a:buChar char="•"/>
            </a:pPr>
            <a:r>
              <a:rPr sz="1720">
                <a:solidFill>
                  <a:srgbClr val="1F2937"/>
                </a:solidFill>
                <a:latin typeface="Aptos"/>
                <a:ea typeface="Aptos"/>
                <a:cs typeface="Aptos"/>
              </a:rPr>
              <a:t>A cheaper model may respond faster and cost less, but it may not perform as well on very difficult requests.</a:t>
            </a:r>
            <a:endParaRPr sz="1720"/>
          </a:p>
          <a:p>
            <a:pPr marL="228600" indent="-228600">
              <a:buSzPct val="100000"/>
              <a:buChar char="•"/>
            </a:pPr>
            <a:r>
              <a:rPr sz="1720">
                <a:solidFill>
                  <a:srgbClr val="1F2937"/>
                </a:solidFill>
                <a:latin typeface="Aptos"/>
                <a:ea typeface="Aptos"/>
                <a:cs typeface="Aptos"/>
              </a:rPr>
              <a:t>A larger model may provide better performance for complex work but may increase latency and cost.</a:t>
            </a:r>
            <a:endParaRPr sz="1720"/>
          </a:p>
          <a:p>
            <a:pPr marL="228600" indent="-228600">
              <a:buSzPct val="100000"/>
              <a:buChar char="•"/>
            </a:pPr>
            <a:r>
              <a:rPr sz="1720">
                <a:solidFill>
                  <a:srgbClr val="1F2937"/>
                </a:solidFill>
                <a:latin typeface="Aptos"/>
                <a:ea typeface="Aptos"/>
                <a:cs typeface="Aptos"/>
              </a:rPr>
              <a:t>Because of this, there may not be one perfect model for every request in the application.</a:t>
            </a:r>
            <a:endParaRPr sz="1720"/>
          </a:p>
          <a:p>
            <a:pPr marL="228600" indent="-228600">
              <a:buSzPct val="100000"/>
              <a:buChar char="•"/>
            </a:pPr>
            <a:r>
              <a:rPr sz="1720">
                <a:solidFill>
                  <a:srgbClr val="1F2937"/>
                </a:solidFill>
                <a:latin typeface="Aptos"/>
                <a:ea typeface="Aptos"/>
                <a:cs typeface="Aptos"/>
              </a:rPr>
              <a:t>Developers should understand what level of quality the use case actually requires before selecting the model.</a:t>
            </a:r>
            <a:endParaRPr sz="1720"/>
          </a:p>
        </p:txBody>
      </p:sp>
      <p:sp>
        <p:nvSpPr>
          <p:cNvPr id="4" name="Shape 2">
            <a:extLst>
              <a:ext uri="{FF2B5EF4-FFF2-40B4-BE49-F238E27FC236}">
                <a16:creationId xmlns:a16="http://schemas.microsoft.com/office/drawing/2014/main" id="{261279F0-3B1B-4D20-A00D-026F3BA8811B}"/>
              </a:ext>
            </a:extLst>
          </p:cNvPr>
          <p:cNvSpPr>
            <a:spLocks noGrp="1"/>
          </p:cNvSpPr>
          <p:nvPr/>
        </p:nvSpPr>
        <p:spPr>
          <a:xfrm>
            <a:off x="7635240" y="1463040"/>
            <a:ext cx="3657600" cy="3566160"/>
          </a:xfrm>
          <a:prstGeom prst="roundRect">
            <a:avLst/>
          </a:prstGeom>
          <a:solidFill>
            <a:srgbClr val="FFFFFF"/>
          </a:solidFill>
          <a:ln w="12700">
            <a:solidFill>
              <a:srgbClr val="D7DEE8"/>
            </a:solidFill>
            <a:prstDash val="solid"/>
          </a:ln>
        </p:spPr>
        <p:txBody>
          <a:bodyPr/>
          <a:lstStyle/>
          <a:p>
            <a:endParaRPr lang="en-IN"/>
          </a:p>
        </p:txBody>
      </p:sp>
      <p:sp>
        <p:nvSpPr>
          <p:cNvPr id="5" name="Text 3">
            <a:extLst>
              <a:ext uri="{FF2B5EF4-FFF2-40B4-BE49-F238E27FC236}">
                <a16:creationId xmlns:a16="http://schemas.microsoft.com/office/drawing/2014/main" id="{DF73C80E-18B6-43ED-B4BC-71C10653C379}"/>
              </a:ext>
            </a:extLst>
          </p:cNvPr>
          <p:cNvSpPr>
            <a:spLocks noGrp="1"/>
          </p:cNvSpPr>
          <p:nvPr/>
        </p:nvSpPr>
        <p:spPr>
          <a:xfrm>
            <a:off x="7955280" y="1737360"/>
            <a:ext cx="1188720" cy="274320"/>
          </a:xfrm>
          <a:prstGeom prst="rect">
            <a:avLst/>
          </a:prstGeom>
          <a:noFill/>
        </p:spPr>
        <p:txBody>
          <a:bodyPr wrap="square" lIns="0" tIns="0" rIns="0" bIns="0" anchor="ctr"/>
          <a:lstStyle/>
          <a:p>
            <a:pPr marL="0" indent="0">
              <a:buNone/>
            </a:pPr>
            <a:r>
              <a:rPr sz="1700" b="1">
                <a:solidFill>
                  <a:srgbClr val="FF9900"/>
                </a:solidFill>
              </a:rPr>
              <a:t>Example:</a:t>
            </a:r>
            <a:endParaRPr sz="1700"/>
          </a:p>
        </p:txBody>
      </p:sp>
      <p:sp>
        <p:nvSpPr>
          <p:cNvPr id="6" name="Text 4">
            <a:extLst>
              <a:ext uri="{FF2B5EF4-FFF2-40B4-BE49-F238E27FC236}">
                <a16:creationId xmlns:a16="http://schemas.microsoft.com/office/drawing/2014/main" id="{8C50B876-9D85-437F-A798-08B5880968C3}"/>
              </a:ext>
            </a:extLst>
          </p:cNvPr>
          <p:cNvSpPr>
            <a:spLocks noGrp="1"/>
          </p:cNvSpPr>
          <p:nvPr/>
        </p:nvSpPr>
        <p:spPr>
          <a:xfrm>
            <a:off x="7936992" y="2176272"/>
            <a:ext cx="3063240" cy="658368"/>
          </a:xfrm>
          <a:prstGeom prst="rect">
            <a:avLst/>
          </a:prstGeom>
          <a:noFill/>
        </p:spPr>
        <p:txBody>
          <a:bodyPr wrap="square" lIns="0" tIns="0" rIns="0" bIns="0" anchor="ctr">
            <a:normAutofit/>
          </a:bodyPr>
          <a:lstStyle/>
          <a:p>
            <a:pPr marL="0" indent="0">
              <a:buNone/>
            </a:pPr>
            <a:r>
              <a:rPr sz="1580" b="1">
                <a:solidFill>
                  <a:srgbClr val="1F2937"/>
                </a:solidFill>
              </a:rPr>
              <a:t>“Classify this email as billing, technical, or general.”</a:t>
            </a:r>
            <a:endParaRPr sz="1580"/>
          </a:p>
        </p:txBody>
      </p:sp>
      <p:sp>
        <p:nvSpPr>
          <p:cNvPr id="7" name="Text 5">
            <a:extLst>
              <a:ext uri="{FF2B5EF4-FFF2-40B4-BE49-F238E27FC236}">
                <a16:creationId xmlns:a16="http://schemas.microsoft.com/office/drawing/2014/main" id="{0803D5CA-1E0E-42F1-A8E7-802F4CDB388D}"/>
              </a:ext>
            </a:extLst>
          </p:cNvPr>
          <p:cNvSpPr>
            <a:spLocks noGrp="1"/>
          </p:cNvSpPr>
          <p:nvPr/>
        </p:nvSpPr>
        <p:spPr>
          <a:xfrm>
            <a:off x="7936992" y="2971800"/>
            <a:ext cx="2926080" cy="320040"/>
          </a:xfrm>
          <a:prstGeom prst="rect">
            <a:avLst/>
          </a:prstGeom>
          <a:noFill/>
        </p:spPr>
        <p:txBody>
          <a:bodyPr wrap="square" lIns="0" tIns="0" rIns="0" bIns="0" anchor="ctr"/>
          <a:lstStyle/>
          <a:p>
            <a:pPr marL="0" indent="0">
              <a:buNone/>
            </a:pPr>
            <a:r>
              <a:rPr sz="1450">
                <a:solidFill>
                  <a:srgbClr val="6B7280"/>
                </a:solidFill>
              </a:rPr>
              <a:t>may not need the same model as:</a:t>
            </a:r>
            <a:endParaRPr sz="1450"/>
          </a:p>
        </p:txBody>
      </p:sp>
      <p:sp>
        <p:nvSpPr>
          <p:cNvPr id="8" name="Text 6">
            <a:extLst>
              <a:ext uri="{FF2B5EF4-FFF2-40B4-BE49-F238E27FC236}">
                <a16:creationId xmlns:a16="http://schemas.microsoft.com/office/drawing/2014/main" id="{F4ABBA49-5A65-462B-B725-D11E6D9743D8}"/>
              </a:ext>
            </a:extLst>
          </p:cNvPr>
          <p:cNvSpPr>
            <a:spLocks noGrp="1"/>
          </p:cNvSpPr>
          <p:nvPr/>
        </p:nvSpPr>
        <p:spPr>
          <a:xfrm>
            <a:off x="7936992" y="3456432"/>
            <a:ext cx="3063240" cy="822960"/>
          </a:xfrm>
          <a:prstGeom prst="rect">
            <a:avLst/>
          </a:prstGeom>
          <a:noFill/>
        </p:spPr>
        <p:txBody>
          <a:bodyPr wrap="square" lIns="0" tIns="0" rIns="0" bIns="0" anchor="ctr">
            <a:normAutofit/>
          </a:bodyPr>
          <a:lstStyle/>
          <a:p>
            <a:pPr marL="0" indent="0">
              <a:buNone/>
            </a:pPr>
            <a:r>
              <a:rPr sz="1580" b="1">
                <a:solidFill>
                  <a:srgbClr val="1F2937"/>
                </a:solidFill>
              </a:rPr>
              <a:t>“Analyze this long technical incident and recommend the most likely root cause.”</a:t>
            </a:r>
            <a:endParaRPr sz="1580"/>
          </a:p>
        </p:txBody>
      </p:sp>
      <p:sp>
        <p:nvSpPr>
          <p:cNvPr id="9" name="Shape 7">
            <a:extLst>
              <a:ext uri="{FF2B5EF4-FFF2-40B4-BE49-F238E27FC236}">
                <a16:creationId xmlns:a16="http://schemas.microsoft.com/office/drawing/2014/main" id="{EA361080-D417-45EE-99BC-E89344F3B4AB}"/>
              </a:ext>
            </a:extLst>
          </p:cNvPr>
          <p:cNvSpPr>
            <a:spLocks noGrp="1"/>
          </p:cNvSpPr>
          <p:nvPr/>
        </p:nvSpPr>
        <p:spPr>
          <a:xfrm>
            <a:off x="658368" y="5413248"/>
            <a:ext cx="10881360" cy="658368"/>
          </a:xfrm>
          <a:prstGeom prst="roundRect">
            <a:avLst>
              <a:gd name="adj" fmla="val 11111"/>
            </a:avLst>
          </a:prstGeom>
          <a:solidFill>
            <a:srgbClr val="FFFFFF"/>
          </a:solidFill>
          <a:ln w="12700">
            <a:solidFill>
              <a:srgbClr val="255C99"/>
            </a:solidFill>
            <a:prstDash val="solid"/>
          </a:ln>
        </p:spPr>
        <p:txBody>
          <a:bodyPr/>
          <a:lstStyle/>
          <a:p>
            <a:endParaRPr lang="en-IN"/>
          </a:p>
        </p:txBody>
      </p:sp>
      <p:sp>
        <p:nvSpPr>
          <p:cNvPr id="10" name="Text 8">
            <a:extLst>
              <a:ext uri="{FF2B5EF4-FFF2-40B4-BE49-F238E27FC236}">
                <a16:creationId xmlns:a16="http://schemas.microsoft.com/office/drawing/2014/main" id="{68957C33-B9C3-4B65-94BC-F136F436C35C}"/>
              </a:ext>
            </a:extLst>
          </p:cNvPr>
          <p:cNvSpPr>
            <a:spLocks noGrp="1"/>
          </p:cNvSpPr>
          <p:nvPr/>
        </p:nvSpPr>
        <p:spPr>
          <a:xfrm>
            <a:off x="868680" y="5522976"/>
            <a:ext cx="1371600" cy="219456"/>
          </a:xfrm>
          <a:prstGeom prst="rect">
            <a:avLst/>
          </a:prstGeom>
          <a:noFill/>
        </p:spPr>
        <p:txBody>
          <a:bodyPr wrap="square" lIns="0" tIns="0" rIns="0" bIns="0" anchor="ctr"/>
          <a:lstStyle/>
          <a:p>
            <a:pPr marL="0" indent="0">
              <a:buNone/>
            </a:pPr>
            <a:r>
              <a:rPr sz="1350" b="1">
                <a:solidFill>
                  <a:srgbClr val="255C99"/>
                </a:solidFill>
              </a:rPr>
              <a:t>Main Lesson:</a:t>
            </a:r>
            <a:endParaRPr sz="1350"/>
          </a:p>
        </p:txBody>
      </p:sp>
      <p:sp>
        <p:nvSpPr>
          <p:cNvPr id="11" name="Text 9">
            <a:extLst>
              <a:ext uri="{FF2B5EF4-FFF2-40B4-BE49-F238E27FC236}">
                <a16:creationId xmlns:a16="http://schemas.microsoft.com/office/drawing/2014/main" id="{1A68E7D6-69D9-41A7-9738-E353769AA45B}"/>
              </a:ext>
            </a:extLst>
          </p:cNvPr>
          <p:cNvSpPr>
            <a:spLocks noGrp="1"/>
          </p:cNvSpPr>
          <p:nvPr/>
        </p:nvSpPr>
        <p:spPr>
          <a:xfrm>
            <a:off x="2148840" y="5495544"/>
            <a:ext cx="9098280" cy="310896"/>
          </a:xfrm>
          <a:prstGeom prst="rect">
            <a:avLst/>
          </a:prstGeom>
          <a:noFill/>
        </p:spPr>
        <p:txBody>
          <a:bodyPr wrap="square" lIns="0" tIns="0" rIns="0" bIns="0" anchor="ctr">
            <a:normAutofit/>
          </a:bodyPr>
          <a:lstStyle/>
          <a:p>
            <a:pPr marL="0" indent="0">
              <a:buNone/>
            </a:pPr>
            <a:r>
              <a:rPr sz="1520" b="1">
                <a:solidFill>
                  <a:srgbClr val="1F2937"/>
                </a:solidFill>
              </a:rPr>
              <a:t>Use enough model capability for the task without automatically using more than necessary.</a:t>
            </a:r>
            <a:endParaRPr sz="1520"/>
          </a:p>
        </p:txBody>
      </p:sp>
      <p:sp>
        <p:nvSpPr>
          <p:cNvPr id="25" name="Slide Number Placeholder 0">
            <a:extLst>
              <a:ext uri="{FF2B5EF4-FFF2-40B4-BE49-F238E27FC236}">
                <a16:creationId xmlns:a16="http://schemas.microsoft.com/office/drawing/2014/main" id="{D44E1D0D-8987-4B19-9BCD-3594720CEAEE}"/>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12</a:t>
            </a:fld>
            <a:endParaRPr/>
          </a:p>
        </p:txBody>
      </p:sp>
    </p:spTree>
    <p:extLst>
      <p:ext uri="{BB962C8B-B14F-4D97-AF65-F5344CB8AC3E}">
        <p14:creationId xmlns:p14="http://schemas.microsoft.com/office/powerpoint/2010/main" val="663218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C5EE9CC-0A8B-4895-B9A2-6BD8BEF37516}"/>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Intelligent Prompt Routing</a:t>
            </a:r>
            <a:endParaRPr sz="2500"/>
          </a:p>
        </p:txBody>
      </p:sp>
      <p:sp>
        <p:nvSpPr>
          <p:cNvPr id="3" name="Text 1">
            <a:extLst>
              <a:ext uri="{FF2B5EF4-FFF2-40B4-BE49-F238E27FC236}">
                <a16:creationId xmlns:a16="http://schemas.microsoft.com/office/drawing/2014/main" id="{C7C3E2C9-6719-40AA-9655-CAFB5E0FCA52}"/>
              </a:ext>
            </a:extLst>
          </p:cNvPr>
          <p:cNvSpPr>
            <a:spLocks noGrp="1"/>
          </p:cNvSpPr>
          <p:nvPr/>
        </p:nvSpPr>
        <p:spPr>
          <a:xfrm>
            <a:off x="694944" y="1143000"/>
            <a:ext cx="10652760" cy="3474720"/>
          </a:xfrm>
          <a:prstGeom prst="rect">
            <a:avLst/>
          </a:prstGeom>
          <a:noFill/>
        </p:spPr>
        <p:txBody>
          <a:bodyPr wrap="square" lIns="508" tIns="508" rIns="508" bIns="508" anchor="ctr">
            <a:normAutofit/>
          </a:bodyPr>
          <a:lstStyle/>
          <a:p>
            <a:pPr marL="228600" indent="-228600">
              <a:buSzPct val="100000"/>
              <a:buChar char="•"/>
            </a:pPr>
            <a:r>
              <a:rPr sz="1750">
                <a:solidFill>
                  <a:srgbClr val="1F2937"/>
                </a:solidFill>
                <a:latin typeface="Aptos"/>
                <a:ea typeface="Aptos"/>
                <a:cs typeface="Aptos"/>
              </a:rPr>
              <a:t>Intelligent Prompt Routing allows an application to send different requests to different models depending on the complexity or requirements of the request.</a:t>
            </a:r>
            <a:endParaRPr sz="1750"/>
          </a:p>
          <a:p>
            <a:pPr marL="228600" indent="-228600">
              <a:buSzPct val="100000"/>
              <a:buChar char="•"/>
            </a:pPr>
            <a:r>
              <a:rPr sz="1750">
                <a:solidFill>
                  <a:srgbClr val="1F2937"/>
                </a:solidFill>
                <a:latin typeface="Aptos"/>
                <a:ea typeface="Aptos"/>
                <a:cs typeface="Aptos"/>
              </a:rPr>
              <a:t>Instead of sending every request to one model, the system first determines what type of task the user is asking for.</a:t>
            </a:r>
            <a:endParaRPr sz="1750"/>
          </a:p>
          <a:p>
            <a:pPr marL="228600" indent="-228600">
              <a:buSzPct val="100000"/>
              <a:buChar char="•"/>
            </a:pPr>
            <a:r>
              <a:rPr sz="1750">
                <a:solidFill>
                  <a:srgbClr val="1F2937"/>
                </a:solidFill>
                <a:latin typeface="Aptos"/>
                <a:ea typeface="Aptos"/>
                <a:cs typeface="Aptos"/>
              </a:rPr>
              <a:t>Simple requests can be routed to a smaller or less expensive model.</a:t>
            </a:r>
            <a:endParaRPr sz="1750"/>
          </a:p>
          <a:p>
            <a:pPr marL="228600" indent="-228600">
              <a:buSzPct val="100000"/>
              <a:buChar char="•"/>
            </a:pPr>
            <a:r>
              <a:rPr sz="1750">
                <a:solidFill>
                  <a:srgbClr val="1F2937"/>
                </a:solidFill>
                <a:latin typeface="Aptos"/>
                <a:ea typeface="Aptos"/>
                <a:cs typeface="Aptos"/>
              </a:rPr>
              <a:t>More complex requests can be routed to a model with stronger reasoning or generation capability.</a:t>
            </a:r>
            <a:endParaRPr sz="1750"/>
          </a:p>
          <a:p>
            <a:pPr marL="228600" indent="-228600">
              <a:buSzPct val="100000"/>
              <a:buChar char="•"/>
            </a:pPr>
            <a:r>
              <a:rPr sz="1750">
                <a:solidFill>
                  <a:srgbClr val="1F2937"/>
                </a:solidFill>
                <a:latin typeface="Aptos"/>
                <a:ea typeface="Aptos"/>
                <a:cs typeface="Aptos"/>
              </a:rPr>
              <a:t>The routing logic can be implemented using application code, AWS Lambda, workflows, or agent-based systems depending on the architecture.</a:t>
            </a:r>
            <a:endParaRPr sz="1750"/>
          </a:p>
        </p:txBody>
      </p:sp>
      <p:sp>
        <p:nvSpPr>
          <p:cNvPr id="4" name="Shape 2">
            <a:extLst>
              <a:ext uri="{FF2B5EF4-FFF2-40B4-BE49-F238E27FC236}">
                <a16:creationId xmlns:a16="http://schemas.microsoft.com/office/drawing/2014/main" id="{D0A3C5DA-6670-4E9C-B457-5A8C6A243C2B}"/>
              </a:ext>
            </a:extLst>
          </p:cNvPr>
          <p:cNvSpPr>
            <a:spLocks noGrp="1"/>
          </p:cNvSpPr>
          <p:nvPr/>
        </p:nvSpPr>
        <p:spPr>
          <a:xfrm>
            <a:off x="822960" y="4572000"/>
            <a:ext cx="1995221" cy="566928"/>
          </a:xfrm>
          <a:prstGeom prst="roundRect">
            <a:avLst/>
          </a:prstGeom>
          <a:solidFill>
            <a:srgbClr val="EAF2FB"/>
          </a:solidFill>
          <a:ln w="12700">
            <a:solidFill>
              <a:srgbClr val="255C99"/>
            </a:solidFill>
            <a:prstDash val="solid"/>
          </a:ln>
        </p:spPr>
        <p:txBody>
          <a:bodyPr/>
          <a:lstStyle/>
          <a:p>
            <a:endParaRPr lang="en-IN"/>
          </a:p>
        </p:txBody>
      </p:sp>
      <p:sp>
        <p:nvSpPr>
          <p:cNvPr id="5" name="Text 3">
            <a:extLst>
              <a:ext uri="{FF2B5EF4-FFF2-40B4-BE49-F238E27FC236}">
                <a16:creationId xmlns:a16="http://schemas.microsoft.com/office/drawing/2014/main" id="{2DF13255-BD5D-46A8-B645-C134F2477E08}"/>
              </a:ext>
            </a:extLst>
          </p:cNvPr>
          <p:cNvSpPr>
            <a:spLocks noGrp="1"/>
          </p:cNvSpPr>
          <p:nvPr/>
        </p:nvSpPr>
        <p:spPr>
          <a:xfrm>
            <a:off x="877824" y="468172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User Request</a:t>
            </a:r>
            <a:endParaRPr sz="1240"/>
          </a:p>
        </p:txBody>
      </p:sp>
      <p:sp>
        <p:nvSpPr>
          <p:cNvPr id="6" name="Text 4">
            <a:extLst>
              <a:ext uri="{FF2B5EF4-FFF2-40B4-BE49-F238E27FC236}">
                <a16:creationId xmlns:a16="http://schemas.microsoft.com/office/drawing/2014/main" id="{924161D1-26C4-4477-B6D8-1D3C8DC05084}"/>
              </a:ext>
            </a:extLst>
          </p:cNvPr>
          <p:cNvSpPr>
            <a:spLocks noGrp="1"/>
          </p:cNvSpPr>
          <p:nvPr/>
        </p:nvSpPr>
        <p:spPr>
          <a:xfrm>
            <a:off x="2809037" y="472744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7" name="Shape 5">
            <a:extLst>
              <a:ext uri="{FF2B5EF4-FFF2-40B4-BE49-F238E27FC236}">
                <a16:creationId xmlns:a16="http://schemas.microsoft.com/office/drawing/2014/main" id="{4C3443F4-CDF7-48E7-8836-2F2101925B97}"/>
              </a:ext>
            </a:extLst>
          </p:cNvPr>
          <p:cNvSpPr>
            <a:spLocks noGrp="1"/>
          </p:cNvSpPr>
          <p:nvPr/>
        </p:nvSpPr>
        <p:spPr>
          <a:xfrm>
            <a:off x="2964485" y="4572000"/>
            <a:ext cx="1995221" cy="566928"/>
          </a:xfrm>
          <a:prstGeom prst="roundRect">
            <a:avLst/>
          </a:prstGeom>
          <a:solidFill>
            <a:srgbClr val="FFF4E6"/>
          </a:solidFill>
          <a:ln w="12700">
            <a:solidFill>
              <a:srgbClr val="FF9900"/>
            </a:solidFill>
            <a:prstDash val="solid"/>
          </a:ln>
        </p:spPr>
        <p:txBody>
          <a:bodyPr/>
          <a:lstStyle/>
          <a:p>
            <a:endParaRPr lang="en-IN"/>
          </a:p>
        </p:txBody>
      </p:sp>
      <p:sp>
        <p:nvSpPr>
          <p:cNvPr id="8" name="Text 6">
            <a:extLst>
              <a:ext uri="{FF2B5EF4-FFF2-40B4-BE49-F238E27FC236}">
                <a16:creationId xmlns:a16="http://schemas.microsoft.com/office/drawing/2014/main" id="{76F55DFF-67A9-47E5-8E4A-D6C95237A6DC}"/>
              </a:ext>
            </a:extLst>
          </p:cNvPr>
          <p:cNvSpPr>
            <a:spLocks noGrp="1"/>
          </p:cNvSpPr>
          <p:nvPr/>
        </p:nvSpPr>
        <p:spPr>
          <a:xfrm>
            <a:off x="3019349" y="468172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Analyze Complexity</a:t>
            </a:r>
            <a:endParaRPr sz="1240"/>
          </a:p>
        </p:txBody>
      </p:sp>
      <p:sp>
        <p:nvSpPr>
          <p:cNvPr id="9" name="Text 7">
            <a:extLst>
              <a:ext uri="{FF2B5EF4-FFF2-40B4-BE49-F238E27FC236}">
                <a16:creationId xmlns:a16="http://schemas.microsoft.com/office/drawing/2014/main" id="{9CE57A8B-27A6-4299-8364-A1757770E291}"/>
              </a:ext>
            </a:extLst>
          </p:cNvPr>
          <p:cNvSpPr>
            <a:spLocks noGrp="1"/>
          </p:cNvSpPr>
          <p:nvPr/>
        </p:nvSpPr>
        <p:spPr>
          <a:xfrm>
            <a:off x="4950562" y="472744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0" name="Shape 8">
            <a:extLst>
              <a:ext uri="{FF2B5EF4-FFF2-40B4-BE49-F238E27FC236}">
                <a16:creationId xmlns:a16="http://schemas.microsoft.com/office/drawing/2014/main" id="{B2733519-186A-4706-910E-BB5539F6A5C6}"/>
              </a:ext>
            </a:extLst>
          </p:cNvPr>
          <p:cNvSpPr>
            <a:spLocks noGrp="1"/>
          </p:cNvSpPr>
          <p:nvPr/>
        </p:nvSpPr>
        <p:spPr>
          <a:xfrm>
            <a:off x="5106010" y="4572000"/>
            <a:ext cx="1995221" cy="566928"/>
          </a:xfrm>
          <a:prstGeom prst="roundRect">
            <a:avLst/>
          </a:prstGeom>
          <a:solidFill>
            <a:srgbClr val="EAF2FB"/>
          </a:solidFill>
          <a:ln w="12700">
            <a:solidFill>
              <a:srgbClr val="255C99"/>
            </a:solidFill>
            <a:prstDash val="solid"/>
          </a:ln>
        </p:spPr>
        <p:txBody>
          <a:bodyPr/>
          <a:lstStyle/>
          <a:p>
            <a:endParaRPr lang="en-IN"/>
          </a:p>
        </p:txBody>
      </p:sp>
      <p:sp>
        <p:nvSpPr>
          <p:cNvPr id="11" name="Text 9">
            <a:extLst>
              <a:ext uri="{FF2B5EF4-FFF2-40B4-BE49-F238E27FC236}">
                <a16:creationId xmlns:a16="http://schemas.microsoft.com/office/drawing/2014/main" id="{E1E78728-EBE5-426D-A3CD-37AF92533749}"/>
              </a:ext>
            </a:extLst>
          </p:cNvPr>
          <p:cNvSpPr>
            <a:spLocks noGrp="1"/>
          </p:cNvSpPr>
          <p:nvPr/>
        </p:nvSpPr>
        <p:spPr>
          <a:xfrm>
            <a:off x="5160874" y="468172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Simple Request → Smaller Model</a:t>
            </a:r>
            <a:endParaRPr sz="1240"/>
          </a:p>
        </p:txBody>
      </p:sp>
      <p:sp>
        <p:nvSpPr>
          <p:cNvPr id="12" name="Text 10">
            <a:extLst>
              <a:ext uri="{FF2B5EF4-FFF2-40B4-BE49-F238E27FC236}">
                <a16:creationId xmlns:a16="http://schemas.microsoft.com/office/drawing/2014/main" id="{47440962-F168-488A-9AC3-D2E6A190758D}"/>
              </a:ext>
            </a:extLst>
          </p:cNvPr>
          <p:cNvSpPr>
            <a:spLocks noGrp="1"/>
          </p:cNvSpPr>
          <p:nvPr/>
        </p:nvSpPr>
        <p:spPr>
          <a:xfrm>
            <a:off x="7092086" y="472744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3" name="Shape 11">
            <a:extLst>
              <a:ext uri="{FF2B5EF4-FFF2-40B4-BE49-F238E27FC236}">
                <a16:creationId xmlns:a16="http://schemas.microsoft.com/office/drawing/2014/main" id="{37B6297F-2189-4F10-9ACA-B3858BBAD26C}"/>
              </a:ext>
            </a:extLst>
          </p:cNvPr>
          <p:cNvSpPr>
            <a:spLocks noGrp="1"/>
          </p:cNvSpPr>
          <p:nvPr/>
        </p:nvSpPr>
        <p:spPr>
          <a:xfrm>
            <a:off x="7247534" y="4572000"/>
            <a:ext cx="1995221" cy="566928"/>
          </a:xfrm>
          <a:prstGeom prst="roundRect">
            <a:avLst/>
          </a:prstGeom>
          <a:solidFill>
            <a:srgbClr val="FFF4E6"/>
          </a:solidFill>
          <a:ln w="12700">
            <a:solidFill>
              <a:srgbClr val="FF9900"/>
            </a:solidFill>
            <a:prstDash val="solid"/>
          </a:ln>
        </p:spPr>
        <p:txBody>
          <a:bodyPr/>
          <a:lstStyle/>
          <a:p>
            <a:endParaRPr lang="en-IN"/>
          </a:p>
        </p:txBody>
      </p:sp>
      <p:sp>
        <p:nvSpPr>
          <p:cNvPr id="14" name="Text 12">
            <a:extLst>
              <a:ext uri="{FF2B5EF4-FFF2-40B4-BE49-F238E27FC236}">
                <a16:creationId xmlns:a16="http://schemas.microsoft.com/office/drawing/2014/main" id="{ED01765F-3C81-4187-898D-B6592694C13B}"/>
              </a:ext>
            </a:extLst>
          </p:cNvPr>
          <p:cNvSpPr>
            <a:spLocks noGrp="1"/>
          </p:cNvSpPr>
          <p:nvPr/>
        </p:nvSpPr>
        <p:spPr>
          <a:xfrm>
            <a:off x="7302398" y="468172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Complex Request → More Capable Model</a:t>
            </a:r>
            <a:endParaRPr sz="1240"/>
          </a:p>
        </p:txBody>
      </p:sp>
      <p:sp>
        <p:nvSpPr>
          <p:cNvPr id="15" name="Text 13">
            <a:extLst>
              <a:ext uri="{FF2B5EF4-FFF2-40B4-BE49-F238E27FC236}">
                <a16:creationId xmlns:a16="http://schemas.microsoft.com/office/drawing/2014/main" id="{E74EBF10-9159-4029-9491-3C23BB2528C6}"/>
              </a:ext>
            </a:extLst>
          </p:cNvPr>
          <p:cNvSpPr>
            <a:spLocks noGrp="1"/>
          </p:cNvSpPr>
          <p:nvPr/>
        </p:nvSpPr>
        <p:spPr>
          <a:xfrm>
            <a:off x="9233611" y="472744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6" name="Shape 14">
            <a:extLst>
              <a:ext uri="{FF2B5EF4-FFF2-40B4-BE49-F238E27FC236}">
                <a16:creationId xmlns:a16="http://schemas.microsoft.com/office/drawing/2014/main" id="{553F3BE8-0FB2-4296-BF80-00846B87A70A}"/>
              </a:ext>
            </a:extLst>
          </p:cNvPr>
          <p:cNvSpPr>
            <a:spLocks noGrp="1"/>
          </p:cNvSpPr>
          <p:nvPr/>
        </p:nvSpPr>
        <p:spPr>
          <a:xfrm>
            <a:off x="9389059" y="4572000"/>
            <a:ext cx="1995221" cy="566928"/>
          </a:xfrm>
          <a:prstGeom prst="roundRect">
            <a:avLst/>
          </a:prstGeom>
          <a:solidFill>
            <a:srgbClr val="EAF2FB"/>
          </a:solidFill>
          <a:ln w="12700">
            <a:solidFill>
              <a:srgbClr val="255C99"/>
            </a:solidFill>
            <a:prstDash val="solid"/>
          </a:ln>
        </p:spPr>
        <p:txBody>
          <a:bodyPr/>
          <a:lstStyle/>
          <a:p>
            <a:endParaRPr lang="en-IN"/>
          </a:p>
        </p:txBody>
      </p:sp>
      <p:sp>
        <p:nvSpPr>
          <p:cNvPr id="17" name="Text 15">
            <a:extLst>
              <a:ext uri="{FF2B5EF4-FFF2-40B4-BE49-F238E27FC236}">
                <a16:creationId xmlns:a16="http://schemas.microsoft.com/office/drawing/2014/main" id="{3E377C6D-83B0-4DD2-96F7-F190794B95B3}"/>
              </a:ext>
            </a:extLst>
          </p:cNvPr>
          <p:cNvSpPr>
            <a:spLocks noGrp="1"/>
          </p:cNvSpPr>
          <p:nvPr/>
        </p:nvSpPr>
        <p:spPr>
          <a:xfrm>
            <a:off x="9443923" y="4681728"/>
            <a:ext cx="1885493" cy="310896"/>
          </a:xfrm>
          <a:prstGeom prst="rect">
            <a:avLst/>
          </a:prstGeom>
          <a:noFill/>
        </p:spPr>
        <p:txBody>
          <a:bodyPr wrap="square" lIns="0" tIns="0" rIns="0" bIns="0" anchor="ctr">
            <a:normAutofit/>
          </a:bodyPr>
          <a:lstStyle/>
          <a:p>
            <a:pPr marL="0" indent="0" algn="ctr">
              <a:buNone/>
            </a:pPr>
            <a:r>
              <a:rPr sz="1240" b="1">
                <a:solidFill>
                  <a:srgbClr val="1F2937"/>
                </a:solidFill>
              </a:rPr>
              <a:t>Response</a:t>
            </a:r>
            <a:endParaRPr sz="1240"/>
          </a:p>
        </p:txBody>
      </p:sp>
      <p:sp>
        <p:nvSpPr>
          <p:cNvPr id="18" name="Shape 16">
            <a:extLst>
              <a:ext uri="{FF2B5EF4-FFF2-40B4-BE49-F238E27FC236}">
                <a16:creationId xmlns:a16="http://schemas.microsoft.com/office/drawing/2014/main" id="{38BBB9A1-4AAE-444E-9DDE-70E885ED44C7}"/>
              </a:ext>
            </a:extLst>
          </p:cNvPr>
          <p:cNvSpPr>
            <a:spLocks noGrp="1"/>
          </p:cNvSpPr>
          <p:nvPr/>
        </p:nvSpPr>
        <p:spPr>
          <a:xfrm>
            <a:off x="658368" y="5413248"/>
            <a:ext cx="10881360" cy="658368"/>
          </a:xfrm>
          <a:prstGeom prst="roundRect">
            <a:avLst>
              <a:gd name="adj" fmla="val 11111"/>
            </a:avLst>
          </a:prstGeom>
          <a:solidFill>
            <a:srgbClr val="FFFFFF"/>
          </a:solidFill>
          <a:ln w="12700">
            <a:solidFill>
              <a:srgbClr val="2F855A"/>
            </a:solidFill>
            <a:prstDash val="solid"/>
          </a:ln>
        </p:spPr>
        <p:txBody>
          <a:bodyPr/>
          <a:lstStyle/>
          <a:p>
            <a:endParaRPr lang="en-IN"/>
          </a:p>
        </p:txBody>
      </p:sp>
      <p:sp>
        <p:nvSpPr>
          <p:cNvPr id="19" name="Text 17">
            <a:extLst>
              <a:ext uri="{FF2B5EF4-FFF2-40B4-BE49-F238E27FC236}">
                <a16:creationId xmlns:a16="http://schemas.microsoft.com/office/drawing/2014/main" id="{AC488477-AAB9-4568-A9F5-8213B7D06870}"/>
              </a:ext>
            </a:extLst>
          </p:cNvPr>
          <p:cNvSpPr>
            <a:spLocks noGrp="1"/>
          </p:cNvSpPr>
          <p:nvPr/>
        </p:nvSpPr>
        <p:spPr>
          <a:xfrm>
            <a:off x="868680" y="5522976"/>
            <a:ext cx="1371600" cy="219456"/>
          </a:xfrm>
          <a:prstGeom prst="rect">
            <a:avLst/>
          </a:prstGeom>
          <a:noFill/>
        </p:spPr>
        <p:txBody>
          <a:bodyPr wrap="square" lIns="0" tIns="0" rIns="0" bIns="0" anchor="ctr"/>
          <a:lstStyle/>
          <a:p>
            <a:pPr marL="0" indent="0">
              <a:buNone/>
            </a:pPr>
            <a:r>
              <a:rPr sz="1350" b="1">
                <a:solidFill>
                  <a:srgbClr val="2F855A"/>
                </a:solidFill>
              </a:rPr>
              <a:t>Easy Way to Remember:</a:t>
            </a:r>
            <a:endParaRPr sz="1350"/>
          </a:p>
        </p:txBody>
      </p:sp>
      <p:sp>
        <p:nvSpPr>
          <p:cNvPr id="20" name="Text 18">
            <a:extLst>
              <a:ext uri="{FF2B5EF4-FFF2-40B4-BE49-F238E27FC236}">
                <a16:creationId xmlns:a16="http://schemas.microsoft.com/office/drawing/2014/main" id="{5106D307-524D-4E51-9CC4-553B6B257A96}"/>
              </a:ext>
            </a:extLst>
          </p:cNvPr>
          <p:cNvSpPr>
            <a:spLocks noGrp="1"/>
          </p:cNvSpPr>
          <p:nvPr/>
        </p:nvSpPr>
        <p:spPr>
          <a:xfrm>
            <a:off x="2148840" y="5495544"/>
            <a:ext cx="9098280" cy="310896"/>
          </a:xfrm>
          <a:prstGeom prst="rect">
            <a:avLst/>
          </a:prstGeom>
          <a:noFill/>
        </p:spPr>
        <p:txBody>
          <a:bodyPr wrap="square" lIns="0" tIns="0" rIns="0" bIns="0" anchor="ctr">
            <a:normAutofit/>
          </a:bodyPr>
          <a:lstStyle/>
          <a:p>
            <a:pPr marL="0" indent="0">
              <a:buNone/>
            </a:pPr>
            <a:r>
              <a:rPr sz="1520" b="1">
                <a:solidFill>
                  <a:srgbClr val="1F2937"/>
                </a:solidFill>
              </a:rPr>
              <a:t>Routing helps match the difficulty of the task with the capability of the model.</a:t>
            </a:r>
            <a:endParaRPr sz="1520"/>
          </a:p>
        </p:txBody>
      </p:sp>
      <p:sp>
        <p:nvSpPr>
          <p:cNvPr id="25" name="Slide Number Placeholder 0">
            <a:extLst>
              <a:ext uri="{FF2B5EF4-FFF2-40B4-BE49-F238E27FC236}">
                <a16:creationId xmlns:a16="http://schemas.microsoft.com/office/drawing/2014/main" id="{954B4BC5-6CA9-4FB2-8CCE-D45C6ADC2563}"/>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13</a:t>
            </a:fld>
            <a:endParaRPr/>
          </a:p>
        </p:txBody>
      </p:sp>
    </p:spTree>
    <p:extLst>
      <p:ext uri="{BB962C8B-B14F-4D97-AF65-F5344CB8AC3E}">
        <p14:creationId xmlns:p14="http://schemas.microsoft.com/office/powerpoint/2010/main" val="924579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55A2872-A037-43D0-8BDB-C9D3D027B16A}"/>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Evaluating the Best Model for the Use Case</a:t>
            </a:r>
            <a:endParaRPr sz="2500"/>
          </a:p>
        </p:txBody>
      </p:sp>
      <p:sp>
        <p:nvSpPr>
          <p:cNvPr id="3" name="Text 1">
            <a:extLst>
              <a:ext uri="{FF2B5EF4-FFF2-40B4-BE49-F238E27FC236}">
                <a16:creationId xmlns:a16="http://schemas.microsoft.com/office/drawing/2014/main" id="{D83E9DD7-6BA6-46A5-AC2A-54C86DCDA6CF}"/>
              </a:ext>
            </a:extLst>
          </p:cNvPr>
          <p:cNvSpPr>
            <a:spLocks noGrp="1"/>
          </p:cNvSpPr>
          <p:nvPr/>
        </p:nvSpPr>
        <p:spPr>
          <a:xfrm>
            <a:off x="694944" y="1133856"/>
            <a:ext cx="10652760" cy="3931920"/>
          </a:xfrm>
          <a:prstGeom prst="rect">
            <a:avLst/>
          </a:prstGeom>
          <a:noFill/>
        </p:spPr>
        <p:txBody>
          <a:bodyPr wrap="square" lIns="508" tIns="508" rIns="508" bIns="508" anchor="ctr">
            <a:normAutofit/>
          </a:bodyPr>
          <a:lstStyle/>
          <a:p>
            <a:pPr marL="228600" indent="-228600">
              <a:buSzPct val="100000"/>
              <a:buChar char="•"/>
            </a:pPr>
            <a:r>
              <a:rPr sz="1720">
                <a:solidFill>
                  <a:srgbClr val="1F2937"/>
                </a:solidFill>
                <a:latin typeface="Aptos"/>
                <a:ea typeface="Aptos"/>
                <a:cs typeface="Aptos"/>
              </a:rPr>
              <a:t>Choosing a model should not be based only on which model is newest, largest, or most popular.</a:t>
            </a:r>
            <a:endParaRPr sz="1720"/>
          </a:p>
          <a:p>
            <a:pPr marL="228600" indent="-228600">
              <a:buSzPct val="100000"/>
              <a:buChar char="•"/>
            </a:pPr>
            <a:r>
              <a:rPr sz="1720">
                <a:solidFill>
                  <a:srgbClr val="1F2937"/>
                </a:solidFill>
                <a:latin typeface="Aptos"/>
                <a:ea typeface="Aptos"/>
                <a:cs typeface="Aptos"/>
              </a:rPr>
              <a:t>Developers should test models using prompts that represent the real application.</a:t>
            </a:r>
            <a:endParaRPr sz="1720"/>
          </a:p>
          <a:p>
            <a:pPr marL="228600" indent="-228600">
              <a:buSzPct val="100000"/>
              <a:buChar char="•"/>
            </a:pPr>
            <a:r>
              <a:rPr sz="1720">
                <a:solidFill>
                  <a:srgbClr val="1F2937"/>
                </a:solidFill>
                <a:latin typeface="Aptos"/>
                <a:ea typeface="Aptos"/>
                <a:cs typeface="Aptos"/>
              </a:rPr>
              <a:t>Amazon Bedrock evaluation capabilities can help compare how different models perform on selected tasks.</a:t>
            </a:r>
            <a:endParaRPr sz="1720"/>
          </a:p>
          <a:p>
            <a:pPr marL="228600" indent="-228600">
              <a:buSzPct val="100000"/>
              <a:buChar char="•"/>
            </a:pPr>
            <a:r>
              <a:rPr sz="1720">
                <a:solidFill>
                  <a:srgbClr val="1F2937"/>
                </a:solidFill>
                <a:latin typeface="Aptos"/>
                <a:ea typeface="Aptos"/>
                <a:cs typeface="Aptos"/>
              </a:rPr>
              <a:t>Evaluation results can then be considered together with other factors such as token usage, latency, and cost.</a:t>
            </a:r>
            <a:endParaRPr sz="1720"/>
          </a:p>
          <a:p>
            <a:pPr marL="228600" indent="-228600">
              <a:buSzPct val="100000"/>
              <a:buChar char="•"/>
            </a:pPr>
            <a:r>
              <a:rPr sz="1720">
                <a:solidFill>
                  <a:srgbClr val="1F2937"/>
                </a:solidFill>
                <a:latin typeface="Aptos"/>
                <a:ea typeface="Aptos"/>
                <a:cs typeface="Aptos"/>
              </a:rPr>
              <a:t>A smaller model may actually be the better choice if it provides acceptable quality while using fewer resources.</a:t>
            </a:r>
            <a:endParaRPr sz="1720"/>
          </a:p>
          <a:p>
            <a:pPr marL="228600" indent="-228600">
              <a:buSzPct val="100000"/>
              <a:buChar char="•"/>
            </a:pPr>
            <a:r>
              <a:rPr sz="1720">
                <a:solidFill>
                  <a:srgbClr val="1F2937"/>
                </a:solidFill>
                <a:latin typeface="Aptos"/>
                <a:ea typeface="Aptos"/>
                <a:cs typeface="Aptos"/>
              </a:rPr>
              <a:t>The best model is therefore the one that provides the right balance for the specific application.</a:t>
            </a:r>
            <a:endParaRPr sz="1720"/>
          </a:p>
        </p:txBody>
      </p:sp>
      <p:sp>
        <p:nvSpPr>
          <p:cNvPr id="4" name="Shape 2">
            <a:extLst>
              <a:ext uri="{FF2B5EF4-FFF2-40B4-BE49-F238E27FC236}">
                <a16:creationId xmlns:a16="http://schemas.microsoft.com/office/drawing/2014/main" id="{DB66D4C9-BE05-43EF-A0D2-B15442979B49}"/>
              </a:ext>
            </a:extLst>
          </p:cNvPr>
          <p:cNvSpPr>
            <a:spLocks noGrp="1"/>
          </p:cNvSpPr>
          <p:nvPr/>
        </p:nvSpPr>
        <p:spPr>
          <a:xfrm>
            <a:off x="822960" y="4709160"/>
            <a:ext cx="1638300" cy="566928"/>
          </a:xfrm>
          <a:prstGeom prst="roundRect">
            <a:avLst/>
          </a:prstGeom>
          <a:solidFill>
            <a:srgbClr val="EAF2FB"/>
          </a:solidFill>
          <a:ln w="12700">
            <a:solidFill>
              <a:srgbClr val="255C99"/>
            </a:solidFill>
            <a:prstDash val="solid"/>
          </a:ln>
        </p:spPr>
        <p:txBody>
          <a:bodyPr/>
          <a:lstStyle/>
          <a:p>
            <a:endParaRPr lang="en-IN"/>
          </a:p>
        </p:txBody>
      </p:sp>
      <p:sp>
        <p:nvSpPr>
          <p:cNvPr id="5" name="Text 3">
            <a:extLst>
              <a:ext uri="{FF2B5EF4-FFF2-40B4-BE49-F238E27FC236}">
                <a16:creationId xmlns:a16="http://schemas.microsoft.com/office/drawing/2014/main" id="{DD0A43A4-DB9A-4F82-BAD1-F6B3D0D5660A}"/>
              </a:ext>
            </a:extLst>
          </p:cNvPr>
          <p:cNvSpPr>
            <a:spLocks noGrp="1"/>
          </p:cNvSpPr>
          <p:nvPr/>
        </p:nvSpPr>
        <p:spPr>
          <a:xfrm>
            <a:off x="877824" y="4818888"/>
            <a:ext cx="1528572" cy="310896"/>
          </a:xfrm>
          <a:prstGeom prst="rect">
            <a:avLst/>
          </a:prstGeom>
          <a:noFill/>
        </p:spPr>
        <p:txBody>
          <a:bodyPr wrap="square" lIns="0" tIns="0" rIns="0" bIns="0" anchor="ctr">
            <a:normAutofit/>
          </a:bodyPr>
          <a:lstStyle/>
          <a:p>
            <a:pPr marL="0" indent="0" algn="ctr">
              <a:buNone/>
            </a:pPr>
            <a:r>
              <a:rPr sz="1240" b="1">
                <a:solidFill>
                  <a:srgbClr val="1F2937"/>
                </a:solidFill>
              </a:rPr>
              <a:t>Quality</a:t>
            </a:r>
            <a:endParaRPr sz="1240"/>
          </a:p>
        </p:txBody>
      </p:sp>
      <p:sp>
        <p:nvSpPr>
          <p:cNvPr id="6" name="Text 4">
            <a:extLst>
              <a:ext uri="{FF2B5EF4-FFF2-40B4-BE49-F238E27FC236}">
                <a16:creationId xmlns:a16="http://schemas.microsoft.com/office/drawing/2014/main" id="{6CFD1FF1-137F-4AB3-948C-F5EF85C2CD88}"/>
              </a:ext>
            </a:extLst>
          </p:cNvPr>
          <p:cNvSpPr>
            <a:spLocks noGrp="1"/>
          </p:cNvSpPr>
          <p:nvPr/>
        </p:nvSpPr>
        <p:spPr>
          <a:xfrm>
            <a:off x="2452116"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7" name="Shape 5">
            <a:extLst>
              <a:ext uri="{FF2B5EF4-FFF2-40B4-BE49-F238E27FC236}">
                <a16:creationId xmlns:a16="http://schemas.microsoft.com/office/drawing/2014/main" id="{A1019CE7-5438-46A9-AB53-3AF73716131F}"/>
              </a:ext>
            </a:extLst>
          </p:cNvPr>
          <p:cNvSpPr>
            <a:spLocks noGrp="1"/>
          </p:cNvSpPr>
          <p:nvPr/>
        </p:nvSpPr>
        <p:spPr>
          <a:xfrm>
            <a:off x="2607564" y="4709160"/>
            <a:ext cx="1638300" cy="566928"/>
          </a:xfrm>
          <a:prstGeom prst="roundRect">
            <a:avLst/>
          </a:prstGeom>
          <a:solidFill>
            <a:srgbClr val="FFF4E6"/>
          </a:solidFill>
          <a:ln w="12700">
            <a:solidFill>
              <a:srgbClr val="FF9900"/>
            </a:solidFill>
            <a:prstDash val="solid"/>
          </a:ln>
        </p:spPr>
        <p:txBody>
          <a:bodyPr/>
          <a:lstStyle/>
          <a:p>
            <a:endParaRPr lang="en-IN"/>
          </a:p>
        </p:txBody>
      </p:sp>
      <p:sp>
        <p:nvSpPr>
          <p:cNvPr id="8" name="Text 6">
            <a:extLst>
              <a:ext uri="{FF2B5EF4-FFF2-40B4-BE49-F238E27FC236}">
                <a16:creationId xmlns:a16="http://schemas.microsoft.com/office/drawing/2014/main" id="{6A939AB5-057E-4270-AD6A-3C47B6B1040E}"/>
              </a:ext>
            </a:extLst>
          </p:cNvPr>
          <p:cNvSpPr>
            <a:spLocks noGrp="1"/>
          </p:cNvSpPr>
          <p:nvPr/>
        </p:nvSpPr>
        <p:spPr>
          <a:xfrm>
            <a:off x="2662428" y="4818888"/>
            <a:ext cx="1528572" cy="310896"/>
          </a:xfrm>
          <a:prstGeom prst="rect">
            <a:avLst/>
          </a:prstGeom>
          <a:noFill/>
        </p:spPr>
        <p:txBody>
          <a:bodyPr wrap="square" lIns="0" tIns="0" rIns="0" bIns="0" anchor="ctr">
            <a:normAutofit/>
          </a:bodyPr>
          <a:lstStyle/>
          <a:p>
            <a:pPr marL="0" indent="0" algn="ctr">
              <a:buNone/>
            </a:pPr>
            <a:r>
              <a:rPr sz="1240" b="1">
                <a:solidFill>
                  <a:srgbClr val="1F2937"/>
                </a:solidFill>
              </a:rPr>
              <a:t>Cost</a:t>
            </a:r>
            <a:endParaRPr sz="1240"/>
          </a:p>
        </p:txBody>
      </p:sp>
      <p:sp>
        <p:nvSpPr>
          <p:cNvPr id="9" name="Text 7">
            <a:extLst>
              <a:ext uri="{FF2B5EF4-FFF2-40B4-BE49-F238E27FC236}">
                <a16:creationId xmlns:a16="http://schemas.microsoft.com/office/drawing/2014/main" id="{E119845C-B56F-4C27-9E67-5E3F1A8E6756}"/>
              </a:ext>
            </a:extLst>
          </p:cNvPr>
          <p:cNvSpPr>
            <a:spLocks noGrp="1"/>
          </p:cNvSpPr>
          <p:nvPr/>
        </p:nvSpPr>
        <p:spPr>
          <a:xfrm>
            <a:off x="4236720"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0" name="Shape 8">
            <a:extLst>
              <a:ext uri="{FF2B5EF4-FFF2-40B4-BE49-F238E27FC236}">
                <a16:creationId xmlns:a16="http://schemas.microsoft.com/office/drawing/2014/main" id="{7DF269D0-12F8-4EF2-A7EF-FE97FF373BE6}"/>
              </a:ext>
            </a:extLst>
          </p:cNvPr>
          <p:cNvSpPr>
            <a:spLocks noGrp="1"/>
          </p:cNvSpPr>
          <p:nvPr/>
        </p:nvSpPr>
        <p:spPr>
          <a:xfrm>
            <a:off x="4392168" y="4709160"/>
            <a:ext cx="1638300" cy="566928"/>
          </a:xfrm>
          <a:prstGeom prst="roundRect">
            <a:avLst/>
          </a:prstGeom>
          <a:solidFill>
            <a:srgbClr val="EAF2FB"/>
          </a:solidFill>
          <a:ln w="12700">
            <a:solidFill>
              <a:srgbClr val="255C99"/>
            </a:solidFill>
            <a:prstDash val="solid"/>
          </a:ln>
        </p:spPr>
        <p:txBody>
          <a:bodyPr/>
          <a:lstStyle/>
          <a:p>
            <a:endParaRPr lang="en-IN"/>
          </a:p>
        </p:txBody>
      </p:sp>
      <p:sp>
        <p:nvSpPr>
          <p:cNvPr id="11" name="Text 9">
            <a:extLst>
              <a:ext uri="{FF2B5EF4-FFF2-40B4-BE49-F238E27FC236}">
                <a16:creationId xmlns:a16="http://schemas.microsoft.com/office/drawing/2014/main" id="{F950F1C4-6F1C-438D-A148-31986C2E67D4}"/>
              </a:ext>
            </a:extLst>
          </p:cNvPr>
          <p:cNvSpPr>
            <a:spLocks noGrp="1"/>
          </p:cNvSpPr>
          <p:nvPr/>
        </p:nvSpPr>
        <p:spPr>
          <a:xfrm>
            <a:off x="4447032" y="4818888"/>
            <a:ext cx="1528572" cy="310896"/>
          </a:xfrm>
          <a:prstGeom prst="rect">
            <a:avLst/>
          </a:prstGeom>
          <a:noFill/>
        </p:spPr>
        <p:txBody>
          <a:bodyPr wrap="square" lIns="0" tIns="0" rIns="0" bIns="0" anchor="ctr">
            <a:normAutofit/>
          </a:bodyPr>
          <a:lstStyle/>
          <a:p>
            <a:pPr marL="0" indent="0" algn="ctr">
              <a:buNone/>
            </a:pPr>
            <a:r>
              <a:rPr sz="1240" b="1">
                <a:solidFill>
                  <a:srgbClr val="1F2937"/>
                </a:solidFill>
              </a:rPr>
              <a:t>Latency</a:t>
            </a:r>
            <a:endParaRPr sz="1240"/>
          </a:p>
        </p:txBody>
      </p:sp>
      <p:sp>
        <p:nvSpPr>
          <p:cNvPr id="12" name="Text 10">
            <a:extLst>
              <a:ext uri="{FF2B5EF4-FFF2-40B4-BE49-F238E27FC236}">
                <a16:creationId xmlns:a16="http://schemas.microsoft.com/office/drawing/2014/main" id="{BC986D88-6A55-436C-A7EC-B55BB07440E3}"/>
              </a:ext>
            </a:extLst>
          </p:cNvPr>
          <p:cNvSpPr>
            <a:spLocks noGrp="1"/>
          </p:cNvSpPr>
          <p:nvPr/>
        </p:nvSpPr>
        <p:spPr>
          <a:xfrm>
            <a:off x="6021324"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3" name="Shape 11">
            <a:extLst>
              <a:ext uri="{FF2B5EF4-FFF2-40B4-BE49-F238E27FC236}">
                <a16:creationId xmlns:a16="http://schemas.microsoft.com/office/drawing/2014/main" id="{8D0ABA44-23FB-4137-820A-0C953D472B39}"/>
              </a:ext>
            </a:extLst>
          </p:cNvPr>
          <p:cNvSpPr>
            <a:spLocks noGrp="1"/>
          </p:cNvSpPr>
          <p:nvPr/>
        </p:nvSpPr>
        <p:spPr>
          <a:xfrm>
            <a:off x="6176772" y="4709160"/>
            <a:ext cx="1638300" cy="566928"/>
          </a:xfrm>
          <a:prstGeom prst="roundRect">
            <a:avLst/>
          </a:prstGeom>
          <a:solidFill>
            <a:srgbClr val="FFF4E6"/>
          </a:solidFill>
          <a:ln w="12700">
            <a:solidFill>
              <a:srgbClr val="FF9900"/>
            </a:solidFill>
            <a:prstDash val="solid"/>
          </a:ln>
        </p:spPr>
        <p:txBody>
          <a:bodyPr/>
          <a:lstStyle/>
          <a:p>
            <a:endParaRPr lang="en-IN"/>
          </a:p>
        </p:txBody>
      </p:sp>
      <p:sp>
        <p:nvSpPr>
          <p:cNvPr id="14" name="Text 12">
            <a:extLst>
              <a:ext uri="{FF2B5EF4-FFF2-40B4-BE49-F238E27FC236}">
                <a16:creationId xmlns:a16="http://schemas.microsoft.com/office/drawing/2014/main" id="{EC8DB512-C73A-4123-B02D-76E7AF282BBF}"/>
              </a:ext>
            </a:extLst>
          </p:cNvPr>
          <p:cNvSpPr>
            <a:spLocks noGrp="1"/>
          </p:cNvSpPr>
          <p:nvPr/>
        </p:nvSpPr>
        <p:spPr>
          <a:xfrm>
            <a:off x="6231636" y="4818888"/>
            <a:ext cx="1528572" cy="310896"/>
          </a:xfrm>
          <a:prstGeom prst="rect">
            <a:avLst/>
          </a:prstGeom>
          <a:noFill/>
        </p:spPr>
        <p:txBody>
          <a:bodyPr wrap="square" lIns="0" tIns="0" rIns="0" bIns="0" anchor="ctr">
            <a:normAutofit/>
          </a:bodyPr>
          <a:lstStyle/>
          <a:p>
            <a:pPr marL="0" indent="0" algn="ctr">
              <a:buNone/>
            </a:pPr>
            <a:r>
              <a:rPr sz="1240" b="1">
                <a:solidFill>
                  <a:srgbClr val="1F2937"/>
                </a:solidFill>
              </a:rPr>
              <a:t>Token Usage</a:t>
            </a:r>
            <a:endParaRPr sz="1240"/>
          </a:p>
        </p:txBody>
      </p:sp>
      <p:sp>
        <p:nvSpPr>
          <p:cNvPr id="15" name="Text 13">
            <a:extLst>
              <a:ext uri="{FF2B5EF4-FFF2-40B4-BE49-F238E27FC236}">
                <a16:creationId xmlns:a16="http://schemas.microsoft.com/office/drawing/2014/main" id="{406B00FE-1C0E-42B1-A12A-D5218AE65CF5}"/>
              </a:ext>
            </a:extLst>
          </p:cNvPr>
          <p:cNvSpPr>
            <a:spLocks noGrp="1"/>
          </p:cNvSpPr>
          <p:nvPr/>
        </p:nvSpPr>
        <p:spPr>
          <a:xfrm>
            <a:off x="7805928"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6" name="Shape 14">
            <a:extLst>
              <a:ext uri="{FF2B5EF4-FFF2-40B4-BE49-F238E27FC236}">
                <a16:creationId xmlns:a16="http://schemas.microsoft.com/office/drawing/2014/main" id="{480BE8E8-7C04-4081-B0E1-A1CC3D5E35AC}"/>
              </a:ext>
            </a:extLst>
          </p:cNvPr>
          <p:cNvSpPr>
            <a:spLocks noGrp="1"/>
          </p:cNvSpPr>
          <p:nvPr/>
        </p:nvSpPr>
        <p:spPr>
          <a:xfrm>
            <a:off x="7961376" y="4709160"/>
            <a:ext cx="1638300" cy="566928"/>
          </a:xfrm>
          <a:prstGeom prst="roundRect">
            <a:avLst/>
          </a:prstGeom>
          <a:solidFill>
            <a:srgbClr val="EAF2FB"/>
          </a:solidFill>
          <a:ln w="12700">
            <a:solidFill>
              <a:srgbClr val="255C99"/>
            </a:solidFill>
            <a:prstDash val="solid"/>
          </a:ln>
        </p:spPr>
        <p:txBody>
          <a:bodyPr/>
          <a:lstStyle/>
          <a:p>
            <a:endParaRPr lang="en-IN"/>
          </a:p>
        </p:txBody>
      </p:sp>
      <p:sp>
        <p:nvSpPr>
          <p:cNvPr id="17" name="Text 15">
            <a:extLst>
              <a:ext uri="{FF2B5EF4-FFF2-40B4-BE49-F238E27FC236}">
                <a16:creationId xmlns:a16="http://schemas.microsoft.com/office/drawing/2014/main" id="{95B1F63B-831B-49DF-A1F2-34090E604CEB}"/>
              </a:ext>
            </a:extLst>
          </p:cNvPr>
          <p:cNvSpPr>
            <a:spLocks noGrp="1"/>
          </p:cNvSpPr>
          <p:nvPr/>
        </p:nvSpPr>
        <p:spPr>
          <a:xfrm>
            <a:off x="8016240" y="4818888"/>
            <a:ext cx="1528572" cy="310896"/>
          </a:xfrm>
          <a:prstGeom prst="rect">
            <a:avLst/>
          </a:prstGeom>
          <a:noFill/>
        </p:spPr>
        <p:txBody>
          <a:bodyPr wrap="square" lIns="0" tIns="0" rIns="0" bIns="0" anchor="ctr">
            <a:normAutofit/>
          </a:bodyPr>
          <a:lstStyle/>
          <a:p>
            <a:pPr marL="0" indent="0" algn="ctr">
              <a:buNone/>
            </a:pPr>
            <a:r>
              <a:rPr sz="1240" b="1">
                <a:solidFill>
                  <a:srgbClr val="1F2937"/>
                </a:solidFill>
              </a:rPr>
              <a:t>Use-Case Requirements</a:t>
            </a:r>
            <a:endParaRPr sz="1240"/>
          </a:p>
        </p:txBody>
      </p:sp>
      <p:sp>
        <p:nvSpPr>
          <p:cNvPr id="18" name="Text 16">
            <a:extLst>
              <a:ext uri="{FF2B5EF4-FFF2-40B4-BE49-F238E27FC236}">
                <a16:creationId xmlns:a16="http://schemas.microsoft.com/office/drawing/2014/main" id="{F804C337-DFDB-4ABE-B136-C9B4FE270D62}"/>
              </a:ext>
            </a:extLst>
          </p:cNvPr>
          <p:cNvSpPr>
            <a:spLocks noGrp="1"/>
          </p:cNvSpPr>
          <p:nvPr/>
        </p:nvSpPr>
        <p:spPr>
          <a:xfrm>
            <a:off x="9590532" y="4864608"/>
            <a:ext cx="201168" cy="182880"/>
          </a:xfrm>
          <a:prstGeom prst="rect">
            <a:avLst/>
          </a:prstGeom>
          <a:noFill/>
        </p:spPr>
        <p:txBody>
          <a:bodyPr wrap="square" lIns="0" tIns="0" rIns="0" bIns="0" anchor="ctr"/>
          <a:lstStyle/>
          <a:p>
            <a:pPr marL="0" indent="0" algn="ctr">
              <a:buNone/>
            </a:pPr>
            <a:r>
              <a:rPr sz="1600" b="1">
                <a:solidFill>
                  <a:srgbClr val="6B7280"/>
                </a:solidFill>
              </a:rPr>
              <a:t>→</a:t>
            </a:r>
            <a:endParaRPr sz="1600"/>
          </a:p>
        </p:txBody>
      </p:sp>
      <p:sp>
        <p:nvSpPr>
          <p:cNvPr id="19" name="Shape 17">
            <a:extLst>
              <a:ext uri="{FF2B5EF4-FFF2-40B4-BE49-F238E27FC236}">
                <a16:creationId xmlns:a16="http://schemas.microsoft.com/office/drawing/2014/main" id="{1528F934-08E6-4925-B35D-A27D4DCCFD53}"/>
              </a:ext>
            </a:extLst>
          </p:cNvPr>
          <p:cNvSpPr>
            <a:spLocks noGrp="1"/>
          </p:cNvSpPr>
          <p:nvPr/>
        </p:nvSpPr>
        <p:spPr>
          <a:xfrm>
            <a:off x="9745980" y="4709160"/>
            <a:ext cx="1638300" cy="566928"/>
          </a:xfrm>
          <a:prstGeom prst="roundRect">
            <a:avLst/>
          </a:prstGeom>
          <a:solidFill>
            <a:srgbClr val="FFF4E6"/>
          </a:solidFill>
          <a:ln w="12700">
            <a:solidFill>
              <a:srgbClr val="FF9900"/>
            </a:solidFill>
            <a:prstDash val="solid"/>
          </a:ln>
        </p:spPr>
        <p:txBody>
          <a:bodyPr/>
          <a:lstStyle/>
          <a:p>
            <a:endParaRPr lang="en-IN"/>
          </a:p>
        </p:txBody>
      </p:sp>
      <p:sp>
        <p:nvSpPr>
          <p:cNvPr id="20" name="Text 18">
            <a:extLst>
              <a:ext uri="{FF2B5EF4-FFF2-40B4-BE49-F238E27FC236}">
                <a16:creationId xmlns:a16="http://schemas.microsoft.com/office/drawing/2014/main" id="{7246C01A-F905-4CC9-A400-6054B0491C25}"/>
              </a:ext>
            </a:extLst>
          </p:cNvPr>
          <p:cNvSpPr>
            <a:spLocks noGrp="1"/>
          </p:cNvSpPr>
          <p:nvPr/>
        </p:nvSpPr>
        <p:spPr>
          <a:xfrm>
            <a:off x="9800844" y="4818888"/>
            <a:ext cx="1528572" cy="310896"/>
          </a:xfrm>
          <a:prstGeom prst="rect">
            <a:avLst/>
          </a:prstGeom>
          <a:noFill/>
        </p:spPr>
        <p:txBody>
          <a:bodyPr wrap="square" lIns="0" tIns="0" rIns="0" bIns="0" anchor="ctr">
            <a:normAutofit/>
          </a:bodyPr>
          <a:lstStyle/>
          <a:p>
            <a:pPr marL="0" indent="0" algn="ctr">
              <a:buNone/>
            </a:pPr>
            <a:r>
              <a:rPr sz="1240" b="1">
                <a:solidFill>
                  <a:srgbClr val="1F2937"/>
                </a:solidFill>
              </a:rPr>
              <a:t>Model Choice</a:t>
            </a:r>
            <a:endParaRPr sz="1240"/>
          </a:p>
        </p:txBody>
      </p:sp>
      <p:sp>
        <p:nvSpPr>
          <p:cNvPr id="21" name="Shape 19">
            <a:extLst>
              <a:ext uri="{FF2B5EF4-FFF2-40B4-BE49-F238E27FC236}">
                <a16:creationId xmlns:a16="http://schemas.microsoft.com/office/drawing/2014/main" id="{007B79C8-4255-4E21-8881-8F624AABFF0A}"/>
              </a:ext>
            </a:extLst>
          </p:cNvPr>
          <p:cNvSpPr>
            <a:spLocks noGrp="1"/>
          </p:cNvSpPr>
          <p:nvPr/>
        </p:nvSpPr>
        <p:spPr>
          <a:xfrm>
            <a:off x="658368" y="5486400"/>
            <a:ext cx="10881360" cy="658368"/>
          </a:xfrm>
          <a:prstGeom prst="roundRect">
            <a:avLst>
              <a:gd name="adj" fmla="val 11111"/>
            </a:avLst>
          </a:prstGeom>
          <a:solidFill>
            <a:srgbClr val="FFFFFF"/>
          </a:solidFill>
          <a:ln w="12700">
            <a:solidFill>
              <a:srgbClr val="FF9900"/>
            </a:solidFill>
            <a:prstDash val="solid"/>
          </a:ln>
        </p:spPr>
        <p:txBody>
          <a:bodyPr/>
          <a:lstStyle/>
          <a:p>
            <a:endParaRPr lang="en-IN"/>
          </a:p>
        </p:txBody>
      </p:sp>
      <p:sp>
        <p:nvSpPr>
          <p:cNvPr id="22" name="Text 20">
            <a:extLst>
              <a:ext uri="{FF2B5EF4-FFF2-40B4-BE49-F238E27FC236}">
                <a16:creationId xmlns:a16="http://schemas.microsoft.com/office/drawing/2014/main" id="{65E45D44-E3A2-4283-B73A-FFB05486B5F2}"/>
              </a:ext>
            </a:extLst>
          </p:cNvPr>
          <p:cNvSpPr>
            <a:spLocks noGrp="1"/>
          </p:cNvSpPr>
          <p:nvPr/>
        </p:nvSpPr>
        <p:spPr>
          <a:xfrm>
            <a:off x="868680" y="5596128"/>
            <a:ext cx="1371600" cy="219456"/>
          </a:xfrm>
          <a:prstGeom prst="rect">
            <a:avLst/>
          </a:prstGeom>
          <a:noFill/>
        </p:spPr>
        <p:txBody>
          <a:bodyPr wrap="square" lIns="0" tIns="0" rIns="0" bIns="0" anchor="ctr"/>
          <a:lstStyle/>
          <a:p>
            <a:pPr marL="0" indent="0">
              <a:buNone/>
            </a:pPr>
            <a:r>
              <a:rPr sz="1350" b="1">
                <a:solidFill>
                  <a:srgbClr val="FF9900"/>
                </a:solidFill>
              </a:rPr>
              <a:t>Main Idea:</a:t>
            </a:r>
            <a:endParaRPr sz="1350"/>
          </a:p>
        </p:txBody>
      </p:sp>
      <p:sp>
        <p:nvSpPr>
          <p:cNvPr id="23" name="Text 21">
            <a:extLst>
              <a:ext uri="{FF2B5EF4-FFF2-40B4-BE49-F238E27FC236}">
                <a16:creationId xmlns:a16="http://schemas.microsoft.com/office/drawing/2014/main" id="{0340D2A6-246A-4A29-8BFB-C51310E348B3}"/>
              </a:ext>
            </a:extLst>
          </p:cNvPr>
          <p:cNvSpPr>
            <a:spLocks noGrp="1"/>
          </p:cNvSpPr>
          <p:nvPr/>
        </p:nvSpPr>
        <p:spPr>
          <a:xfrm>
            <a:off x="2148840" y="5568696"/>
            <a:ext cx="9098280" cy="310896"/>
          </a:xfrm>
          <a:prstGeom prst="rect">
            <a:avLst/>
          </a:prstGeom>
          <a:noFill/>
        </p:spPr>
        <p:txBody>
          <a:bodyPr wrap="square" lIns="0" tIns="0" rIns="0" bIns="0" anchor="ctr">
            <a:normAutofit/>
          </a:bodyPr>
          <a:lstStyle/>
          <a:p>
            <a:pPr marL="0" indent="0">
              <a:buNone/>
            </a:pPr>
            <a:r>
              <a:rPr sz="1520" b="1">
                <a:solidFill>
                  <a:srgbClr val="1F2937"/>
                </a:solidFill>
              </a:rPr>
              <a:t>Measure model performance for your real workload instead of assuming which model is best.</a:t>
            </a:r>
            <a:endParaRPr sz="1520"/>
          </a:p>
        </p:txBody>
      </p:sp>
      <p:sp>
        <p:nvSpPr>
          <p:cNvPr id="25" name="Slide Number Placeholder 0">
            <a:extLst>
              <a:ext uri="{FF2B5EF4-FFF2-40B4-BE49-F238E27FC236}">
                <a16:creationId xmlns:a16="http://schemas.microsoft.com/office/drawing/2014/main" id="{D4F21A4D-28EA-4E5B-8A84-FD54ED6CBCBA}"/>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14</a:t>
            </a:fld>
            <a:endParaRPr/>
          </a:p>
        </p:txBody>
      </p:sp>
    </p:spTree>
    <p:extLst>
      <p:ext uri="{BB962C8B-B14F-4D97-AF65-F5344CB8AC3E}">
        <p14:creationId xmlns:p14="http://schemas.microsoft.com/office/powerpoint/2010/main" val="1501503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69EDF23-564B-4B2C-9BF4-9BAFFF553DED}"/>
              </a:ext>
            </a:extLst>
          </p:cNvPr>
          <p:cNvSpPr>
            <a:spLocks noGrp="1"/>
          </p:cNvSpPr>
          <p:nvPr/>
        </p:nvSpPr>
        <p:spPr>
          <a:xfrm>
            <a:off x="594360" y="347472"/>
            <a:ext cx="10972800" cy="438912"/>
          </a:xfrm>
          <a:prstGeom prst="rect">
            <a:avLst/>
          </a:prstGeom>
          <a:noFill/>
        </p:spPr>
        <p:txBody>
          <a:bodyPr wrap="square" lIns="0" tIns="0" rIns="0" bIns="0" anchor="ctr"/>
          <a:lstStyle/>
          <a:p>
            <a:pPr marL="0" indent="0">
              <a:buNone/>
            </a:pPr>
            <a:r>
              <a:rPr sz="2500" b="1">
                <a:solidFill>
                  <a:srgbClr val="172A3A"/>
                </a:solidFill>
                <a:latin typeface="Aptos Display"/>
                <a:ea typeface="Aptos Display"/>
                <a:cs typeface="Aptos Display"/>
              </a:rPr>
              <a:t>Key Takeaways &amp; Thank You</a:t>
            </a:r>
            <a:endParaRPr sz="2500"/>
          </a:p>
        </p:txBody>
      </p:sp>
      <p:sp>
        <p:nvSpPr>
          <p:cNvPr id="3" name="Text 1">
            <a:extLst>
              <a:ext uri="{FF2B5EF4-FFF2-40B4-BE49-F238E27FC236}">
                <a16:creationId xmlns:a16="http://schemas.microsoft.com/office/drawing/2014/main" id="{D305405A-A15D-4626-9F40-9058147ADF1D}"/>
              </a:ext>
            </a:extLst>
          </p:cNvPr>
          <p:cNvSpPr>
            <a:spLocks noGrp="1"/>
          </p:cNvSpPr>
          <p:nvPr/>
        </p:nvSpPr>
        <p:spPr>
          <a:xfrm>
            <a:off x="640080" y="1078992"/>
            <a:ext cx="6629400" cy="4800600"/>
          </a:xfrm>
          <a:prstGeom prst="rect">
            <a:avLst/>
          </a:prstGeom>
          <a:noFill/>
        </p:spPr>
        <p:txBody>
          <a:bodyPr wrap="square" lIns="508" tIns="508" rIns="508" bIns="508" anchor="ctr">
            <a:normAutofit/>
          </a:bodyPr>
          <a:lstStyle/>
          <a:p>
            <a:pPr marL="228600" indent="-228600">
              <a:buSzPct val="100000"/>
              <a:buChar char="•"/>
            </a:pPr>
            <a:r>
              <a:rPr sz="1420">
                <a:solidFill>
                  <a:srgbClr val="1F2937"/>
                </a:solidFill>
                <a:latin typeface="Aptos"/>
                <a:ea typeface="Aptos"/>
                <a:cs typeface="Aptos"/>
              </a:rPr>
              <a:t>Tokens affect cost, context limits, and model processing, so token usage should be measured and monitored.</a:t>
            </a:r>
            <a:endParaRPr sz="1420"/>
          </a:p>
          <a:p>
            <a:pPr marL="228600" indent="-228600">
              <a:buSzPct val="100000"/>
              <a:buChar char="•"/>
            </a:pPr>
            <a:r>
              <a:rPr sz="1420">
                <a:solidFill>
                  <a:srgbClr val="1F2937"/>
                </a:solidFill>
                <a:latin typeface="Aptos"/>
                <a:ea typeface="Aptos"/>
                <a:cs typeface="Aptos"/>
              </a:rPr>
              <a:t>Amazon Bedrock CountTokens can estimate request size before inference.</a:t>
            </a:r>
            <a:endParaRPr sz="1420"/>
          </a:p>
          <a:p>
            <a:pPr marL="228600" indent="-228600">
              <a:buSzPct val="100000"/>
              <a:buChar char="•"/>
            </a:pPr>
            <a:r>
              <a:rPr sz="1420">
                <a:solidFill>
                  <a:srgbClr val="1F2937"/>
                </a:solidFill>
                <a:latin typeface="Aptos"/>
                <a:ea typeface="Aptos"/>
                <a:cs typeface="Aptos"/>
              </a:rPr>
              <a:t>CloudWatch can help monitor input tokens, output tokens, latency, errors, and other model-usage metrics.</a:t>
            </a:r>
            <a:endParaRPr sz="1420"/>
          </a:p>
          <a:p>
            <a:pPr marL="228600" indent="-228600">
              <a:buSzPct val="100000"/>
              <a:buChar char="•"/>
            </a:pPr>
            <a:r>
              <a:rPr sz="1420">
                <a:solidFill>
                  <a:srgbClr val="1F2937"/>
                </a:solidFill>
                <a:latin typeface="Aptos"/>
                <a:ea typeface="Aptos"/>
                <a:cs typeface="Aptos"/>
              </a:rPr>
              <a:t>Context optimization keeps useful information while reducing unnecessary prompt content.</a:t>
            </a:r>
            <a:endParaRPr sz="1420"/>
          </a:p>
          <a:p>
            <a:pPr marL="228600" indent="-228600">
              <a:buSzPct val="100000"/>
              <a:buChar char="•"/>
            </a:pPr>
            <a:r>
              <a:rPr sz="1420">
                <a:solidFill>
                  <a:srgbClr val="1F2937"/>
                </a:solidFill>
                <a:latin typeface="Aptos"/>
                <a:ea typeface="Aptos"/>
                <a:cs typeface="Aptos"/>
              </a:rPr>
              <a:t>RAG systems can reduce token usage by limiting retrieved chunks and using metadata filters.</a:t>
            </a:r>
            <a:endParaRPr sz="1420"/>
          </a:p>
          <a:p>
            <a:pPr marL="228600" indent="-228600">
              <a:buSzPct val="100000"/>
              <a:buChar char="•"/>
            </a:pPr>
            <a:r>
              <a:rPr sz="1420">
                <a:solidFill>
                  <a:srgbClr val="1F2937"/>
                </a:solidFill>
                <a:latin typeface="Aptos"/>
                <a:ea typeface="Aptos"/>
                <a:cs typeface="Aptos"/>
              </a:rPr>
              <a:t>Older conversation history can be summarized or pruned instead of always resending the complete chat.</a:t>
            </a:r>
            <a:endParaRPr sz="1420"/>
          </a:p>
          <a:p>
            <a:pPr marL="228600" indent="-228600">
              <a:buSzPct val="100000"/>
              <a:buChar char="•"/>
            </a:pPr>
            <a:r>
              <a:rPr sz="1420">
                <a:solidFill>
                  <a:srgbClr val="1F2937"/>
                </a:solidFill>
                <a:latin typeface="Aptos"/>
                <a:ea typeface="Aptos"/>
                <a:cs typeface="Aptos"/>
              </a:rPr>
              <a:t>Response-size controls and prompt compression can reduce unnecessary output and input tokens.</a:t>
            </a:r>
            <a:endParaRPr sz="1420"/>
          </a:p>
          <a:p>
            <a:pPr marL="228600" indent="-228600">
              <a:buSzPct val="100000"/>
              <a:buChar char="•"/>
            </a:pPr>
            <a:r>
              <a:rPr sz="1420">
                <a:solidFill>
                  <a:srgbClr val="1F2937"/>
                </a:solidFill>
                <a:latin typeface="Aptos"/>
                <a:ea typeface="Aptos"/>
                <a:cs typeface="Aptos"/>
              </a:rPr>
              <a:t>The largest Foundation Model is not always the best choice for every task.</a:t>
            </a:r>
            <a:endParaRPr sz="1420"/>
          </a:p>
          <a:p>
            <a:pPr marL="228600" indent="-228600">
              <a:buSzPct val="100000"/>
              <a:buChar char="•"/>
            </a:pPr>
            <a:r>
              <a:rPr sz="1420">
                <a:solidFill>
                  <a:srgbClr val="1F2937"/>
                </a:solidFill>
                <a:latin typeface="Aptos"/>
                <a:ea typeface="Aptos"/>
                <a:cs typeface="Aptos"/>
              </a:rPr>
              <a:t>Intelligent Prompt Routing can send simple and complex requests to different models.</a:t>
            </a:r>
            <a:endParaRPr sz="1420"/>
          </a:p>
          <a:p>
            <a:pPr marL="228600" indent="-228600">
              <a:buSzPct val="100000"/>
              <a:buChar char="•"/>
            </a:pPr>
            <a:r>
              <a:rPr sz="1420">
                <a:solidFill>
                  <a:srgbClr val="1F2937"/>
                </a:solidFill>
                <a:latin typeface="Aptos"/>
                <a:ea typeface="Aptos"/>
                <a:cs typeface="Aptos"/>
              </a:rPr>
              <a:t>Model evaluations help compare quality together with cost, latency, and token usage.</a:t>
            </a:r>
            <a:endParaRPr sz="1420"/>
          </a:p>
        </p:txBody>
      </p:sp>
      <p:sp>
        <p:nvSpPr>
          <p:cNvPr id="4" name="Shape 2">
            <a:extLst>
              <a:ext uri="{FF2B5EF4-FFF2-40B4-BE49-F238E27FC236}">
                <a16:creationId xmlns:a16="http://schemas.microsoft.com/office/drawing/2014/main" id="{061A3AF6-74A0-4847-9921-E4D2C4EBB4E0}"/>
              </a:ext>
            </a:extLst>
          </p:cNvPr>
          <p:cNvSpPr>
            <a:spLocks noGrp="1"/>
          </p:cNvSpPr>
          <p:nvPr/>
        </p:nvSpPr>
        <p:spPr>
          <a:xfrm>
            <a:off x="7526806" y="1357223"/>
            <a:ext cx="3877315" cy="1943820"/>
          </a:xfrm>
          <a:prstGeom prst="roundRect">
            <a:avLst/>
          </a:prstGeom>
          <a:solidFill>
            <a:srgbClr val="FFF4E6"/>
          </a:solidFill>
          <a:ln w="12700">
            <a:solidFill>
              <a:srgbClr val="FF9900"/>
            </a:solidFill>
            <a:prstDash val="solid"/>
          </a:ln>
        </p:spPr>
        <p:txBody>
          <a:bodyPr/>
          <a:lstStyle/>
          <a:p>
            <a:endParaRPr lang="en-IN"/>
          </a:p>
        </p:txBody>
      </p:sp>
      <p:sp>
        <p:nvSpPr>
          <p:cNvPr id="5" name="Text 3">
            <a:extLst>
              <a:ext uri="{FF2B5EF4-FFF2-40B4-BE49-F238E27FC236}">
                <a16:creationId xmlns:a16="http://schemas.microsoft.com/office/drawing/2014/main" id="{F41A3FB4-09CA-4E9C-B2F1-AC04EE726E59}"/>
              </a:ext>
            </a:extLst>
          </p:cNvPr>
          <p:cNvSpPr>
            <a:spLocks noGrp="1"/>
          </p:cNvSpPr>
          <p:nvPr/>
        </p:nvSpPr>
        <p:spPr>
          <a:xfrm>
            <a:off x="7818120" y="1481328"/>
            <a:ext cx="1828800" cy="256032"/>
          </a:xfrm>
          <a:prstGeom prst="rect">
            <a:avLst/>
          </a:prstGeom>
          <a:noFill/>
        </p:spPr>
        <p:txBody>
          <a:bodyPr wrap="square" lIns="0" tIns="0" rIns="0" bIns="0" anchor="ctr"/>
          <a:lstStyle/>
          <a:p>
            <a:pPr marL="0" indent="0">
              <a:buNone/>
            </a:pPr>
            <a:r>
              <a:rPr sz="1600" b="1">
                <a:solidFill>
                  <a:srgbClr val="FF9900"/>
                </a:solidFill>
              </a:rPr>
              <a:t>Main Lesson</a:t>
            </a:r>
            <a:endParaRPr sz="1600"/>
          </a:p>
        </p:txBody>
      </p:sp>
      <p:sp>
        <p:nvSpPr>
          <p:cNvPr id="6" name="Text 4">
            <a:extLst>
              <a:ext uri="{FF2B5EF4-FFF2-40B4-BE49-F238E27FC236}">
                <a16:creationId xmlns:a16="http://schemas.microsoft.com/office/drawing/2014/main" id="{190F49A8-A128-424B-A846-7FC9692A6C23}"/>
              </a:ext>
            </a:extLst>
          </p:cNvPr>
          <p:cNvSpPr>
            <a:spLocks noGrp="1"/>
          </p:cNvSpPr>
          <p:nvPr/>
        </p:nvSpPr>
        <p:spPr>
          <a:xfrm>
            <a:off x="7790688" y="1874520"/>
            <a:ext cx="3401568" cy="1346008"/>
          </a:xfrm>
          <a:prstGeom prst="rect">
            <a:avLst/>
          </a:prstGeom>
          <a:noFill/>
        </p:spPr>
        <p:txBody>
          <a:bodyPr wrap="square" lIns="0" tIns="0" rIns="0" bIns="0" anchor="ctr">
            <a:normAutofit/>
          </a:bodyPr>
          <a:lstStyle/>
          <a:p>
            <a:pPr marL="0" indent="0">
              <a:buNone/>
            </a:pPr>
            <a:r>
              <a:rPr sz="1340" b="1" dirty="0">
                <a:solidFill>
                  <a:srgbClr val="1F2937"/>
                </a:solidFill>
              </a:rPr>
              <a:t>Efficient Generative AI is not about using the fewest tokens or the cheapest model. It is about using the right amount of context and the right model for the task while still maintaining the quality the application needs.</a:t>
            </a:r>
            <a:endParaRPr sz="1340" dirty="0"/>
          </a:p>
        </p:txBody>
      </p:sp>
      <p:sp>
        <p:nvSpPr>
          <p:cNvPr id="7" name="Text 5">
            <a:extLst>
              <a:ext uri="{FF2B5EF4-FFF2-40B4-BE49-F238E27FC236}">
                <a16:creationId xmlns:a16="http://schemas.microsoft.com/office/drawing/2014/main" id="{A915DF7B-413A-4BA7-B1D5-857B9E8C2DCE}"/>
              </a:ext>
            </a:extLst>
          </p:cNvPr>
          <p:cNvSpPr>
            <a:spLocks noGrp="1"/>
          </p:cNvSpPr>
          <p:nvPr/>
        </p:nvSpPr>
        <p:spPr>
          <a:xfrm>
            <a:off x="7571232" y="3479292"/>
            <a:ext cx="2011680" cy="320040"/>
          </a:xfrm>
          <a:prstGeom prst="rect">
            <a:avLst/>
          </a:prstGeom>
          <a:noFill/>
        </p:spPr>
        <p:txBody>
          <a:bodyPr wrap="square" lIns="0" tIns="0" rIns="0" bIns="0" anchor="ctr"/>
          <a:lstStyle/>
          <a:p>
            <a:pPr marL="0" indent="0">
              <a:buNone/>
            </a:pPr>
            <a:r>
              <a:rPr sz="2100" b="1" dirty="0">
                <a:solidFill>
                  <a:srgbClr val="172A3A"/>
                </a:solidFill>
              </a:rPr>
              <a:t>Thank You</a:t>
            </a:r>
            <a:endParaRPr sz="2100" dirty="0"/>
          </a:p>
        </p:txBody>
      </p:sp>
      <p:sp>
        <p:nvSpPr>
          <p:cNvPr id="8" name="Text 6">
            <a:extLst>
              <a:ext uri="{FF2B5EF4-FFF2-40B4-BE49-F238E27FC236}">
                <a16:creationId xmlns:a16="http://schemas.microsoft.com/office/drawing/2014/main" id="{534ED706-95DD-4078-AF86-99206D30A5F5}"/>
              </a:ext>
            </a:extLst>
          </p:cNvPr>
          <p:cNvSpPr>
            <a:spLocks noGrp="1"/>
          </p:cNvSpPr>
          <p:nvPr/>
        </p:nvSpPr>
        <p:spPr>
          <a:xfrm>
            <a:off x="7571232" y="3893504"/>
            <a:ext cx="3566160" cy="566928"/>
          </a:xfrm>
          <a:prstGeom prst="rect">
            <a:avLst/>
          </a:prstGeom>
          <a:noFill/>
        </p:spPr>
        <p:txBody>
          <a:bodyPr wrap="square" lIns="0" tIns="0" rIns="0" bIns="0" anchor="ctr"/>
          <a:lstStyle/>
          <a:p>
            <a:pPr marL="0" indent="0">
              <a:buNone/>
            </a:pPr>
            <a:r>
              <a:rPr sz="1520" dirty="0">
                <a:solidFill>
                  <a:srgbClr val="1F2937"/>
                </a:solidFill>
              </a:rPr>
              <a:t>Presented by: Akash Patel</a:t>
            </a:r>
            <a:endParaRPr sz="1520" dirty="0"/>
          </a:p>
          <a:p>
            <a:pPr marL="0" indent="0">
              <a:buNone/>
            </a:pPr>
            <a:r>
              <a:rPr sz="1520" dirty="0">
                <a:solidFill>
                  <a:srgbClr val="1F2937"/>
                </a:solidFill>
              </a:rPr>
              <a:t>Concordia University Chicago</a:t>
            </a:r>
            <a:endParaRPr sz="1520" dirty="0"/>
          </a:p>
        </p:txBody>
      </p:sp>
      <p:sp>
        <p:nvSpPr>
          <p:cNvPr id="9" name="Text 7">
            <a:extLst>
              <a:ext uri="{FF2B5EF4-FFF2-40B4-BE49-F238E27FC236}">
                <a16:creationId xmlns:a16="http://schemas.microsoft.com/office/drawing/2014/main" id="{43DDDAF8-64E0-43C5-8BB9-B36E98EB453F}"/>
              </a:ext>
            </a:extLst>
          </p:cNvPr>
          <p:cNvSpPr>
            <a:spLocks noGrp="1"/>
          </p:cNvSpPr>
          <p:nvPr/>
        </p:nvSpPr>
        <p:spPr>
          <a:xfrm>
            <a:off x="7589520" y="4480560"/>
            <a:ext cx="3711084" cy="1506172"/>
          </a:xfrm>
          <a:prstGeom prst="rect">
            <a:avLst/>
          </a:prstGeom>
          <a:noFill/>
        </p:spPr>
        <p:txBody>
          <a:bodyPr wrap="square" lIns="0" tIns="0" rIns="0" bIns="0" anchor="ctr">
            <a:normAutofit/>
          </a:bodyPr>
          <a:lstStyle/>
          <a:p>
            <a:pPr marL="0" indent="0">
              <a:buNone/>
            </a:pPr>
            <a:r>
              <a:rPr sz="1280" dirty="0">
                <a:solidFill>
                  <a:srgbClr val="6B7280"/>
                </a:solidFill>
              </a:rPr>
              <a:t>Special thanks to Professor Dr. Victor </a:t>
            </a:r>
            <a:r>
              <a:rPr sz="1280" dirty="0" err="1">
                <a:solidFill>
                  <a:srgbClr val="6B7280"/>
                </a:solidFill>
              </a:rPr>
              <a:t>Govindaswamy</a:t>
            </a:r>
            <a:r>
              <a:rPr sz="1280" dirty="0">
                <a:solidFill>
                  <a:srgbClr val="6B7280"/>
                </a:solidFill>
              </a:rPr>
              <a:t> for his continued guidance and support throughout my AWS Generative AI learning journey. This topic helped me understand that optimization is not only about saving cost. It is also about making better decisions about context, token usage, model selection, and application performance.</a:t>
            </a:r>
            <a:endParaRPr sz="1280" dirty="0"/>
          </a:p>
        </p:txBody>
      </p:sp>
      <p:sp>
        <p:nvSpPr>
          <p:cNvPr id="25" name="Slide Number Placeholder 0">
            <a:extLst>
              <a:ext uri="{FF2B5EF4-FFF2-40B4-BE49-F238E27FC236}">
                <a16:creationId xmlns:a16="http://schemas.microsoft.com/office/drawing/2014/main" id="{9479A3E4-D9CE-4F31-80A1-7D241EFE2692}"/>
              </a:ext>
            </a:extLst>
          </p:cNvPr>
          <p:cNvSpPr>
            <a:spLocks noGrp="1"/>
          </p:cNvSpPr>
          <p:nvPr>
            <p:ph type="sldNum" idx="4294967295"/>
          </p:nvPr>
        </p:nvSpPr>
        <p:spPr>
          <a:xfrm>
            <a:off x="11676888" y="6537960"/>
            <a:ext cx="800000" cy="300000"/>
          </a:xfrm>
          <a:prstGeom prst="rect">
            <a:avLst/>
          </a:prstGeom>
        </p:spPr>
        <p:txBody>
          <a:bodyPr/>
          <a:lstStyle>
            <a:lvl1pPr>
              <a:buNone/>
              <a:defRPr sz="900">
                <a:solidFill>
                  <a:srgbClr val="9CA3AF"/>
                </a:solidFill>
                <a:latin typeface="Aptos"/>
                <a:ea typeface="Aptos"/>
                <a:cs typeface="Aptos"/>
              </a:defRPr>
            </a:lvl1pPr>
          </a:lstStyle>
          <a:p>
            <a:pPr algn="l">
              <a:buNone/>
            </a:pPr>
            <a:fld id="{F7021451-1387-4CA6-816F-3879F97B5CBC}" type="slidenum">
              <a:rPr b="0"/>
              <a:t>15</a:t>
            </a:fld>
            <a:endParaRPr/>
          </a:p>
        </p:txBody>
      </p:sp>
    </p:spTree>
    <p:extLst>
      <p:ext uri="{BB962C8B-B14F-4D97-AF65-F5344CB8AC3E}">
        <p14:creationId xmlns:p14="http://schemas.microsoft.com/office/powerpoint/2010/main" val="1487963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2135</Words>
  <Application>Microsoft Office PowerPoint</Application>
  <DocSecurity>0</DocSecurity>
  <PresentationFormat>Widescreen</PresentationFormat>
  <Paragraphs>210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Akash Patel</cp:lastModifiedBy>
  <cp:revision>3</cp:revision>
  <dcterms:created xsi:type="dcterms:W3CDTF">2026-10-27T02:43:19Z</dcterms:created>
  <dcterms:modified xsi:type="dcterms:W3CDTF">2026-10-27T19:21:18Z</dcterms:modified>
</cp:coreProperties>
</file>