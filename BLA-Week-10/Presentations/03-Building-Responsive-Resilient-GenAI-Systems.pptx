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E62C8-4AE6-4127-B3FE-7C2AEB2A0AEE}"/>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CFC6C307-C7EB-40C8-A869-2A3EC3B117B9}"/>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F3A1555A-4232-4378-BDC9-41DBABD3D769}"/>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0E0AF9F4-658B-474E-937A-F823F5D3743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D6C04AA-BDB3-4D7D-A936-7611FF96BF2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60E83-B7A6-453C-8E35-9AF76C7F894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D233AAF-8172-4CEB-9045-B12A6ADECB4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81E4A64-39C6-4EAD-A46B-3F093642C6D5}"/>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B1A4EBBB-0E0B-43D7-8DE0-5FE28FC7038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0191BB0-7FC3-4682-BF00-837E6C9593B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E2968-550D-41C1-B72D-4D4A6D28E815}"/>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C617A7FE-9C3F-490D-9724-C35365085216}"/>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3EF059E5-E199-441F-A9F4-FA31D8DE677A}"/>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2C435A82-EC2F-4482-9378-7B0D56F4766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315F1CB-914D-48A8-A4C8-0DE83BEB7F1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85F5-C996-4710-A7BC-DBBAF3E9707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20C3456-551E-4BE9-84A8-469C8C662E3B}"/>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BB70131-78CB-4CBC-AE1E-958D178B8579}"/>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CE37F16-BD6D-4E9B-AD52-A873D9077153}"/>
              </a:ext>
            </a:extLst>
          </p:cNvPr>
          <p:cNvSpPr>
            <a:spLocks noGrp="1"/>
          </p:cNvSpPr>
          <p:nvPr>
            <p:ph type="dt" idx="10"/>
          </p:nvPr>
        </p:nvSpPr>
        <p:spPr/>
        <p:txBody>
          <a:bodyPr/>
          <a:lstStyle/>
          <a:p>
            <a:fld id="{5BCAD085-E8A6-8845-BD4E-CB4CCA059FC4}" type="datetimeFigureOut">
              <a:t>10/27/2026</a:t>
            </a:fld>
            <a:endParaRPr/>
          </a:p>
        </p:txBody>
      </p:sp>
      <p:sp>
        <p:nvSpPr>
          <p:cNvPr id="6" name="Footer Placeholder 5">
            <a:extLst>
              <a:ext uri="{FF2B5EF4-FFF2-40B4-BE49-F238E27FC236}">
                <a16:creationId xmlns:a16="http://schemas.microsoft.com/office/drawing/2014/main" id="{E7668699-1F9C-48E8-94BE-5E07EB2FBB5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F90BB77-502F-4090-AAFB-BFFFDB4D65B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32EC8-F622-42B6-8745-E93E1B9AC94A}"/>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2FB97836-D103-401A-B93E-1AD48697F451}"/>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206443F-0433-4B77-B0EC-D7BF4F259F4D}"/>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695DBE6-C5EE-48D2-8EB5-44FF97BC5E87}"/>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047A0B3-53F2-4476-B41B-E5FCB54CE6AA}"/>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BD58497-ADA9-4C90-BDF4-FA59D9686732}"/>
              </a:ext>
            </a:extLst>
          </p:cNvPr>
          <p:cNvSpPr>
            <a:spLocks noGrp="1"/>
          </p:cNvSpPr>
          <p:nvPr>
            <p:ph type="dt" idx="10"/>
          </p:nvPr>
        </p:nvSpPr>
        <p:spPr/>
        <p:txBody>
          <a:bodyPr/>
          <a:lstStyle/>
          <a:p>
            <a:fld id="{5BCAD085-E8A6-8845-BD4E-CB4CCA059FC4}" type="datetimeFigureOut">
              <a:t>10/27/2026</a:t>
            </a:fld>
            <a:endParaRPr/>
          </a:p>
        </p:txBody>
      </p:sp>
      <p:sp>
        <p:nvSpPr>
          <p:cNvPr id="8" name="Footer Placeholder 7">
            <a:extLst>
              <a:ext uri="{FF2B5EF4-FFF2-40B4-BE49-F238E27FC236}">
                <a16:creationId xmlns:a16="http://schemas.microsoft.com/office/drawing/2014/main" id="{FB7ACA9D-CA67-42EF-8C07-E76D9A5729A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F0576E0-1B50-4D21-B709-F3F2B464EAB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4F302-701A-41B4-A15C-22E8D5D8BFA6}"/>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50071638-1CE3-4BFE-8F87-9AA619AA6E6E}"/>
              </a:ext>
            </a:extLst>
          </p:cNvPr>
          <p:cNvSpPr>
            <a:spLocks noGrp="1"/>
          </p:cNvSpPr>
          <p:nvPr>
            <p:ph type="dt" idx="10"/>
          </p:nvPr>
        </p:nvSpPr>
        <p:spPr/>
        <p:txBody>
          <a:bodyPr/>
          <a:lstStyle/>
          <a:p>
            <a:fld id="{5BCAD085-E8A6-8845-BD4E-CB4CCA059FC4}" type="datetimeFigureOut">
              <a:t>10/27/2026</a:t>
            </a:fld>
            <a:endParaRPr/>
          </a:p>
        </p:txBody>
      </p:sp>
      <p:sp>
        <p:nvSpPr>
          <p:cNvPr id="4" name="Footer Placeholder 3">
            <a:extLst>
              <a:ext uri="{FF2B5EF4-FFF2-40B4-BE49-F238E27FC236}">
                <a16:creationId xmlns:a16="http://schemas.microsoft.com/office/drawing/2014/main" id="{F76CE540-A84F-4418-B399-F273F1871345}"/>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6C148B7C-2D14-4C06-900D-E3A3AC54199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303FFE-0E2D-48A7-9E44-B6A7892A11E8}"/>
              </a:ext>
            </a:extLst>
          </p:cNvPr>
          <p:cNvSpPr>
            <a:spLocks noGrp="1"/>
          </p:cNvSpPr>
          <p:nvPr>
            <p:ph type="dt" idx="10"/>
          </p:nvPr>
        </p:nvSpPr>
        <p:spPr/>
        <p:txBody>
          <a:bodyPr/>
          <a:lstStyle/>
          <a:p>
            <a:fld id="{5BCAD085-E8A6-8845-BD4E-CB4CCA059FC4}" type="datetimeFigureOut">
              <a:t>10/27/2026</a:t>
            </a:fld>
            <a:endParaRPr/>
          </a:p>
        </p:txBody>
      </p:sp>
      <p:sp>
        <p:nvSpPr>
          <p:cNvPr id="3" name="Footer Placeholder 2">
            <a:extLst>
              <a:ext uri="{FF2B5EF4-FFF2-40B4-BE49-F238E27FC236}">
                <a16:creationId xmlns:a16="http://schemas.microsoft.com/office/drawing/2014/main" id="{39348F4C-9051-43F4-A219-0C7F53E95DF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F12EC1F8-7B7E-484C-9D08-9F7BE822897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F75D3-C79C-4105-98B0-6A2F6ACE400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A69A16C-6468-41D2-AFB5-F76DE33F967D}"/>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342E35BF-32CD-4D0B-9959-EA9F38BC0EF4}"/>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B96EB18-D6DA-4A2E-A029-AAF1A64CB27A}"/>
              </a:ext>
            </a:extLst>
          </p:cNvPr>
          <p:cNvSpPr>
            <a:spLocks noGrp="1"/>
          </p:cNvSpPr>
          <p:nvPr>
            <p:ph type="dt" idx="10"/>
          </p:nvPr>
        </p:nvSpPr>
        <p:spPr/>
        <p:txBody>
          <a:bodyPr/>
          <a:lstStyle/>
          <a:p>
            <a:fld id="{5BCAD085-E8A6-8845-BD4E-CB4CCA059FC4}" type="datetimeFigureOut">
              <a:t>10/27/2026</a:t>
            </a:fld>
            <a:endParaRPr/>
          </a:p>
        </p:txBody>
      </p:sp>
      <p:sp>
        <p:nvSpPr>
          <p:cNvPr id="6" name="Footer Placeholder 5">
            <a:extLst>
              <a:ext uri="{FF2B5EF4-FFF2-40B4-BE49-F238E27FC236}">
                <a16:creationId xmlns:a16="http://schemas.microsoft.com/office/drawing/2014/main" id="{1ADE2B92-2610-46FE-818E-3B06DF56820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80DA6F3-2048-4105-97B2-C9EA7766804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A14-17BF-49EF-9878-5D2CF45974BE}"/>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870BDA21-0A59-457E-9B09-18493A87A576}"/>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5F08035-E582-49E5-9754-7662DE9C000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C5EB803-30D5-4230-B6D2-236962EC8FA5}"/>
              </a:ext>
            </a:extLst>
          </p:cNvPr>
          <p:cNvSpPr>
            <a:spLocks noGrp="1"/>
          </p:cNvSpPr>
          <p:nvPr>
            <p:ph type="dt" idx="10"/>
          </p:nvPr>
        </p:nvSpPr>
        <p:spPr/>
        <p:txBody>
          <a:bodyPr/>
          <a:lstStyle/>
          <a:p>
            <a:fld id="{5BCAD085-E8A6-8845-BD4E-CB4CCA059FC4}" type="datetimeFigureOut">
              <a:t>10/27/2026</a:t>
            </a:fld>
            <a:endParaRPr/>
          </a:p>
        </p:txBody>
      </p:sp>
      <p:sp>
        <p:nvSpPr>
          <p:cNvPr id="6" name="Footer Placeholder 5">
            <a:extLst>
              <a:ext uri="{FF2B5EF4-FFF2-40B4-BE49-F238E27FC236}">
                <a16:creationId xmlns:a16="http://schemas.microsoft.com/office/drawing/2014/main" id="{6CF1A839-5EEE-492F-8E2A-F1CF8D33102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247218B-23A0-4BEF-A723-99831D74425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00225-F683-4F27-BE71-61F96DE5E8C1}"/>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C792282-FB3E-428E-9BFF-959986CC6453}"/>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9CE5C55-51B6-4852-8273-82F253BECDCA}"/>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04FCA10C-4783-4428-B0EA-F5E741DD052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75BB1A9-8016-451B-97E4-D4CDA43766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D69EA6-F77F-48EC-8857-F9EC8A29A1F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7DFEFA16-2355-47FF-8D96-4399993BE48F}"/>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3882B70-2152-40EE-BBFE-2EBDC7E30E25}"/>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0980230C-5538-4B82-A8D2-F94DD25917D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7DDE31B-1B7B-4560-AD0D-7C3C46A814C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0CB762-5E11-48F0-8E34-ABF4BBF95F67}"/>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5ECA4A0-4132-4B01-A7C5-FCA7C80C6FDF}"/>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77EEE95-37D9-47FD-AB24-958363374A4F}"/>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38CEBA2E-22F7-4DEC-A26F-9207C4C15031}"/>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139266D7-589A-4D5B-8A2F-0221CA2559C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327B69-BD38-4732-B10B-C23811309416}"/>
              </a:ext>
            </a:extLst>
          </p:cNvPr>
          <p:cNvSpPr>
            <a:spLocks noGrp="1"/>
          </p:cNvSpPr>
          <p:nvPr/>
        </p:nvSpPr>
        <p:spPr>
          <a:xfrm>
            <a:off x="0" y="0"/>
            <a:ext cx="12191695" cy="6858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F451E59-56C8-41ED-8FC0-4ECA9A15B71D}"/>
              </a:ext>
            </a:extLst>
          </p:cNvPr>
          <p:cNvSpPr>
            <a:spLocks noGrp="1"/>
          </p:cNvSpPr>
          <p:nvPr/>
        </p:nvSpPr>
        <p:spPr>
          <a:xfrm>
            <a:off x="0" y="0"/>
            <a:ext cx="256032" cy="6858000"/>
          </a:xfrm>
          <a:prstGeom prst="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137F2F5-422D-4490-A33D-D2D5BEA15055}"/>
              </a:ext>
            </a:extLst>
          </p:cNvPr>
          <p:cNvSpPr>
            <a:spLocks noGrp="1"/>
          </p:cNvSpPr>
          <p:nvPr/>
        </p:nvSpPr>
        <p:spPr>
          <a:xfrm>
            <a:off x="822960" y="1097280"/>
            <a:ext cx="10241280" cy="1280160"/>
          </a:xfrm>
          <a:prstGeom prst="rect">
            <a:avLst/>
          </a:prstGeom>
          <a:noFill/>
        </p:spPr>
        <p:txBody>
          <a:bodyPr wrap="none">
            <a:spAutoFit/>
          </a:bodyPr>
          <a:lstStyle/>
          <a:p>
            <a:r>
              <a:rPr sz="3200" b="1" dirty="0">
                <a:solidFill>
                  <a:srgbClr val="FFFFFF"/>
                </a:solidFill>
                <a:latin typeface="Aptos Display"/>
                <a:ea typeface="Aptos Display"/>
                <a:cs typeface="Aptos Display"/>
              </a:rPr>
              <a:t>Building Responsive and Resilient Generative AI Systems</a:t>
            </a:r>
          </a:p>
          <a:p>
            <a:r>
              <a:rPr sz="1800" dirty="0">
                <a:solidFill>
                  <a:srgbClr val="C3CDE5"/>
                </a:solidFill>
                <a:latin typeface="Aptos"/>
                <a:ea typeface="Aptos"/>
                <a:cs typeface="Aptos"/>
              </a:rPr>
              <a:t>Performance, Retrieval Optimization, Reliability, and Cross-Region Inference</a:t>
            </a:r>
          </a:p>
        </p:txBody>
      </p:sp>
      <p:sp>
        <p:nvSpPr>
          <p:cNvPr id="5" name="Rounded Rectangle 4">
            <a:extLst>
              <a:ext uri="{FF2B5EF4-FFF2-40B4-BE49-F238E27FC236}">
                <a16:creationId xmlns:a16="http://schemas.microsoft.com/office/drawing/2014/main" id="{C4315B13-0973-48E5-B663-0000F53AA4FA}"/>
              </a:ext>
            </a:extLst>
          </p:cNvPr>
          <p:cNvSpPr>
            <a:spLocks noGrp="1"/>
          </p:cNvSpPr>
          <p:nvPr/>
        </p:nvSpPr>
        <p:spPr>
          <a:xfrm>
            <a:off x="822960" y="4297680"/>
            <a:ext cx="4663440" cy="1325880"/>
          </a:xfrm>
          <a:prstGeom prst="roundRect">
            <a:avLst/>
          </a:prstGeom>
          <a:solidFill>
            <a:srgbClr val="27324E"/>
          </a:solidFill>
          <a:ln>
            <a:solidFill>
              <a:srgbClr val="4A597A"/>
            </a:solidFill>
          </a:ln>
        </p:spPr>
        <p:style>
          <a:lnRef idx="1">
            <a:schemeClr val="accent1"/>
          </a:lnRef>
          <a:fillRef idx="3">
            <a:schemeClr val="accent1"/>
          </a:fillRef>
          <a:effectRef idx="2">
            <a:schemeClr val="accent1"/>
          </a:effectRef>
          <a:fontRef idx="minor">
            <a:schemeClr val="lt1"/>
          </a:fontRef>
        </p:style>
        <p:txBody>
          <a:bodyPr lIns="228600" tIns="164592" anchor="ctr"/>
          <a:lstStyle/>
          <a:p>
            <a:pPr>
              <a:spcAft>
                <a:spcPts val="400"/>
              </a:spcAft>
              <a:buNone/>
              <a:defRPr sz="1600">
                <a:solidFill>
                  <a:srgbClr val="FFFFFF"/>
                </a:solidFill>
                <a:latin typeface="Aptos"/>
                <a:ea typeface="Aptos"/>
                <a:cs typeface="Aptos"/>
              </a:defRPr>
            </a:pPr>
            <a:r>
              <a:rPr dirty="0"/>
              <a:t>AWS Generative AI Learning Series</a:t>
            </a:r>
          </a:p>
          <a:p>
            <a:pPr>
              <a:spcAft>
                <a:spcPts val="400"/>
              </a:spcAft>
              <a:buNone/>
              <a:defRPr sz="1400">
                <a:solidFill>
                  <a:srgbClr val="D6DCEC"/>
                </a:solidFill>
                <a:latin typeface="Aptos"/>
                <a:ea typeface="Aptos"/>
                <a:cs typeface="Aptos"/>
              </a:defRPr>
            </a:pPr>
            <a:r>
              <a:rPr dirty="0"/>
              <a:t>Presented by: Akash Patel</a:t>
            </a:r>
          </a:p>
          <a:p>
            <a:pPr>
              <a:spcAft>
                <a:spcPts val="400"/>
              </a:spcAft>
              <a:buNone/>
              <a:defRPr sz="1400">
                <a:solidFill>
                  <a:srgbClr val="D6DCEC"/>
                </a:solidFill>
                <a:latin typeface="Aptos"/>
                <a:ea typeface="Aptos"/>
                <a:cs typeface="Aptos"/>
              </a:defRPr>
            </a:pPr>
            <a:r>
              <a:rPr dirty="0"/>
              <a:t>Concordia University Chicago</a:t>
            </a:r>
          </a:p>
        </p:txBody>
      </p:sp>
      <p:sp>
        <p:nvSpPr>
          <p:cNvPr id="6" name="Rounded Rectangle 5">
            <a:extLst>
              <a:ext uri="{FF2B5EF4-FFF2-40B4-BE49-F238E27FC236}">
                <a16:creationId xmlns:a16="http://schemas.microsoft.com/office/drawing/2014/main" id="{61D3D2B3-E151-4CE8-B09E-D800DB68C5BF}"/>
              </a:ext>
            </a:extLst>
          </p:cNvPr>
          <p:cNvSpPr>
            <a:spLocks noGrp="1"/>
          </p:cNvSpPr>
          <p:nvPr/>
        </p:nvSpPr>
        <p:spPr>
          <a:xfrm rot="21180000">
            <a:off x="7315200" y="4251960"/>
            <a:ext cx="1280160" cy="1280160"/>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CA9C97D1-EDA6-4857-A062-E17581C1CE6A}"/>
              </a:ext>
            </a:extLst>
          </p:cNvPr>
          <p:cNvSpPr>
            <a:spLocks noGrp="1"/>
          </p:cNvSpPr>
          <p:nvPr/>
        </p:nvSpPr>
        <p:spPr>
          <a:xfrm>
            <a:off x="8092440" y="4050792"/>
            <a:ext cx="1280160" cy="1280160"/>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C2AC03FC-4BFC-40A5-8AED-E99239019824}"/>
              </a:ext>
            </a:extLst>
          </p:cNvPr>
          <p:cNvSpPr>
            <a:spLocks noGrp="1"/>
          </p:cNvSpPr>
          <p:nvPr/>
        </p:nvSpPr>
        <p:spPr>
          <a:xfrm rot="420000">
            <a:off x="8869680" y="3849624"/>
            <a:ext cx="1280160" cy="1280160"/>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139490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FC8F52-85E4-49D4-87BD-4E320389D724}"/>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9D5CCCA8-047B-47A2-A9C7-E350845E85A9}"/>
              </a:ext>
            </a:extLst>
          </p:cNvPr>
          <p:cNvSpPr>
            <a:spLocks noGrp="1"/>
          </p:cNvSpPr>
          <p:nvPr/>
        </p:nvSpPr>
        <p:spPr>
          <a:xfrm>
            <a:off x="0" y="0"/>
            <a:ext cx="12191695" cy="109728"/>
          </a:xfrm>
          <a:prstGeom prst="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195B00F-11AA-40A9-B3AE-2C5023B4A740}"/>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What Does Responsive and Resilient Mean?</a:t>
            </a:r>
          </a:p>
        </p:txBody>
      </p:sp>
      <p:sp>
        <p:nvSpPr>
          <p:cNvPr id="5" name="Rounded Rectangle 4">
            <a:extLst>
              <a:ext uri="{FF2B5EF4-FFF2-40B4-BE49-F238E27FC236}">
                <a16:creationId xmlns:a16="http://schemas.microsoft.com/office/drawing/2014/main" id="{0653A99D-8D03-460E-B164-9D316B66BECA}"/>
              </a:ext>
            </a:extLst>
          </p:cNvPr>
          <p:cNvSpPr>
            <a:spLocks noGrp="1"/>
          </p:cNvSpPr>
          <p:nvPr/>
        </p:nvSpPr>
        <p:spPr>
          <a:xfrm>
            <a:off x="11109960" y="274320"/>
            <a:ext cx="502920" cy="438912"/>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2</a:t>
            </a:r>
          </a:p>
        </p:txBody>
      </p:sp>
      <p:sp>
        <p:nvSpPr>
          <p:cNvPr id="6" name="Rounded Rectangle 5">
            <a:extLst>
              <a:ext uri="{FF2B5EF4-FFF2-40B4-BE49-F238E27FC236}">
                <a16:creationId xmlns:a16="http://schemas.microsoft.com/office/drawing/2014/main" id="{3D66731E-F6A4-4270-B51A-2B4D975BEDE5}"/>
              </a:ext>
            </a:extLst>
          </p:cNvPr>
          <p:cNvSpPr>
            <a:spLocks noGrp="1"/>
          </p:cNvSpPr>
          <p:nvPr/>
        </p:nvSpPr>
        <p:spPr>
          <a:xfrm>
            <a:off x="640080" y="1234440"/>
            <a:ext cx="5394960" cy="4568262"/>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600">
                <a:solidFill>
                  <a:srgbClr val="1A233A"/>
                </a:solidFill>
                <a:latin typeface="Aptos"/>
                <a:ea typeface="Aptos"/>
                <a:cs typeface="Aptos"/>
              </a:defRPr>
            </a:pPr>
            <a:r>
              <a:rPr dirty="0"/>
              <a:t>A Generative AI application can produce a correct answer and still provide a poor user experience if the response takes too long or the application fails during high traffic.</a:t>
            </a:r>
          </a:p>
          <a:p>
            <a:pPr marL="285750" indent="-285750">
              <a:lnSpc>
                <a:spcPct val="100000"/>
              </a:lnSpc>
              <a:spcBef>
                <a:spcPts val="700"/>
              </a:spcBef>
              <a:spcAft>
                <a:spcPts val="700"/>
              </a:spcAft>
              <a:buFont typeface="Arial" panose="020B0604020202020204" pitchFamily="34" charset="0"/>
              <a:buChar char="•"/>
              <a:defRPr sz="1600">
                <a:solidFill>
                  <a:srgbClr val="1A233A"/>
                </a:solidFill>
                <a:latin typeface="Aptos"/>
                <a:ea typeface="Aptos"/>
                <a:cs typeface="Aptos"/>
              </a:defRPr>
            </a:pPr>
            <a:r>
              <a:rPr dirty="0"/>
              <a:t>A responsive system tries to give users useful results quickly instead of making them wait unnecessarily for every part of a workflow to finish.</a:t>
            </a:r>
          </a:p>
          <a:p>
            <a:pPr marL="285750" indent="-285750">
              <a:lnSpc>
                <a:spcPct val="100000"/>
              </a:lnSpc>
              <a:spcBef>
                <a:spcPts val="700"/>
              </a:spcBef>
              <a:spcAft>
                <a:spcPts val="700"/>
              </a:spcAft>
              <a:buFont typeface="Arial" panose="020B0604020202020204" pitchFamily="34" charset="0"/>
              <a:buChar char="•"/>
              <a:defRPr sz="1600">
                <a:solidFill>
                  <a:srgbClr val="1A233A"/>
                </a:solidFill>
                <a:latin typeface="Aptos"/>
                <a:ea typeface="Aptos"/>
                <a:cs typeface="Aptos"/>
              </a:defRPr>
            </a:pPr>
            <a:r>
              <a:rPr dirty="0"/>
              <a:t>A resilient system is designed to handle temporary failures, throttling, capacity problems, or service interruptions without immediately breaking the entire application.</a:t>
            </a:r>
          </a:p>
        </p:txBody>
      </p:sp>
      <p:sp>
        <p:nvSpPr>
          <p:cNvPr id="7" name="Rounded Rectangle 6">
            <a:extLst>
              <a:ext uri="{FF2B5EF4-FFF2-40B4-BE49-F238E27FC236}">
                <a16:creationId xmlns:a16="http://schemas.microsoft.com/office/drawing/2014/main" id="{C656B573-2F34-45E3-B583-13167DD7A36F}"/>
              </a:ext>
            </a:extLst>
          </p:cNvPr>
          <p:cNvSpPr>
            <a:spLocks noGrp="1"/>
          </p:cNvSpPr>
          <p:nvPr/>
        </p:nvSpPr>
        <p:spPr>
          <a:xfrm>
            <a:off x="6263640" y="1234440"/>
            <a:ext cx="5257800" cy="283464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600">
                <a:solidFill>
                  <a:srgbClr val="1A233A"/>
                </a:solidFill>
                <a:latin typeface="Aptos"/>
                <a:ea typeface="Aptos"/>
                <a:cs typeface="Aptos"/>
              </a:defRPr>
            </a:pPr>
            <a:r>
              <a:rPr dirty="0"/>
              <a:t>These two goals are connected because a production AI application needs both good performance and reliable behavior.</a:t>
            </a:r>
          </a:p>
          <a:p>
            <a:pPr marL="285750" indent="-285750">
              <a:lnSpc>
                <a:spcPct val="100000"/>
              </a:lnSpc>
              <a:spcBef>
                <a:spcPts val="700"/>
              </a:spcBef>
              <a:spcAft>
                <a:spcPts val="700"/>
              </a:spcAft>
              <a:buFont typeface="Arial" panose="020B0604020202020204" pitchFamily="34" charset="0"/>
              <a:buChar char="•"/>
              <a:defRPr sz="1600">
                <a:solidFill>
                  <a:srgbClr val="1A233A"/>
                </a:solidFill>
                <a:latin typeface="Aptos"/>
                <a:ea typeface="Aptos"/>
                <a:cs typeface="Aptos"/>
              </a:defRPr>
            </a:pPr>
            <a:r>
              <a:rPr dirty="0"/>
              <a:t>Optimization therefore includes more than token cost. It also includes latency, retrieval speed, retry behavior, connection management, and available inference capacity.</a:t>
            </a:r>
          </a:p>
        </p:txBody>
      </p:sp>
      <p:sp>
        <p:nvSpPr>
          <p:cNvPr id="8" name="Rounded Rectangle 7">
            <a:extLst>
              <a:ext uri="{FF2B5EF4-FFF2-40B4-BE49-F238E27FC236}">
                <a16:creationId xmlns:a16="http://schemas.microsoft.com/office/drawing/2014/main" id="{0D3080E9-5C26-4749-A9BA-D8142346F61A}"/>
              </a:ext>
            </a:extLst>
          </p:cNvPr>
          <p:cNvSpPr>
            <a:spLocks noGrp="1"/>
          </p:cNvSpPr>
          <p:nvPr/>
        </p:nvSpPr>
        <p:spPr>
          <a:xfrm>
            <a:off x="6263640" y="4297680"/>
            <a:ext cx="5257800" cy="1325880"/>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spcAft>
                <a:spcPts val="300"/>
              </a:spcAft>
              <a:buNone/>
            </a:pPr>
            <a:r>
              <a:rPr sz="1500" b="1" dirty="0">
                <a:solidFill>
                  <a:srgbClr val="189299"/>
                </a:solidFill>
                <a:latin typeface="Aptos"/>
                <a:ea typeface="Aptos"/>
                <a:cs typeface="Aptos"/>
              </a:rPr>
              <a:t>Main Idea:</a:t>
            </a:r>
          </a:p>
          <a:p>
            <a:pPr>
              <a:spcBef>
                <a:spcPts val="300"/>
              </a:spcBef>
              <a:spcAft>
                <a:spcPts val="300"/>
              </a:spcAft>
            </a:pPr>
            <a:r>
              <a:rPr sz="1500" dirty="0">
                <a:solidFill>
                  <a:srgbClr val="1A233A"/>
                </a:solidFill>
                <a:latin typeface="Aptos"/>
                <a:ea typeface="Aptos"/>
                <a:cs typeface="Aptos"/>
              </a:rPr>
              <a:t>A strong GenAI application should respond quickly when things are working normally and continue operating gracefully when problems occur.</a:t>
            </a:r>
          </a:p>
        </p:txBody>
      </p:sp>
      <p:sp>
        <p:nvSpPr>
          <p:cNvPr id="9" name="TextBox 8">
            <a:extLst>
              <a:ext uri="{FF2B5EF4-FFF2-40B4-BE49-F238E27FC236}">
                <a16:creationId xmlns:a16="http://schemas.microsoft.com/office/drawing/2014/main" id="{1B386171-E4DE-4B18-A0BC-75F040A2A00C}"/>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560085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D0B79E-3B7A-4F7A-BCCB-B56CDDE77698}"/>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802A0B8-B98F-40CA-8D07-8687B7EF404F}"/>
              </a:ext>
            </a:extLst>
          </p:cNvPr>
          <p:cNvSpPr>
            <a:spLocks noGrp="1"/>
          </p:cNvSpPr>
          <p:nvPr/>
        </p:nvSpPr>
        <p:spPr>
          <a:xfrm>
            <a:off x="0" y="0"/>
            <a:ext cx="12191695" cy="109728"/>
          </a:xfrm>
          <a:prstGeom prst="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C11C629-7476-4AF1-BCC3-26D6A5398401}"/>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Avoid Doing Everything One Step at a Time</a:t>
            </a:r>
          </a:p>
        </p:txBody>
      </p:sp>
      <p:sp>
        <p:nvSpPr>
          <p:cNvPr id="5" name="Rounded Rectangle 4">
            <a:extLst>
              <a:ext uri="{FF2B5EF4-FFF2-40B4-BE49-F238E27FC236}">
                <a16:creationId xmlns:a16="http://schemas.microsoft.com/office/drawing/2014/main" id="{DE26ADED-A824-4FBA-BD5A-1920E1051752}"/>
              </a:ext>
            </a:extLst>
          </p:cNvPr>
          <p:cNvSpPr>
            <a:spLocks noGrp="1"/>
          </p:cNvSpPr>
          <p:nvPr/>
        </p:nvSpPr>
        <p:spPr>
          <a:xfrm>
            <a:off x="11109960" y="274320"/>
            <a:ext cx="502920" cy="438912"/>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3</a:t>
            </a:r>
          </a:p>
        </p:txBody>
      </p:sp>
      <p:sp>
        <p:nvSpPr>
          <p:cNvPr id="6" name="Rounded Rectangle 5">
            <a:extLst>
              <a:ext uri="{FF2B5EF4-FFF2-40B4-BE49-F238E27FC236}">
                <a16:creationId xmlns:a16="http://schemas.microsoft.com/office/drawing/2014/main" id="{1CA02370-BA58-4ADD-9751-3E68843F3568}"/>
              </a:ext>
            </a:extLst>
          </p:cNvPr>
          <p:cNvSpPr>
            <a:spLocks noGrp="1"/>
          </p:cNvSpPr>
          <p:nvPr/>
        </p:nvSpPr>
        <p:spPr>
          <a:xfrm>
            <a:off x="640080" y="1143000"/>
            <a:ext cx="5669280" cy="502920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Some Generative AI workflows contain several tasks, but not every task depends on the result of the previous one.</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If independent tasks are always performed one after another, the user may wait longer than necessary.</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When tasks are independent, they may be able to run in parallel so several pieces of work happen at the same time.</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Services such as AWS Step Functions can help coordinate workflows where different tasks need to run in a particular order or in parallel.</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Parallel execution is especially useful when several searches, calculations, model calls, or agent tasks can be completed independently.</a:t>
            </a:r>
          </a:p>
        </p:txBody>
      </p:sp>
      <p:sp>
        <p:nvSpPr>
          <p:cNvPr id="7" name="Rounded Rectangle 6">
            <a:extLst>
              <a:ext uri="{FF2B5EF4-FFF2-40B4-BE49-F238E27FC236}">
                <a16:creationId xmlns:a16="http://schemas.microsoft.com/office/drawing/2014/main" id="{EBBE58E4-0B8B-43C2-B406-EFDC96FD230C}"/>
              </a:ext>
            </a:extLst>
          </p:cNvPr>
          <p:cNvSpPr>
            <a:spLocks noGrp="1"/>
          </p:cNvSpPr>
          <p:nvPr/>
        </p:nvSpPr>
        <p:spPr>
          <a:xfrm>
            <a:off x="6537960" y="1234440"/>
            <a:ext cx="4846320" cy="822960"/>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500" b="1" dirty="0">
                <a:solidFill>
                  <a:srgbClr val="5B4CBA"/>
                </a:solidFill>
                <a:latin typeface="Aptos"/>
                <a:ea typeface="Aptos"/>
                <a:cs typeface="Aptos"/>
              </a:rPr>
              <a:t>Example:</a:t>
            </a:r>
          </a:p>
          <a:p>
            <a:r>
              <a:rPr sz="1500" dirty="0">
                <a:solidFill>
                  <a:srgbClr val="1A233A"/>
                </a:solidFill>
                <a:latin typeface="Aptos"/>
                <a:ea typeface="Aptos"/>
                <a:cs typeface="Aptos"/>
              </a:rPr>
              <a:t>A travel assistant needs to:</a:t>
            </a:r>
          </a:p>
        </p:txBody>
      </p:sp>
      <p:sp>
        <p:nvSpPr>
          <p:cNvPr id="8" name="Rounded Rectangle 7">
            <a:extLst>
              <a:ext uri="{FF2B5EF4-FFF2-40B4-BE49-F238E27FC236}">
                <a16:creationId xmlns:a16="http://schemas.microsoft.com/office/drawing/2014/main" id="{56747D25-04C2-4BFD-818F-5F8899145A58}"/>
              </a:ext>
            </a:extLst>
          </p:cNvPr>
          <p:cNvSpPr>
            <a:spLocks noGrp="1"/>
          </p:cNvSpPr>
          <p:nvPr/>
        </p:nvSpPr>
        <p:spPr>
          <a:xfrm>
            <a:off x="6720840" y="2286000"/>
            <a:ext cx="4297680" cy="658368"/>
          </a:xfrm>
          <a:prstGeom prst="roundRect">
            <a:avLst/>
          </a:prstGeom>
          <a:solidFill>
            <a:srgbClr val="FFFFFF"/>
          </a:solidFill>
          <a:ln>
            <a:solidFill>
              <a:srgbClr val="3D72D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600">
                <a:solidFill>
                  <a:srgbClr val="1A233A"/>
                </a:solidFill>
                <a:latin typeface="Aptos"/>
                <a:ea typeface="Aptos"/>
                <a:cs typeface="Aptos"/>
              </a:rPr>
              <a:t>Find flights.</a:t>
            </a:r>
          </a:p>
        </p:txBody>
      </p:sp>
      <p:sp>
        <p:nvSpPr>
          <p:cNvPr id="9" name="Rounded Rectangle 8">
            <a:extLst>
              <a:ext uri="{FF2B5EF4-FFF2-40B4-BE49-F238E27FC236}">
                <a16:creationId xmlns:a16="http://schemas.microsoft.com/office/drawing/2014/main" id="{B205B3B2-F9AD-4C83-A920-8C74E761EB30}"/>
              </a:ext>
            </a:extLst>
          </p:cNvPr>
          <p:cNvSpPr>
            <a:spLocks noGrp="1"/>
          </p:cNvSpPr>
          <p:nvPr/>
        </p:nvSpPr>
        <p:spPr>
          <a:xfrm>
            <a:off x="6720840" y="3246120"/>
            <a:ext cx="4297680" cy="658368"/>
          </a:xfrm>
          <a:prstGeom prst="roundRect">
            <a:avLst/>
          </a:prstGeom>
          <a:solidFill>
            <a:srgbClr val="FFFFFF"/>
          </a:solidFill>
          <a:ln>
            <a:solidFill>
              <a:srgbClr val="18929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600">
                <a:solidFill>
                  <a:srgbClr val="1A233A"/>
                </a:solidFill>
                <a:latin typeface="Aptos"/>
                <a:ea typeface="Aptos"/>
                <a:cs typeface="Aptos"/>
              </a:rPr>
              <a:t>Find hotels.</a:t>
            </a:r>
          </a:p>
        </p:txBody>
      </p:sp>
      <p:sp>
        <p:nvSpPr>
          <p:cNvPr id="10" name="Rounded Rectangle 9">
            <a:extLst>
              <a:ext uri="{FF2B5EF4-FFF2-40B4-BE49-F238E27FC236}">
                <a16:creationId xmlns:a16="http://schemas.microsoft.com/office/drawing/2014/main" id="{6F52E348-D382-49B4-B561-5839F2F471DC}"/>
              </a:ext>
            </a:extLst>
          </p:cNvPr>
          <p:cNvSpPr>
            <a:spLocks noGrp="1"/>
          </p:cNvSpPr>
          <p:nvPr/>
        </p:nvSpPr>
        <p:spPr>
          <a:xfrm>
            <a:off x="6720840" y="4206240"/>
            <a:ext cx="4297680" cy="658368"/>
          </a:xfrm>
          <a:prstGeom prst="roundRect">
            <a:avLst/>
          </a:prstGeom>
          <a:solidFill>
            <a:srgbClr val="FFFFFF"/>
          </a:solidFill>
          <a:ln>
            <a:solidFill>
              <a:srgbClr val="E6893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600">
                <a:solidFill>
                  <a:srgbClr val="1A233A"/>
                </a:solidFill>
                <a:latin typeface="Aptos"/>
                <a:ea typeface="Aptos"/>
                <a:cs typeface="Aptos"/>
              </a:rPr>
              <a:t>Check local transportation.</a:t>
            </a:r>
          </a:p>
        </p:txBody>
      </p:sp>
      <p:sp>
        <p:nvSpPr>
          <p:cNvPr id="11" name="Rounded Rectangle 10">
            <a:extLst>
              <a:ext uri="{FF2B5EF4-FFF2-40B4-BE49-F238E27FC236}">
                <a16:creationId xmlns:a16="http://schemas.microsoft.com/office/drawing/2014/main" id="{9C3BD46E-4997-4507-974F-366B7CA80B39}"/>
              </a:ext>
            </a:extLst>
          </p:cNvPr>
          <p:cNvSpPr>
            <a:spLocks noGrp="1"/>
          </p:cNvSpPr>
          <p:nvPr/>
        </p:nvSpPr>
        <p:spPr>
          <a:xfrm>
            <a:off x="6537960" y="5303520"/>
            <a:ext cx="4846320" cy="868680"/>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500" b="1" dirty="0">
                <a:solidFill>
                  <a:srgbClr val="5B4CBA"/>
                </a:solidFill>
                <a:latin typeface="Aptos"/>
                <a:ea typeface="Aptos"/>
                <a:cs typeface="Aptos"/>
              </a:rPr>
              <a:t>Main Lesson:</a:t>
            </a:r>
          </a:p>
          <a:p>
            <a:r>
              <a:rPr sz="1500" dirty="0">
                <a:solidFill>
                  <a:srgbClr val="1A233A"/>
                </a:solidFill>
                <a:latin typeface="Aptos"/>
                <a:ea typeface="Aptos"/>
                <a:cs typeface="Aptos"/>
              </a:rPr>
              <a:t>Do not make independent work wait unnecessarily.</a:t>
            </a:r>
          </a:p>
        </p:txBody>
      </p:sp>
      <p:sp>
        <p:nvSpPr>
          <p:cNvPr id="12" name="TextBox 11">
            <a:extLst>
              <a:ext uri="{FF2B5EF4-FFF2-40B4-BE49-F238E27FC236}">
                <a16:creationId xmlns:a16="http://schemas.microsoft.com/office/drawing/2014/main" id="{2EDD5961-0762-420F-81EA-5F03925A757F}"/>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849588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EA2DA8-E6F2-4710-A193-72A0B750C0AB}"/>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F0FF208-84EE-46FF-854A-F9FEB3766730}"/>
              </a:ext>
            </a:extLst>
          </p:cNvPr>
          <p:cNvSpPr>
            <a:spLocks noGrp="1"/>
          </p:cNvSpPr>
          <p:nvPr/>
        </p:nvSpPr>
        <p:spPr>
          <a:xfrm>
            <a:off x="0" y="0"/>
            <a:ext cx="12191695" cy="109728"/>
          </a:xfrm>
          <a:prstGeom prst="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26E7C72-C176-4E83-920B-045D3CE46509}"/>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Streaming Can Improve the User Experience</a:t>
            </a:r>
          </a:p>
        </p:txBody>
      </p:sp>
      <p:sp>
        <p:nvSpPr>
          <p:cNvPr id="5" name="Rounded Rectangle 4">
            <a:extLst>
              <a:ext uri="{FF2B5EF4-FFF2-40B4-BE49-F238E27FC236}">
                <a16:creationId xmlns:a16="http://schemas.microsoft.com/office/drawing/2014/main" id="{D787D613-F092-46AD-B716-85DFA99C4980}"/>
              </a:ext>
            </a:extLst>
          </p:cNvPr>
          <p:cNvSpPr>
            <a:spLocks noGrp="1"/>
          </p:cNvSpPr>
          <p:nvPr/>
        </p:nvSpPr>
        <p:spPr>
          <a:xfrm>
            <a:off x="11109960" y="274320"/>
            <a:ext cx="502920" cy="438912"/>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4</a:t>
            </a:r>
          </a:p>
        </p:txBody>
      </p:sp>
      <p:sp>
        <p:nvSpPr>
          <p:cNvPr id="6" name="Rounded Rectangle 5">
            <a:extLst>
              <a:ext uri="{FF2B5EF4-FFF2-40B4-BE49-F238E27FC236}">
                <a16:creationId xmlns:a16="http://schemas.microsoft.com/office/drawing/2014/main" id="{F9FEC194-CBC7-41C0-A3C9-25F9274E8F8E}"/>
              </a:ext>
            </a:extLst>
          </p:cNvPr>
          <p:cNvSpPr>
            <a:spLocks noGrp="1"/>
          </p:cNvSpPr>
          <p:nvPr/>
        </p:nvSpPr>
        <p:spPr>
          <a:xfrm>
            <a:off x="640080" y="1142999"/>
            <a:ext cx="6400800" cy="4665453"/>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lnSpcReduction="10000"/>
          </a:bodyPr>
          <a:lstStyle/>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Some model responses may take time to generate, especially when the answer is long.</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Without streaming, the user may see nothing until the entire response has finished generating.</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Streaming allows the application to begin showing generated content as it becomes available.</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This does not necessarily mean that the complete model computation is finished faster, but the user can start reading the answer earlier.</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One useful performance measurement for streaming applications is Time to First Token, or TTFT, which measures how long the user waits before the first generated token arrives.</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Reducing the time before useful output appears can make the application feel much more responsive.</a:t>
            </a:r>
          </a:p>
        </p:txBody>
      </p:sp>
      <p:sp>
        <p:nvSpPr>
          <p:cNvPr id="7" name="Rounded Rectangle 6">
            <a:extLst>
              <a:ext uri="{FF2B5EF4-FFF2-40B4-BE49-F238E27FC236}">
                <a16:creationId xmlns:a16="http://schemas.microsoft.com/office/drawing/2014/main" id="{66D7D0F3-E63C-448F-90BB-08AB82127A36}"/>
              </a:ext>
            </a:extLst>
          </p:cNvPr>
          <p:cNvSpPr>
            <a:spLocks noGrp="1"/>
          </p:cNvSpPr>
          <p:nvPr/>
        </p:nvSpPr>
        <p:spPr>
          <a:xfrm>
            <a:off x="7269480" y="1417320"/>
            <a:ext cx="4160520" cy="2514600"/>
          </a:xfrm>
          <a:prstGeom prst="roundRect">
            <a:avLst/>
          </a:prstGeom>
          <a:solidFill>
            <a:srgbClr val="E8EFFC"/>
          </a:solidFill>
          <a:ln w="17780">
            <a:solidFill>
              <a:srgbClr val="3D72D5"/>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spcAft>
                <a:spcPts val="300"/>
              </a:spcAft>
              <a:buNone/>
            </a:pPr>
            <a:r>
              <a:rPr sz="1500" b="1" dirty="0">
                <a:solidFill>
                  <a:srgbClr val="3D72D5"/>
                </a:solidFill>
                <a:latin typeface="Aptos"/>
                <a:ea typeface="Aptos"/>
                <a:cs typeface="Aptos"/>
              </a:rPr>
              <a:t>Simple Comparison:</a:t>
            </a:r>
          </a:p>
          <a:p>
            <a:pPr>
              <a:spcBef>
                <a:spcPts val="300"/>
              </a:spcBef>
              <a:spcAft>
                <a:spcPts val="300"/>
              </a:spcAft>
            </a:pPr>
            <a:r>
              <a:rPr sz="1500" dirty="0">
                <a:solidFill>
                  <a:srgbClr val="1A233A"/>
                </a:solidFill>
                <a:latin typeface="Aptos"/>
                <a:ea typeface="Aptos"/>
                <a:cs typeface="Aptos"/>
              </a:rPr>
              <a:t>Without Streaming:</a:t>
            </a:r>
            <a:br>
              <a:rPr sz="1500" dirty="0">
                <a:solidFill>
                  <a:srgbClr val="1A233A"/>
                </a:solidFill>
                <a:latin typeface="Aptos"/>
                <a:ea typeface="Aptos"/>
                <a:cs typeface="Aptos"/>
              </a:rPr>
            </a:br>
            <a:r>
              <a:rPr sz="1500" dirty="0">
                <a:solidFill>
                  <a:srgbClr val="1A233A"/>
                </a:solidFill>
                <a:latin typeface="Aptos"/>
                <a:ea typeface="Aptos"/>
                <a:cs typeface="Aptos"/>
              </a:rPr>
              <a:t>Request → Wait → Wait → Complete Answer</a:t>
            </a:r>
            <a:br>
              <a:rPr sz="1500" dirty="0">
                <a:solidFill>
                  <a:srgbClr val="1A233A"/>
                </a:solidFill>
                <a:latin typeface="Aptos"/>
                <a:ea typeface="Aptos"/>
                <a:cs typeface="Aptos"/>
              </a:rPr>
            </a:br>
            <a:br>
              <a:rPr sz="1500" dirty="0">
                <a:solidFill>
                  <a:srgbClr val="1A233A"/>
                </a:solidFill>
                <a:latin typeface="Aptos"/>
                <a:ea typeface="Aptos"/>
                <a:cs typeface="Aptos"/>
              </a:rPr>
            </a:br>
            <a:r>
              <a:rPr sz="1500" dirty="0">
                <a:solidFill>
                  <a:srgbClr val="1A233A"/>
                </a:solidFill>
                <a:latin typeface="Aptos"/>
                <a:ea typeface="Aptos"/>
                <a:cs typeface="Aptos"/>
              </a:rPr>
              <a:t>With Streaming:</a:t>
            </a:r>
            <a:br>
              <a:rPr sz="1500" dirty="0">
                <a:solidFill>
                  <a:srgbClr val="1A233A"/>
                </a:solidFill>
                <a:latin typeface="Aptos"/>
                <a:ea typeface="Aptos"/>
                <a:cs typeface="Aptos"/>
              </a:rPr>
            </a:br>
            <a:r>
              <a:rPr sz="1500" dirty="0">
                <a:solidFill>
                  <a:srgbClr val="1A233A"/>
                </a:solidFill>
                <a:latin typeface="Aptos"/>
                <a:ea typeface="Aptos"/>
                <a:cs typeface="Aptos"/>
              </a:rPr>
              <a:t>Request → First Tokens → More Tokens → Complete Answer</a:t>
            </a:r>
          </a:p>
        </p:txBody>
      </p:sp>
      <p:sp>
        <p:nvSpPr>
          <p:cNvPr id="8" name="Rounded Rectangle 7">
            <a:extLst>
              <a:ext uri="{FF2B5EF4-FFF2-40B4-BE49-F238E27FC236}">
                <a16:creationId xmlns:a16="http://schemas.microsoft.com/office/drawing/2014/main" id="{0F3417F7-7557-4EB4-BE41-599FC29941B2}"/>
              </a:ext>
            </a:extLst>
          </p:cNvPr>
          <p:cNvSpPr>
            <a:spLocks noGrp="1"/>
          </p:cNvSpPr>
          <p:nvPr/>
        </p:nvSpPr>
        <p:spPr>
          <a:xfrm>
            <a:off x="7269480" y="4251960"/>
            <a:ext cx="4160520" cy="1234440"/>
          </a:xfrm>
          <a:prstGeom prst="roundRect">
            <a:avLst/>
          </a:prstGeom>
          <a:solidFill>
            <a:srgbClr val="E8EFFC"/>
          </a:solidFill>
          <a:ln w="17780">
            <a:solidFill>
              <a:srgbClr val="3D72D5"/>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spcAft>
                <a:spcPts val="300"/>
              </a:spcAft>
              <a:buNone/>
            </a:pPr>
            <a:r>
              <a:rPr sz="1450" b="1" dirty="0">
                <a:solidFill>
                  <a:srgbClr val="3D72D5"/>
                </a:solidFill>
                <a:latin typeface="Aptos"/>
                <a:ea typeface="Aptos"/>
                <a:cs typeface="Aptos"/>
              </a:rPr>
              <a:t>Main Idea:</a:t>
            </a:r>
          </a:p>
          <a:p>
            <a:pPr>
              <a:spcBef>
                <a:spcPts val="300"/>
              </a:spcBef>
              <a:spcAft>
                <a:spcPts val="300"/>
              </a:spcAft>
            </a:pPr>
            <a:r>
              <a:rPr sz="1450" dirty="0">
                <a:solidFill>
                  <a:srgbClr val="1A233A"/>
                </a:solidFill>
                <a:latin typeface="Aptos"/>
                <a:ea typeface="Aptos"/>
                <a:cs typeface="Aptos"/>
              </a:rPr>
              <a:t>Sometimes improving the perceived response time is just as important as improving the total processing time.</a:t>
            </a:r>
          </a:p>
        </p:txBody>
      </p:sp>
      <p:sp>
        <p:nvSpPr>
          <p:cNvPr id="9" name="TextBox 8">
            <a:extLst>
              <a:ext uri="{FF2B5EF4-FFF2-40B4-BE49-F238E27FC236}">
                <a16:creationId xmlns:a16="http://schemas.microsoft.com/office/drawing/2014/main" id="{5D033585-60E0-43BA-886A-5C7DA82F3669}"/>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935446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5F48A-2752-46EB-9A51-0EB5A6C93573}"/>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CD338B50-6EC6-4E12-9E88-FDCF96330CAC}"/>
              </a:ext>
            </a:extLst>
          </p:cNvPr>
          <p:cNvSpPr>
            <a:spLocks noGrp="1"/>
          </p:cNvSpPr>
          <p:nvPr/>
        </p:nvSpPr>
        <p:spPr>
          <a:xfrm>
            <a:off x="0" y="0"/>
            <a:ext cx="12191695" cy="109728"/>
          </a:xfrm>
          <a:prstGeom prst="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4037B08-A5AA-455E-895D-3300C2A9C43A}"/>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Keep the Prompt Focused for Faster Processing</a:t>
            </a:r>
          </a:p>
        </p:txBody>
      </p:sp>
      <p:sp>
        <p:nvSpPr>
          <p:cNvPr id="5" name="Rounded Rectangle 4">
            <a:extLst>
              <a:ext uri="{FF2B5EF4-FFF2-40B4-BE49-F238E27FC236}">
                <a16:creationId xmlns:a16="http://schemas.microsoft.com/office/drawing/2014/main" id="{25A00081-335A-433B-B900-51FC929EE65E}"/>
              </a:ext>
            </a:extLst>
          </p:cNvPr>
          <p:cNvSpPr>
            <a:spLocks noGrp="1"/>
          </p:cNvSpPr>
          <p:nvPr/>
        </p:nvSpPr>
        <p:spPr>
          <a:xfrm>
            <a:off x="11109960" y="274320"/>
            <a:ext cx="502920" cy="438912"/>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5</a:t>
            </a:r>
          </a:p>
        </p:txBody>
      </p:sp>
      <p:sp>
        <p:nvSpPr>
          <p:cNvPr id="6" name="Rounded Rectangle 5">
            <a:extLst>
              <a:ext uri="{FF2B5EF4-FFF2-40B4-BE49-F238E27FC236}">
                <a16:creationId xmlns:a16="http://schemas.microsoft.com/office/drawing/2014/main" id="{16C50B35-8C95-49DD-83CB-8A21591A2599}"/>
              </a:ext>
            </a:extLst>
          </p:cNvPr>
          <p:cNvSpPr>
            <a:spLocks noGrp="1"/>
          </p:cNvSpPr>
          <p:nvPr/>
        </p:nvSpPr>
        <p:spPr>
          <a:xfrm>
            <a:off x="685800" y="1645920"/>
            <a:ext cx="7498079" cy="448056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Large prompts can contain useful information, but they can also include unnecessary context that the model has to process.</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Keeping the most important instructions and information clear can make the request easier for the model to handle.</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Older conversation history can be summarized or removed when it is no longer important.</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RAG results can also be pruned so the prompt contains the most relevant retrieved information instead of many repeated or weakly related chunks.</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Very complicated tasks may sometimes be divided into smaller requests instead of sending one extremely large prompt.</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These techniques connect directly with the context optimization from Video 1, but here the focus is on responsiveness as well as token efficiency.</a:t>
            </a:r>
          </a:p>
        </p:txBody>
      </p:sp>
      <p:sp>
        <p:nvSpPr>
          <p:cNvPr id="7" name="Rounded Rectangle 6">
            <a:extLst>
              <a:ext uri="{FF2B5EF4-FFF2-40B4-BE49-F238E27FC236}">
                <a16:creationId xmlns:a16="http://schemas.microsoft.com/office/drawing/2014/main" id="{102D2D07-E4E9-49D1-BFDA-CF0B2C930C70}"/>
              </a:ext>
            </a:extLst>
          </p:cNvPr>
          <p:cNvSpPr>
            <a:spLocks noGrp="1"/>
          </p:cNvSpPr>
          <p:nvPr/>
        </p:nvSpPr>
        <p:spPr>
          <a:xfrm>
            <a:off x="8458200" y="1508760"/>
            <a:ext cx="2926080" cy="731520"/>
          </a:xfrm>
          <a:prstGeom prst="round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Large Context</a:t>
            </a:r>
          </a:p>
        </p:txBody>
      </p:sp>
      <p:sp>
        <p:nvSpPr>
          <p:cNvPr id="8" name="Rounded Rectangle 7">
            <a:extLst>
              <a:ext uri="{FF2B5EF4-FFF2-40B4-BE49-F238E27FC236}">
                <a16:creationId xmlns:a16="http://schemas.microsoft.com/office/drawing/2014/main" id="{12E94DBB-904D-4764-8644-05FF47B55C09}"/>
              </a:ext>
            </a:extLst>
          </p:cNvPr>
          <p:cNvSpPr>
            <a:spLocks noGrp="1"/>
          </p:cNvSpPr>
          <p:nvPr/>
        </p:nvSpPr>
        <p:spPr>
          <a:xfrm>
            <a:off x="8778240" y="2697480"/>
            <a:ext cx="2286000" cy="731520"/>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Useful Context</a:t>
            </a:r>
          </a:p>
        </p:txBody>
      </p:sp>
      <p:sp>
        <p:nvSpPr>
          <p:cNvPr id="9" name="Rounded Rectangle 8">
            <a:extLst>
              <a:ext uri="{FF2B5EF4-FFF2-40B4-BE49-F238E27FC236}">
                <a16:creationId xmlns:a16="http://schemas.microsoft.com/office/drawing/2014/main" id="{666B66F3-8B12-415F-8056-73426D83CD6C}"/>
              </a:ext>
            </a:extLst>
          </p:cNvPr>
          <p:cNvSpPr>
            <a:spLocks noGrp="1"/>
          </p:cNvSpPr>
          <p:nvPr/>
        </p:nvSpPr>
        <p:spPr>
          <a:xfrm>
            <a:off x="9075420" y="3886200"/>
            <a:ext cx="1691640" cy="731520"/>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Focused Prompt</a:t>
            </a:r>
          </a:p>
        </p:txBody>
      </p:sp>
      <p:sp>
        <p:nvSpPr>
          <p:cNvPr id="10" name="Rounded Rectangle 9">
            <a:extLst>
              <a:ext uri="{FF2B5EF4-FFF2-40B4-BE49-F238E27FC236}">
                <a16:creationId xmlns:a16="http://schemas.microsoft.com/office/drawing/2014/main" id="{D920CD90-E879-4075-844E-EF1E97827505}"/>
              </a:ext>
            </a:extLst>
          </p:cNvPr>
          <p:cNvSpPr>
            <a:spLocks noGrp="1"/>
          </p:cNvSpPr>
          <p:nvPr/>
        </p:nvSpPr>
        <p:spPr>
          <a:xfrm>
            <a:off x="8321040" y="5166360"/>
            <a:ext cx="3337560" cy="1027406"/>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spcAft>
                <a:spcPts val="300"/>
              </a:spcAft>
              <a:buNone/>
            </a:pPr>
            <a:r>
              <a:rPr sz="1350" b="1" dirty="0">
                <a:solidFill>
                  <a:srgbClr val="189299"/>
                </a:solidFill>
                <a:latin typeface="Aptos"/>
                <a:ea typeface="Aptos"/>
                <a:cs typeface="Aptos"/>
              </a:rPr>
              <a:t>Main Lesson:</a:t>
            </a:r>
          </a:p>
          <a:p>
            <a:pPr>
              <a:spcBef>
                <a:spcPts val="300"/>
              </a:spcBef>
              <a:spcAft>
                <a:spcPts val="300"/>
              </a:spcAft>
            </a:pPr>
            <a:r>
              <a:rPr sz="1350" dirty="0">
                <a:solidFill>
                  <a:srgbClr val="1A233A"/>
                </a:solidFill>
                <a:latin typeface="Aptos"/>
                <a:ea typeface="Aptos"/>
                <a:cs typeface="Aptos"/>
              </a:rPr>
              <a:t>More context is useful only when that context actually helps the current task.</a:t>
            </a:r>
          </a:p>
        </p:txBody>
      </p:sp>
      <p:sp>
        <p:nvSpPr>
          <p:cNvPr id="11" name="TextBox 10">
            <a:extLst>
              <a:ext uri="{FF2B5EF4-FFF2-40B4-BE49-F238E27FC236}">
                <a16:creationId xmlns:a16="http://schemas.microsoft.com/office/drawing/2014/main" id="{2ABCF3A7-7095-48F7-8CA1-739BE4B1E23A}"/>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2056155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9B6EAA-ACBE-48CF-9E6E-558C298D4291}"/>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9C3396F7-9FB4-4B7A-A8D4-20CE1262BD23}"/>
              </a:ext>
            </a:extLst>
          </p:cNvPr>
          <p:cNvSpPr>
            <a:spLocks noGrp="1"/>
          </p:cNvSpPr>
          <p:nvPr/>
        </p:nvSpPr>
        <p:spPr>
          <a:xfrm>
            <a:off x="0" y="0"/>
            <a:ext cx="12191695" cy="109728"/>
          </a:xfrm>
          <a:prstGeom prst="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D936F88-3CC0-4207-B3B0-B13C9681A36F}"/>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Retrieval Speed Affects the Whole RAG Application</a:t>
            </a:r>
          </a:p>
        </p:txBody>
      </p:sp>
      <p:sp>
        <p:nvSpPr>
          <p:cNvPr id="5" name="Rounded Rectangle 4">
            <a:extLst>
              <a:ext uri="{FF2B5EF4-FFF2-40B4-BE49-F238E27FC236}">
                <a16:creationId xmlns:a16="http://schemas.microsoft.com/office/drawing/2014/main" id="{E5EE6C97-0A58-452C-8154-BF14AFC85E69}"/>
              </a:ext>
            </a:extLst>
          </p:cNvPr>
          <p:cNvSpPr>
            <a:spLocks noGrp="1"/>
          </p:cNvSpPr>
          <p:nvPr/>
        </p:nvSpPr>
        <p:spPr>
          <a:xfrm>
            <a:off x="11109960" y="274320"/>
            <a:ext cx="502920" cy="438912"/>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6</a:t>
            </a:r>
          </a:p>
        </p:txBody>
      </p:sp>
      <p:sp>
        <p:nvSpPr>
          <p:cNvPr id="6" name="Rounded Rectangle 5">
            <a:extLst>
              <a:ext uri="{FF2B5EF4-FFF2-40B4-BE49-F238E27FC236}">
                <a16:creationId xmlns:a16="http://schemas.microsoft.com/office/drawing/2014/main" id="{ACECAA81-F22E-4980-B883-245726269916}"/>
              </a:ext>
            </a:extLst>
          </p:cNvPr>
          <p:cNvSpPr>
            <a:spLocks noGrp="1"/>
          </p:cNvSpPr>
          <p:nvPr/>
        </p:nvSpPr>
        <p:spPr>
          <a:xfrm>
            <a:off x="685800" y="1143000"/>
            <a:ext cx="5623560" cy="5027762"/>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In a RAG application, the Foundation Model is only one part of the response process.</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Before the model generates an answer, the application may need to embed the query, search a vector index, filter results, retrieve documents, and prepare the final context.</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lang="en-IN" dirty="0"/>
              <a:t>I</a:t>
            </a:r>
            <a:r>
              <a:rPr dirty="0"/>
              <a:t>f retrieval is slow or returns poor information, the entire application can feel slow even when the Foundation Model itself performs well.</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Retrieval optimization therefore focuses on getting relevant information quickly and efficiently.</a:t>
            </a:r>
          </a:p>
          <a:p>
            <a:pPr marL="285750" indent="-285750">
              <a:lnSpc>
                <a:spcPct val="100000"/>
              </a:lnSpc>
              <a:spcBef>
                <a:spcPts val="700"/>
              </a:spcBef>
              <a:spcAft>
                <a:spcPts val="700"/>
              </a:spcAft>
              <a:buFont typeface="Arial" panose="020B0604020202020204" pitchFamily="34" charset="0"/>
              <a:buChar char="•"/>
              <a:defRPr sz="1500">
                <a:solidFill>
                  <a:srgbClr val="1A233A"/>
                </a:solidFill>
                <a:latin typeface="Aptos"/>
                <a:ea typeface="Aptos"/>
                <a:cs typeface="Aptos"/>
              </a:defRPr>
            </a:pPr>
            <a:r>
              <a:rPr dirty="0"/>
              <a:t>Good vector indexes, appropriate filtering, and well-prepared queries can improve the retrieval stage before the model is called.</a:t>
            </a:r>
          </a:p>
        </p:txBody>
      </p:sp>
      <p:sp>
        <p:nvSpPr>
          <p:cNvPr id="7" name="Rounded Rectangle 6">
            <a:extLst>
              <a:ext uri="{FF2B5EF4-FFF2-40B4-BE49-F238E27FC236}">
                <a16:creationId xmlns:a16="http://schemas.microsoft.com/office/drawing/2014/main" id="{854D30D4-F3E6-480E-BA38-8E2EAA5B53BA}"/>
              </a:ext>
            </a:extLst>
          </p:cNvPr>
          <p:cNvSpPr>
            <a:spLocks noGrp="1"/>
          </p:cNvSpPr>
          <p:nvPr/>
        </p:nvSpPr>
        <p:spPr>
          <a:xfrm>
            <a:off x="6995160" y="1234440"/>
            <a:ext cx="3291840" cy="594360"/>
          </a:xfrm>
          <a:prstGeom prst="roundRect">
            <a:avLst/>
          </a:prstGeom>
          <a:solidFill>
            <a:srgbClr val="FFFFFF"/>
          </a:solidFill>
          <a:ln w="21590">
            <a:solidFill>
              <a:srgbClr val="3D72D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a:solidFill>
                  <a:srgbClr val="1A233A"/>
                </a:solidFill>
                <a:latin typeface="Aptos"/>
                <a:ea typeface="Aptos"/>
                <a:cs typeface="Aptos"/>
              </a:rPr>
              <a:t>User Question</a:t>
            </a:r>
          </a:p>
        </p:txBody>
      </p:sp>
      <p:sp>
        <p:nvSpPr>
          <p:cNvPr id="8" name="Connector 7">
            <a:extLst>
              <a:ext uri="{FF2B5EF4-FFF2-40B4-BE49-F238E27FC236}">
                <a16:creationId xmlns:a16="http://schemas.microsoft.com/office/drawing/2014/main" id="{0B833164-19B0-496A-8F2C-019B4E01AF3E}"/>
              </a:ext>
            </a:extLst>
          </p:cNvPr>
          <p:cNvSpPr>
            <a:spLocks noGrp="1"/>
          </p:cNvSpPr>
          <p:nvPr/>
        </p:nvSpPr>
        <p:spPr>
          <a:xfrm>
            <a:off x="8641080" y="1828800"/>
            <a:ext cx="0" cy="292608"/>
          </a:xfrm>
          <a:prstGeom prst="line">
            <a:avLst/>
          </a:prstGeom>
          <a:ln w="2286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9" name="Rounded Rectangle 8">
            <a:extLst>
              <a:ext uri="{FF2B5EF4-FFF2-40B4-BE49-F238E27FC236}">
                <a16:creationId xmlns:a16="http://schemas.microsoft.com/office/drawing/2014/main" id="{6178A07E-D8BC-4C90-926C-BB889875E565}"/>
              </a:ext>
            </a:extLst>
          </p:cNvPr>
          <p:cNvSpPr>
            <a:spLocks noGrp="1"/>
          </p:cNvSpPr>
          <p:nvPr/>
        </p:nvSpPr>
        <p:spPr>
          <a:xfrm>
            <a:off x="6995160" y="2148840"/>
            <a:ext cx="3291840" cy="594360"/>
          </a:xfrm>
          <a:prstGeom prst="roundRect">
            <a:avLst/>
          </a:prstGeom>
          <a:solidFill>
            <a:srgbClr val="FFFFFF"/>
          </a:solidFill>
          <a:ln w="21590">
            <a:solidFill>
              <a:srgbClr val="18929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a:solidFill>
                  <a:srgbClr val="1A233A"/>
                </a:solidFill>
                <a:latin typeface="Aptos"/>
                <a:ea typeface="Aptos"/>
                <a:cs typeface="Aptos"/>
              </a:rPr>
              <a:t>Search / Retrieval</a:t>
            </a:r>
          </a:p>
        </p:txBody>
      </p:sp>
      <p:sp>
        <p:nvSpPr>
          <p:cNvPr id="10" name="Connector 9">
            <a:extLst>
              <a:ext uri="{FF2B5EF4-FFF2-40B4-BE49-F238E27FC236}">
                <a16:creationId xmlns:a16="http://schemas.microsoft.com/office/drawing/2014/main" id="{C71E60DE-DD67-4ABC-AA63-004F88B9671F}"/>
              </a:ext>
            </a:extLst>
          </p:cNvPr>
          <p:cNvSpPr>
            <a:spLocks noGrp="1"/>
          </p:cNvSpPr>
          <p:nvPr/>
        </p:nvSpPr>
        <p:spPr>
          <a:xfrm>
            <a:off x="8641080" y="2743200"/>
            <a:ext cx="0" cy="292608"/>
          </a:xfrm>
          <a:prstGeom prst="line">
            <a:avLst/>
          </a:prstGeom>
          <a:ln w="2286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1" name="Rounded Rectangle 10">
            <a:extLst>
              <a:ext uri="{FF2B5EF4-FFF2-40B4-BE49-F238E27FC236}">
                <a16:creationId xmlns:a16="http://schemas.microsoft.com/office/drawing/2014/main" id="{FD39155C-5222-47B0-A306-A009BF09E619}"/>
              </a:ext>
            </a:extLst>
          </p:cNvPr>
          <p:cNvSpPr>
            <a:spLocks noGrp="1"/>
          </p:cNvSpPr>
          <p:nvPr/>
        </p:nvSpPr>
        <p:spPr>
          <a:xfrm>
            <a:off x="6995160" y="3063240"/>
            <a:ext cx="3291840" cy="594360"/>
          </a:xfrm>
          <a:prstGeom prst="roundRect">
            <a:avLst/>
          </a:prstGeom>
          <a:solidFill>
            <a:srgbClr val="FFFFFF"/>
          </a:solidFill>
          <a:ln w="21590">
            <a:solidFill>
              <a:srgbClr val="5B4CB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a:solidFill>
                  <a:srgbClr val="1A233A"/>
                </a:solidFill>
                <a:latin typeface="Aptos"/>
                <a:ea typeface="Aptos"/>
                <a:cs typeface="Aptos"/>
              </a:rPr>
              <a:t>Relevant Context</a:t>
            </a:r>
          </a:p>
        </p:txBody>
      </p:sp>
      <p:sp>
        <p:nvSpPr>
          <p:cNvPr id="12" name="Connector 11">
            <a:extLst>
              <a:ext uri="{FF2B5EF4-FFF2-40B4-BE49-F238E27FC236}">
                <a16:creationId xmlns:a16="http://schemas.microsoft.com/office/drawing/2014/main" id="{5489E304-5564-412B-8088-BEE24C0EA005}"/>
              </a:ext>
            </a:extLst>
          </p:cNvPr>
          <p:cNvSpPr>
            <a:spLocks noGrp="1"/>
          </p:cNvSpPr>
          <p:nvPr/>
        </p:nvSpPr>
        <p:spPr>
          <a:xfrm>
            <a:off x="8641080" y="3657600"/>
            <a:ext cx="0" cy="292608"/>
          </a:xfrm>
          <a:prstGeom prst="line">
            <a:avLst/>
          </a:prstGeom>
          <a:ln w="2286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3" name="Rounded Rectangle 12">
            <a:extLst>
              <a:ext uri="{FF2B5EF4-FFF2-40B4-BE49-F238E27FC236}">
                <a16:creationId xmlns:a16="http://schemas.microsoft.com/office/drawing/2014/main" id="{6BCD8F93-94CD-4CAE-B9F6-E57ECD1DB193}"/>
              </a:ext>
            </a:extLst>
          </p:cNvPr>
          <p:cNvSpPr>
            <a:spLocks noGrp="1"/>
          </p:cNvSpPr>
          <p:nvPr/>
        </p:nvSpPr>
        <p:spPr>
          <a:xfrm>
            <a:off x="6995160" y="3977639"/>
            <a:ext cx="3291840" cy="594360"/>
          </a:xfrm>
          <a:prstGeom prst="roundRect">
            <a:avLst/>
          </a:prstGeom>
          <a:solidFill>
            <a:srgbClr val="FFFFFF"/>
          </a:solidFill>
          <a:ln w="21590">
            <a:solidFill>
              <a:srgbClr val="E6893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a:solidFill>
                  <a:srgbClr val="1A233A"/>
                </a:solidFill>
                <a:latin typeface="Aptos"/>
                <a:ea typeface="Aptos"/>
                <a:cs typeface="Aptos"/>
              </a:rPr>
              <a:t>Foundation Model</a:t>
            </a:r>
          </a:p>
        </p:txBody>
      </p:sp>
      <p:sp>
        <p:nvSpPr>
          <p:cNvPr id="14" name="Connector 13">
            <a:extLst>
              <a:ext uri="{FF2B5EF4-FFF2-40B4-BE49-F238E27FC236}">
                <a16:creationId xmlns:a16="http://schemas.microsoft.com/office/drawing/2014/main" id="{0F481037-E4F5-4173-A1CB-04EA5B59B827}"/>
              </a:ext>
            </a:extLst>
          </p:cNvPr>
          <p:cNvSpPr>
            <a:spLocks noGrp="1"/>
          </p:cNvSpPr>
          <p:nvPr/>
        </p:nvSpPr>
        <p:spPr>
          <a:xfrm>
            <a:off x="8641080" y="4572000"/>
            <a:ext cx="0" cy="292607"/>
          </a:xfrm>
          <a:prstGeom prst="line">
            <a:avLst/>
          </a:prstGeom>
          <a:ln w="2286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5" name="Rounded Rectangle 14">
            <a:extLst>
              <a:ext uri="{FF2B5EF4-FFF2-40B4-BE49-F238E27FC236}">
                <a16:creationId xmlns:a16="http://schemas.microsoft.com/office/drawing/2014/main" id="{87925974-4469-4E48-B7F6-30F428610DA1}"/>
              </a:ext>
            </a:extLst>
          </p:cNvPr>
          <p:cNvSpPr>
            <a:spLocks noGrp="1"/>
          </p:cNvSpPr>
          <p:nvPr/>
        </p:nvSpPr>
        <p:spPr>
          <a:xfrm>
            <a:off x="6995160" y="4892040"/>
            <a:ext cx="3291840" cy="594360"/>
          </a:xfrm>
          <a:prstGeom prst="roundRect">
            <a:avLst/>
          </a:prstGeom>
          <a:solidFill>
            <a:srgbClr val="FFFFFF"/>
          </a:solidFill>
          <a:ln w="21590">
            <a:solidFill>
              <a:srgbClr val="3D72D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a:solidFill>
                  <a:srgbClr val="1A233A"/>
                </a:solidFill>
                <a:latin typeface="Aptos"/>
                <a:ea typeface="Aptos"/>
                <a:cs typeface="Aptos"/>
              </a:rPr>
              <a:t>Answer</a:t>
            </a:r>
          </a:p>
        </p:txBody>
      </p:sp>
      <p:sp>
        <p:nvSpPr>
          <p:cNvPr id="16" name="Rounded Rectangle 15">
            <a:extLst>
              <a:ext uri="{FF2B5EF4-FFF2-40B4-BE49-F238E27FC236}">
                <a16:creationId xmlns:a16="http://schemas.microsoft.com/office/drawing/2014/main" id="{B7D09B8F-0C57-4216-826A-784147D8D37E}"/>
              </a:ext>
            </a:extLst>
          </p:cNvPr>
          <p:cNvSpPr>
            <a:spLocks noGrp="1"/>
          </p:cNvSpPr>
          <p:nvPr/>
        </p:nvSpPr>
        <p:spPr>
          <a:xfrm>
            <a:off x="6675120" y="5669280"/>
            <a:ext cx="4114800" cy="850392"/>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spcAft>
                <a:spcPts val="300"/>
              </a:spcAft>
              <a:buNone/>
            </a:pPr>
            <a:r>
              <a:rPr sz="1350" b="1" dirty="0">
                <a:solidFill>
                  <a:srgbClr val="5B4CBA"/>
                </a:solidFill>
                <a:latin typeface="Aptos"/>
                <a:ea typeface="Aptos"/>
                <a:cs typeface="Aptos"/>
              </a:rPr>
              <a:t>Important Point:</a:t>
            </a:r>
          </a:p>
          <a:p>
            <a:pPr>
              <a:spcBef>
                <a:spcPts val="300"/>
              </a:spcBef>
              <a:spcAft>
                <a:spcPts val="300"/>
              </a:spcAft>
            </a:pPr>
            <a:r>
              <a:rPr sz="1350" dirty="0">
                <a:solidFill>
                  <a:srgbClr val="1A233A"/>
                </a:solidFill>
                <a:latin typeface="Aptos"/>
                <a:ea typeface="Aptos"/>
                <a:cs typeface="Aptos"/>
              </a:rPr>
              <a:t>Optimizing only the model does not fix a slow retrieval pipeline.</a:t>
            </a:r>
          </a:p>
        </p:txBody>
      </p:sp>
      <p:sp>
        <p:nvSpPr>
          <p:cNvPr id="17" name="TextBox 16">
            <a:extLst>
              <a:ext uri="{FF2B5EF4-FFF2-40B4-BE49-F238E27FC236}">
                <a16:creationId xmlns:a16="http://schemas.microsoft.com/office/drawing/2014/main" id="{6AB0A15B-19E8-453A-BEE9-E3953E5860BF}"/>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2129928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2A3A7-5CF4-4A1F-83DE-8ACCF6BCA41B}"/>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99F3232-28DA-4886-9F86-DABEAE4A1EFE}"/>
              </a:ext>
            </a:extLst>
          </p:cNvPr>
          <p:cNvSpPr>
            <a:spLocks noGrp="1"/>
          </p:cNvSpPr>
          <p:nvPr/>
        </p:nvSpPr>
        <p:spPr>
          <a:xfrm>
            <a:off x="0" y="0"/>
            <a:ext cx="12191695" cy="109728"/>
          </a:xfrm>
          <a:prstGeom prst="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434EA47-6312-4A57-88F4-8E27CA6852BD}"/>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Improving Retrieval Quality</a:t>
            </a:r>
          </a:p>
        </p:txBody>
      </p:sp>
      <p:sp>
        <p:nvSpPr>
          <p:cNvPr id="5" name="Rounded Rectangle 4">
            <a:extLst>
              <a:ext uri="{FF2B5EF4-FFF2-40B4-BE49-F238E27FC236}">
                <a16:creationId xmlns:a16="http://schemas.microsoft.com/office/drawing/2014/main" id="{E681D802-9D4B-4E46-BFE2-29002376C1E2}"/>
              </a:ext>
            </a:extLst>
          </p:cNvPr>
          <p:cNvSpPr>
            <a:spLocks noGrp="1"/>
          </p:cNvSpPr>
          <p:nvPr/>
        </p:nvSpPr>
        <p:spPr>
          <a:xfrm>
            <a:off x="11109960" y="274320"/>
            <a:ext cx="502920" cy="438912"/>
          </a:xfrm>
          <a:prstGeom prst="round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7</a:t>
            </a:r>
          </a:p>
        </p:txBody>
      </p:sp>
      <p:sp>
        <p:nvSpPr>
          <p:cNvPr id="6" name="Rounded Rectangle 5">
            <a:extLst>
              <a:ext uri="{FF2B5EF4-FFF2-40B4-BE49-F238E27FC236}">
                <a16:creationId xmlns:a16="http://schemas.microsoft.com/office/drawing/2014/main" id="{AE1161D7-D99B-4AE0-8C0C-9E3EE39782F9}"/>
              </a:ext>
            </a:extLst>
          </p:cNvPr>
          <p:cNvSpPr>
            <a:spLocks noGrp="1"/>
          </p:cNvSpPr>
          <p:nvPr/>
        </p:nvSpPr>
        <p:spPr>
          <a:xfrm>
            <a:off x="640080" y="1097279"/>
            <a:ext cx="6400800" cy="4906705"/>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Retrieval performance is not only about speed. The system also needs to return information that is actually useful for answering the question.</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Hybrid search can combine semantic similarity with traditional keyword-based search when the application benefits from both approaches.</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User questions can also be preprocessed before retrieval so the search query is clearer and more focused.</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If one question contains several different requests, the application may separate it into smaller search tasks.</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Ambiguous wording can sometimes be clarified before retrieval so the system searches for the correct meaning.</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Filtering can also remove documents that are outside the correct date, category, department, or other important metadata.</a:t>
            </a:r>
          </a:p>
        </p:txBody>
      </p:sp>
      <p:sp>
        <p:nvSpPr>
          <p:cNvPr id="7" name="Rounded Rectangle 6">
            <a:extLst>
              <a:ext uri="{FF2B5EF4-FFF2-40B4-BE49-F238E27FC236}">
                <a16:creationId xmlns:a16="http://schemas.microsoft.com/office/drawing/2014/main" id="{571C1310-3B8C-4FF0-A24D-EB94AAA560C5}"/>
              </a:ext>
            </a:extLst>
          </p:cNvPr>
          <p:cNvSpPr>
            <a:spLocks noGrp="1"/>
          </p:cNvSpPr>
          <p:nvPr/>
        </p:nvSpPr>
        <p:spPr>
          <a:xfrm>
            <a:off x="7269480" y="1234440"/>
            <a:ext cx="4297680" cy="1508760"/>
          </a:xfrm>
          <a:prstGeom prst="roundRect">
            <a:avLst/>
          </a:prstGeom>
          <a:solidFill>
            <a:srgbClr val="FCF1E5"/>
          </a:solidFill>
          <a:ln w="17780">
            <a:solidFill>
              <a:srgbClr val="E6893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400" b="1" dirty="0">
                <a:solidFill>
                  <a:srgbClr val="E6893A"/>
                </a:solidFill>
                <a:latin typeface="Aptos"/>
                <a:ea typeface="Aptos"/>
                <a:cs typeface="Aptos"/>
              </a:rPr>
              <a:t>Example:</a:t>
            </a:r>
          </a:p>
          <a:p>
            <a:r>
              <a:rPr sz="1400" dirty="0">
                <a:solidFill>
                  <a:srgbClr val="1A233A"/>
                </a:solidFill>
                <a:latin typeface="Aptos"/>
                <a:ea typeface="Aptos"/>
                <a:cs typeface="Aptos"/>
              </a:rPr>
              <a:t>User asks:</a:t>
            </a:r>
            <a:br>
              <a:rPr sz="1400" dirty="0">
                <a:solidFill>
                  <a:srgbClr val="1A233A"/>
                </a:solidFill>
                <a:latin typeface="Aptos"/>
                <a:ea typeface="Aptos"/>
                <a:cs typeface="Aptos"/>
              </a:rPr>
            </a:br>
            <a:r>
              <a:rPr sz="1400" dirty="0">
                <a:solidFill>
                  <a:srgbClr val="1A233A"/>
                </a:solidFill>
                <a:latin typeface="Aptos"/>
                <a:ea typeface="Aptos"/>
                <a:cs typeface="Aptos"/>
              </a:rPr>
              <a:t>“What changed in our travel policy this year, and what is the hotel reimbursement limit?”</a:t>
            </a:r>
          </a:p>
        </p:txBody>
      </p:sp>
      <p:sp>
        <p:nvSpPr>
          <p:cNvPr id="8" name="Rounded Rectangle 7">
            <a:extLst>
              <a:ext uri="{FF2B5EF4-FFF2-40B4-BE49-F238E27FC236}">
                <a16:creationId xmlns:a16="http://schemas.microsoft.com/office/drawing/2014/main" id="{5E76DDFF-E016-4763-9F2E-A652D58137D5}"/>
              </a:ext>
            </a:extLst>
          </p:cNvPr>
          <p:cNvSpPr>
            <a:spLocks noGrp="1"/>
          </p:cNvSpPr>
          <p:nvPr/>
        </p:nvSpPr>
        <p:spPr>
          <a:xfrm>
            <a:off x="7269480" y="2971800"/>
            <a:ext cx="4297680" cy="155448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a:lnSpc>
                <a:spcPct val="100000"/>
              </a:lnSpc>
              <a:spcAft>
                <a:spcPts val="700"/>
              </a:spcAft>
              <a:buNone/>
              <a:defRPr sz="1450">
                <a:solidFill>
                  <a:srgbClr val="1A233A"/>
                </a:solidFill>
                <a:latin typeface="Aptos"/>
                <a:ea typeface="Aptos"/>
                <a:cs typeface="Aptos"/>
              </a:defRPr>
            </a:pPr>
            <a:r>
              <a:rPr dirty="0"/>
              <a:t>1. Search for recent travel-policy changes.</a:t>
            </a:r>
          </a:p>
          <a:p>
            <a:pPr>
              <a:lnSpc>
                <a:spcPct val="100000"/>
              </a:lnSpc>
              <a:spcAft>
                <a:spcPts val="700"/>
              </a:spcAft>
              <a:buNone/>
              <a:defRPr sz="1450">
                <a:solidFill>
                  <a:srgbClr val="1A233A"/>
                </a:solidFill>
                <a:latin typeface="Aptos"/>
                <a:ea typeface="Aptos"/>
                <a:cs typeface="Aptos"/>
              </a:defRPr>
            </a:pPr>
            <a:r>
              <a:rPr dirty="0"/>
              <a:t>2. Search for the current hotel reimbursement rule.</a:t>
            </a:r>
          </a:p>
        </p:txBody>
      </p:sp>
      <p:sp>
        <p:nvSpPr>
          <p:cNvPr id="9" name="Rounded Rectangle 8">
            <a:extLst>
              <a:ext uri="{FF2B5EF4-FFF2-40B4-BE49-F238E27FC236}">
                <a16:creationId xmlns:a16="http://schemas.microsoft.com/office/drawing/2014/main" id="{2B6DC5E6-A327-4F05-B75B-CF3070914162}"/>
              </a:ext>
            </a:extLst>
          </p:cNvPr>
          <p:cNvSpPr>
            <a:spLocks noGrp="1"/>
          </p:cNvSpPr>
          <p:nvPr/>
        </p:nvSpPr>
        <p:spPr>
          <a:xfrm>
            <a:off x="7269480" y="4846320"/>
            <a:ext cx="4297680" cy="868680"/>
          </a:xfrm>
          <a:prstGeom prst="roundRect">
            <a:avLst/>
          </a:prstGeom>
          <a:solidFill>
            <a:srgbClr val="FCF1E5"/>
          </a:solidFill>
          <a:ln w="17780">
            <a:solidFill>
              <a:srgbClr val="E6893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400" b="1" dirty="0">
                <a:solidFill>
                  <a:srgbClr val="E6893A"/>
                </a:solidFill>
                <a:latin typeface="Aptos"/>
                <a:ea typeface="Aptos"/>
                <a:cs typeface="Aptos"/>
              </a:rPr>
              <a:t>Main Idea:</a:t>
            </a:r>
          </a:p>
          <a:p>
            <a:r>
              <a:rPr sz="1400" dirty="0">
                <a:solidFill>
                  <a:srgbClr val="1A233A"/>
                </a:solidFill>
                <a:latin typeface="Aptos"/>
                <a:ea typeface="Aptos"/>
                <a:cs typeface="Aptos"/>
              </a:rPr>
              <a:t>Better questions usually lead to better retrieval.</a:t>
            </a:r>
          </a:p>
        </p:txBody>
      </p:sp>
      <p:sp>
        <p:nvSpPr>
          <p:cNvPr id="10" name="TextBox 9">
            <a:extLst>
              <a:ext uri="{FF2B5EF4-FFF2-40B4-BE49-F238E27FC236}">
                <a16:creationId xmlns:a16="http://schemas.microsoft.com/office/drawing/2014/main" id="{30CA58F0-B547-4364-A51A-E2E71B3C61C4}"/>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800879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A2BC14-AED9-4123-ADA3-8022FF88B562}"/>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9DF9458-34D9-4038-82DD-66DA0A52F515}"/>
              </a:ext>
            </a:extLst>
          </p:cNvPr>
          <p:cNvSpPr>
            <a:spLocks noGrp="1"/>
          </p:cNvSpPr>
          <p:nvPr/>
        </p:nvSpPr>
        <p:spPr>
          <a:xfrm>
            <a:off x="0" y="0"/>
            <a:ext cx="12191695" cy="109728"/>
          </a:xfrm>
          <a:prstGeom prst="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12997BD-F915-4554-8BF6-70D663695A98}"/>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Foundation Model Settings Also Affect Output</a:t>
            </a:r>
          </a:p>
        </p:txBody>
      </p:sp>
      <p:sp>
        <p:nvSpPr>
          <p:cNvPr id="5" name="Rounded Rectangle 4">
            <a:extLst>
              <a:ext uri="{FF2B5EF4-FFF2-40B4-BE49-F238E27FC236}">
                <a16:creationId xmlns:a16="http://schemas.microsoft.com/office/drawing/2014/main" id="{04B8EA8F-FB29-4461-A3DD-1571BB30CFEB}"/>
              </a:ext>
            </a:extLst>
          </p:cNvPr>
          <p:cNvSpPr>
            <a:spLocks noGrp="1"/>
          </p:cNvSpPr>
          <p:nvPr/>
        </p:nvSpPr>
        <p:spPr>
          <a:xfrm>
            <a:off x="11109960" y="274320"/>
            <a:ext cx="502920" cy="438912"/>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8</a:t>
            </a:r>
          </a:p>
        </p:txBody>
      </p:sp>
      <p:sp>
        <p:nvSpPr>
          <p:cNvPr id="6" name="Rounded Rectangle 5">
            <a:extLst>
              <a:ext uri="{FF2B5EF4-FFF2-40B4-BE49-F238E27FC236}">
                <a16:creationId xmlns:a16="http://schemas.microsoft.com/office/drawing/2014/main" id="{D7ABBDAE-C92F-4079-807C-479E7EB8206B}"/>
              </a:ext>
            </a:extLst>
          </p:cNvPr>
          <p:cNvSpPr>
            <a:spLocks noGrp="1"/>
          </p:cNvSpPr>
          <p:nvPr/>
        </p:nvSpPr>
        <p:spPr>
          <a:xfrm>
            <a:off x="640080" y="1188720"/>
            <a:ext cx="5943600" cy="4727448"/>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Foundation Models provide inference parameters that influence how responses are generated.</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Temperature affects how much variation or randomness appears in the generated output.</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Lower temperature can be useful when the application needs more consistent or predictable responses.</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Higher temperature may be useful when more variation or creativity is wanted.</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Parameters such as </a:t>
            </a:r>
            <a:r>
              <a:rPr dirty="0" err="1"/>
              <a:t>top_p</a:t>
            </a:r>
            <a:r>
              <a:rPr dirty="0"/>
              <a:t> and </a:t>
            </a:r>
            <a:r>
              <a:rPr dirty="0" err="1"/>
              <a:t>top_k</a:t>
            </a:r>
            <a:r>
              <a:rPr dirty="0"/>
              <a:t> can also influence which possible tokens the model considers while generating its response.</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These settings should be selected based on the use case instead of applying the same configuration to every application.</a:t>
            </a:r>
          </a:p>
        </p:txBody>
      </p:sp>
      <p:sp>
        <p:nvSpPr>
          <p:cNvPr id="7" name="Rounded Rectangle 6">
            <a:extLst>
              <a:ext uri="{FF2B5EF4-FFF2-40B4-BE49-F238E27FC236}">
                <a16:creationId xmlns:a16="http://schemas.microsoft.com/office/drawing/2014/main" id="{2DC1D48E-38E5-4F06-83B4-E3439AAB75C1}"/>
              </a:ext>
            </a:extLst>
          </p:cNvPr>
          <p:cNvSpPr>
            <a:spLocks noGrp="1"/>
          </p:cNvSpPr>
          <p:nvPr/>
        </p:nvSpPr>
        <p:spPr>
          <a:xfrm>
            <a:off x="6903720" y="1417320"/>
            <a:ext cx="4343400" cy="1280160"/>
          </a:xfrm>
          <a:prstGeom prst="roundRect">
            <a:avLst/>
          </a:prstGeom>
          <a:solidFill>
            <a:srgbClr val="E8EFFC"/>
          </a:solidFill>
          <a:ln w="17780">
            <a:solidFill>
              <a:srgbClr val="3D72D5"/>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450" b="1" dirty="0">
                <a:solidFill>
                  <a:srgbClr val="3D72D5"/>
                </a:solidFill>
                <a:latin typeface="Aptos"/>
                <a:ea typeface="Aptos"/>
                <a:cs typeface="Aptos"/>
              </a:rPr>
              <a:t>Policy Question Answering:</a:t>
            </a:r>
          </a:p>
          <a:p>
            <a:r>
              <a:rPr sz="1450" dirty="0">
                <a:solidFill>
                  <a:srgbClr val="1A233A"/>
                </a:solidFill>
                <a:latin typeface="Aptos"/>
                <a:ea typeface="Aptos"/>
                <a:cs typeface="Aptos"/>
              </a:rPr>
              <a:t>More consistent output may be preferred.</a:t>
            </a:r>
          </a:p>
        </p:txBody>
      </p:sp>
      <p:sp>
        <p:nvSpPr>
          <p:cNvPr id="8" name="Rounded Rectangle 7">
            <a:extLst>
              <a:ext uri="{FF2B5EF4-FFF2-40B4-BE49-F238E27FC236}">
                <a16:creationId xmlns:a16="http://schemas.microsoft.com/office/drawing/2014/main" id="{A1E4B554-47E0-4B93-9133-39C22760A4C1}"/>
              </a:ext>
            </a:extLst>
          </p:cNvPr>
          <p:cNvSpPr>
            <a:spLocks noGrp="1"/>
          </p:cNvSpPr>
          <p:nvPr/>
        </p:nvSpPr>
        <p:spPr>
          <a:xfrm>
            <a:off x="6903720" y="2971800"/>
            <a:ext cx="4343400" cy="1280160"/>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450" b="1" dirty="0">
                <a:solidFill>
                  <a:srgbClr val="5B4CBA"/>
                </a:solidFill>
                <a:latin typeface="Aptos"/>
                <a:ea typeface="Aptos"/>
                <a:cs typeface="Aptos"/>
              </a:rPr>
              <a:t>Creative Marketing Ideas:</a:t>
            </a:r>
          </a:p>
          <a:p>
            <a:r>
              <a:rPr sz="1450" dirty="0">
                <a:solidFill>
                  <a:srgbClr val="1A233A"/>
                </a:solidFill>
                <a:latin typeface="Aptos"/>
                <a:ea typeface="Aptos"/>
                <a:cs typeface="Aptos"/>
              </a:rPr>
              <a:t>More variation may be useful.</a:t>
            </a:r>
          </a:p>
        </p:txBody>
      </p:sp>
      <p:sp>
        <p:nvSpPr>
          <p:cNvPr id="9" name="Rounded Rectangle 8">
            <a:extLst>
              <a:ext uri="{FF2B5EF4-FFF2-40B4-BE49-F238E27FC236}">
                <a16:creationId xmlns:a16="http://schemas.microsoft.com/office/drawing/2014/main" id="{52E8A77B-88DC-47FE-BA78-8E1DF6650A44}"/>
              </a:ext>
            </a:extLst>
          </p:cNvPr>
          <p:cNvSpPr>
            <a:spLocks noGrp="1"/>
          </p:cNvSpPr>
          <p:nvPr/>
        </p:nvSpPr>
        <p:spPr>
          <a:xfrm>
            <a:off x="6903720" y="4709160"/>
            <a:ext cx="4343400" cy="914400"/>
          </a:xfrm>
          <a:prstGeom prst="roundRect">
            <a:avLst/>
          </a:prstGeom>
          <a:solidFill>
            <a:srgbClr val="E8EFFC"/>
          </a:solidFill>
          <a:ln w="17780">
            <a:solidFill>
              <a:srgbClr val="3D72D5"/>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400" b="1" dirty="0">
                <a:solidFill>
                  <a:srgbClr val="3D72D5"/>
                </a:solidFill>
                <a:latin typeface="Aptos"/>
                <a:ea typeface="Aptos"/>
                <a:cs typeface="Aptos"/>
              </a:rPr>
              <a:t>Main Lesson:</a:t>
            </a:r>
          </a:p>
          <a:p>
            <a:r>
              <a:rPr sz="1400" dirty="0">
                <a:solidFill>
                  <a:srgbClr val="1A233A"/>
                </a:solidFill>
                <a:latin typeface="Aptos"/>
                <a:ea typeface="Aptos"/>
                <a:cs typeface="Aptos"/>
              </a:rPr>
              <a:t>Model settings should match what the application is trying to achieve.</a:t>
            </a:r>
          </a:p>
        </p:txBody>
      </p:sp>
      <p:sp>
        <p:nvSpPr>
          <p:cNvPr id="10" name="TextBox 9">
            <a:extLst>
              <a:ext uri="{FF2B5EF4-FFF2-40B4-BE49-F238E27FC236}">
                <a16:creationId xmlns:a16="http://schemas.microsoft.com/office/drawing/2014/main" id="{7B4675D7-C285-4FC9-8CC5-57C92254F50E}"/>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099573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05D63D-A733-4F7C-988B-075594208090}"/>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9165C01C-5FFD-4845-91AF-675D1264EAE7}"/>
              </a:ext>
            </a:extLst>
          </p:cNvPr>
          <p:cNvSpPr>
            <a:spLocks noGrp="1"/>
          </p:cNvSpPr>
          <p:nvPr/>
        </p:nvSpPr>
        <p:spPr>
          <a:xfrm>
            <a:off x="0" y="0"/>
            <a:ext cx="12191695" cy="109728"/>
          </a:xfrm>
          <a:prstGeom prst="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24F749C-BA9F-4479-9D4F-4F5F294B0990}"/>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Test Changes Instead of Guessing</a:t>
            </a:r>
          </a:p>
        </p:txBody>
      </p:sp>
      <p:sp>
        <p:nvSpPr>
          <p:cNvPr id="5" name="Rounded Rectangle 4">
            <a:extLst>
              <a:ext uri="{FF2B5EF4-FFF2-40B4-BE49-F238E27FC236}">
                <a16:creationId xmlns:a16="http://schemas.microsoft.com/office/drawing/2014/main" id="{20DC946A-6ACB-40B5-9853-C6272EB4DB54}"/>
              </a:ext>
            </a:extLst>
          </p:cNvPr>
          <p:cNvSpPr>
            <a:spLocks noGrp="1"/>
          </p:cNvSpPr>
          <p:nvPr/>
        </p:nvSpPr>
        <p:spPr>
          <a:xfrm>
            <a:off x="11109960" y="274320"/>
            <a:ext cx="502920" cy="438912"/>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9</a:t>
            </a:r>
          </a:p>
        </p:txBody>
      </p:sp>
      <p:sp>
        <p:nvSpPr>
          <p:cNvPr id="6" name="Rounded Rectangle 5">
            <a:extLst>
              <a:ext uri="{FF2B5EF4-FFF2-40B4-BE49-F238E27FC236}">
                <a16:creationId xmlns:a16="http://schemas.microsoft.com/office/drawing/2014/main" id="{9824F439-36DA-47F4-AF87-1CF6FAA45A32}"/>
              </a:ext>
            </a:extLst>
          </p:cNvPr>
          <p:cNvSpPr>
            <a:spLocks noGrp="1"/>
          </p:cNvSpPr>
          <p:nvPr/>
        </p:nvSpPr>
        <p:spPr>
          <a:xfrm>
            <a:off x="640080" y="1188719"/>
            <a:ext cx="6400800" cy="4936035"/>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Changing model parameters can affect response quality, consistency, latency, and sometimes the overall user experience.</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Because of this, optimization should be based on testing rather than assuming that one setting is always better.</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Developers can compare different model configurations using representative prompts from the real application.</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A/B testing or model evaluations can help determine which configuration performs better for the intended use case.</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The evaluation should consider whether the response is correct and useful, not only whether it is generated quickly.</a:t>
            </a:r>
          </a:p>
          <a:p>
            <a:pPr marL="285750" indent="-285750">
              <a:lnSpc>
                <a:spcPct val="100000"/>
              </a:lnSpc>
              <a:spcBef>
                <a:spcPts val="700"/>
              </a:spcBef>
              <a:spcAft>
                <a:spcPts val="700"/>
              </a:spcAft>
              <a:buFont typeface="Arial" panose="020B0604020202020204" pitchFamily="34" charset="0"/>
              <a:buChar char="•"/>
              <a:defRPr sz="1450">
                <a:solidFill>
                  <a:srgbClr val="1A233A"/>
                </a:solidFill>
                <a:latin typeface="Aptos"/>
                <a:ea typeface="Aptos"/>
                <a:cs typeface="Aptos"/>
              </a:defRPr>
            </a:pPr>
            <a:r>
              <a:rPr dirty="0"/>
              <a:t>This connects with the model-selection idea from Video 1: performance decisions should be measured using the actual workload.</a:t>
            </a:r>
          </a:p>
        </p:txBody>
      </p:sp>
      <p:sp>
        <p:nvSpPr>
          <p:cNvPr id="7" name="Rounded Rectangle 6">
            <a:extLst>
              <a:ext uri="{FF2B5EF4-FFF2-40B4-BE49-F238E27FC236}">
                <a16:creationId xmlns:a16="http://schemas.microsoft.com/office/drawing/2014/main" id="{5847260A-2E4F-4D31-9B6B-0444103D31DA}"/>
              </a:ext>
            </a:extLst>
          </p:cNvPr>
          <p:cNvSpPr>
            <a:spLocks noGrp="1"/>
          </p:cNvSpPr>
          <p:nvPr/>
        </p:nvSpPr>
        <p:spPr>
          <a:xfrm>
            <a:off x="7498079" y="1600200"/>
            <a:ext cx="1645920" cy="960120"/>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Quality</a:t>
            </a:r>
          </a:p>
        </p:txBody>
      </p:sp>
      <p:sp>
        <p:nvSpPr>
          <p:cNvPr id="8" name="Rounded Rectangle 7">
            <a:extLst>
              <a:ext uri="{FF2B5EF4-FFF2-40B4-BE49-F238E27FC236}">
                <a16:creationId xmlns:a16="http://schemas.microsoft.com/office/drawing/2014/main" id="{C93F2890-0AC8-4294-9703-2A47EF2A3891}"/>
              </a:ext>
            </a:extLst>
          </p:cNvPr>
          <p:cNvSpPr>
            <a:spLocks noGrp="1"/>
          </p:cNvSpPr>
          <p:nvPr/>
        </p:nvSpPr>
        <p:spPr>
          <a:xfrm>
            <a:off x="9418319" y="1600200"/>
            <a:ext cx="1645920" cy="960120"/>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Latency</a:t>
            </a:r>
          </a:p>
        </p:txBody>
      </p:sp>
      <p:sp>
        <p:nvSpPr>
          <p:cNvPr id="9" name="Rounded Rectangle 8">
            <a:extLst>
              <a:ext uri="{FF2B5EF4-FFF2-40B4-BE49-F238E27FC236}">
                <a16:creationId xmlns:a16="http://schemas.microsoft.com/office/drawing/2014/main" id="{3CEAF568-CC83-4FAC-93BE-CFEF97802F20}"/>
              </a:ext>
            </a:extLst>
          </p:cNvPr>
          <p:cNvSpPr>
            <a:spLocks noGrp="1"/>
          </p:cNvSpPr>
          <p:nvPr/>
        </p:nvSpPr>
        <p:spPr>
          <a:xfrm>
            <a:off x="7498079" y="3017520"/>
            <a:ext cx="1645920" cy="960120"/>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Consistency</a:t>
            </a:r>
          </a:p>
        </p:txBody>
      </p:sp>
      <p:sp>
        <p:nvSpPr>
          <p:cNvPr id="10" name="Rounded Rectangle 9">
            <a:extLst>
              <a:ext uri="{FF2B5EF4-FFF2-40B4-BE49-F238E27FC236}">
                <a16:creationId xmlns:a16="http://schemas.microsoft.com/office/drawing/2014/main" id="{30E7DE1D-9E6D-4738-A36D-6D86B8974C32}"/>
              </a:ext>
            </a:extLst>
          </p:cNvPr>
          <p:cNvSpPr>
            <a:spLocks noGrp="1"/>
          </p:cNvSpPr>
          <p:nvPr/>
        </p:nvSpPr>
        <p:spPr>
          <a:xfrm>
            <a:off x="9418319" y="3017520"/>
            <a:ext cx="1645920" cy="960120"/>
          </a:xfrm>
          <a:prstGeom prst="round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Usefulness</a:t>
            </a:r>
          </a:p>
        </p:txBody>
      </p:sp>
      <p:sp>
        <p:nvSpPr>
          <p:cNvPr id="11" name="Rounded Rectangle 10">
            <a:extLst>
              <a:ext uri="{FF2B5EF4-FFF2-40B4-BE49-F238E27FC236}">
                <a16:creationId xmlns:a16="http://schemas.microsoft.com/office/drawing/2014/main" id="{D1FECFD8-55DF-4ADF-ACA7-39FA1BC3D938}"/>
              </a:ext>
            </a:extLst>
          </p:cNvPr>
          <p:cNvSpPr>
            <a:spLocks noGrp="1"/>
          </p:cNvSpPr>
          <p:nvPr/>
        </p:nvSpPr>
        <p:spPr>
          <a:xfrm>
            <a:off x="7315200" y="4846319"/>
            <a:ext cx="4160520" cy="1134661"/>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spcAft>
                <a:spcPts val="300"/>
              </a:spcAft>
              <a:buNone/>
            </a:pPr>
            <a:r>
              <a:rPr sz="1350" b="1" dirty="0">
                <a:solidFill>
                  <a:srgbClr val="189299"/>
                </a:solidFill>
                <a:latin typeface="Aptos"/>
                <a:ea typeface="Aptos"/>
                <a:cs typeface="Aptos"/>
              </a:rPr>
              <a:t>Main Idea:</a:t>
            </a:r>
          </a:p>
          <a:p>
            <a:pPr>
              <a:spcBef>
                <a:spcPts val="300"/>
              </a:spcBef>
              <a:spcAft>
                <a:spcPts val="300"/>
              </a:spcAft>
            </a:pPr>
            <a:r>
              <a:rPr sz="1350" dirty="0">
                <a:solidFill>
                  <a:srgbClr val="1A233A"/>
                </a:solidFill>
                <a:latin typeface="Aptos"/>
                <a:ea typeface="Aptos"/>
                <a:cs typeface="Aptos"/>
              </a:rPr>
              <a:t>Optimization works better when changes are tested with real examples instead of based only on assumptions.</a:t>
            </a:r>
          </a:p>
        </p:txBody>
      </p:sp>
      <p:sp>
        <p:nvSpPr>
          <p:cNvPr id="12" name="TextBox 11">
            <a:extLst>
              <a:ext uri="{FF2B5EF4-FFF2-40B4-BE49-F238E27FC236}">
                <a16:creationId xmlns:a16="http://schemas.microsoft.com/office/drawing/2014/main" id="{9B1716BE-F1C3-4071-941F-A03CDD5AE83C}"/>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448134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F5268C-478C-4FC2-B74A-69BFF32921EE}"/>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229884D-A440-40EB-8296-5E4CCFD80D57}"/>
              </a:ext>
            </a:extLst>
          </p:cNvPr>
          <p:cNvSpPr>
            <a:spLocks noGrp="1"/>
          </p:cNvSpPr>
          <p:nvPr/>
        </p:nvSpPr>
        <p:spPr>
          <a:xfrm>
            <a:off x="0" y="0"/>
            <a:ext cx="12191695" cy="109728"/>
          </a:xfrm>
          <a:prstGeom prst="rect">
            <a:avLst/>
          </a:prstGeom>
          <a:solidFill>
            <a:srgbClr val="C94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09A886C1-5E58-4DB1-8AD4-3F29B19AD540}"/>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What Happens When a Request Fails?</a:t>
            </a:r>
          </a:p>
        </p:txBody>
      </p:sp>
      <p:sp>
        <p:nvSpPr>
          <p:cNvPr id="5" name="Rounded Rectangle 4">
            <a:extLst>
              <a:ext uri="{FF2B5EF4-FFF2-40B4-BE49-F238E27FC236}">
                <a16:creationId xmlns:a16="http://schemas.microsoft.com/office/drawing/2014/main" id="{0DAE2804-E9B4-47CD-B9BB-97F7055CC265}"/>
              </a:ext>
            </a:extLst>
          </p:cNvPr>
          <p:cNvSpPr>
            <a:spLocks noGrp="1"/>
          </p:cNvSpPr>
          <p:nvPr/>
        </p:nvSpPr>
        <p:spPr>
          <a:xfrm>
            <a:off x="11109960" y="274320"/>
            <a:ext cx="502920" cy="438912"/>
          </a:xfrm>
          <a:prstGeom prst="roundRect">
            <a:avLst/>
          </a:prstGeom>
          <a:solidFill>
            <a:srgbClr val="C94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10</a:t>
            </a:r>
          </a:p>
        </p:txBody>
      </p:sp>
      <p:sp>
        <p:nvSpPr>
          <p:cNvPr id="6" name="Rounded Rectangle 5">
            <a:extLst>
              <a:ext uri="{FF2B5EF4-FFF2-40B4-BE49-F238E27FC236}">
                <a16:creationId xmlns:a16="http://schemas.microsoft.com/office/drawing/2014/main" id="{C6367D73-496C-402E-8F80-8540BC851C55}"/>
              </a:ext>
            </a:extLst>
          </p:cNvPr>
          <p:cNvSpPr>
            <a:spLocks noGrp="1"/>
          </p:cNvSpPr>
          <p:nvPr/>
        </p:nvSpPr>
        <p:spPr>
          <a:xfrm>
            <a:off x="685800" y="1234440"/>
            <a:ext cx="6583680" cy="452628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700"/>
              </a:spcBef>
              <a:spcAft>
                <a:spcPts val="700"/>
              </a:spcAft>
              <a:buFont typeface="Arial" panose="020B0604020202020204" pitchFamily="34" charset="0"/>
              <a:buChar char="•"/>
              <a:defRPr sz="1470">
                <a:solidFill>
                  <a:srgbClr val="1A233A"/>
                </a:solidFill>
                <a:latin typeface="Aptos"/>
                <a:ea typeface="Aptos"/>
                <a:cs typeface="Aptos"/>
              </a:defRPr>
            </a:pPr>
            <a:r>
              <a:rPr dirty="0"/>
              <a:t>Production applications sometimes experience temporary failures even when the application code is correct.</a:t>
            </a:r>
          </a:p>
          <a:p>
            <a:pPr marL="285750" indent="-285750">
              <a:lnSpc>
                <a:spcPct val="100000"/>
              </a:lnSpc>
              <a:spcBef>
                <a:spcPts val="700"/>
              </a:spcBef>
              <a:spcAft>
                <a:spcPts val="700"/>
              </a:spcAft>
              <a:buFont typeface="Arial" panose="020B0604020202020204" pitchFamily="34" charset="0"/>
              <a:buChar char="•"/>
              <a:defRPr sz="1470">
                <a:solidFill>
                  <a:srgbClr val="1A233A"/>
                </a:solidFill>
                <a:latin typeface="Aptos"/>
                <a:ea typeface="Aptos"/>
                <a:cs typeface="Aptos"/>
              </a:defRPr>
            </a:pPr>
            <a:r>
              <a:rPr dirty="0"/>
              <a:t>A service may be busy, the application may reach a temporary rate limit, or a network connection may fail.</a:t>
            </a:r>
          </a:p>
          <a:p>
            <a:pPr marL="285750" indent="-285750">
              <a:lnSpc>
                <a:spcPct val="100000"/>
              </a:lnSpc>
              <a:spcBef>
                <a:spcPts val="700"/>
              </a:spcBef>
              <a:spcAft>
                <a:spcPts val="700"/>
              </a:spcAft>
              <a:buFont typeface="Arial" panose="020B0604020202020204" pitchFamily="34" charset="0"/>
              <a:buChar char="•"/>
              <a:defRPr sz="1470">
                <a:solidFill>
                  <a:srgbClr val="1A233A"/>
                </a:solidFill>
                <a:latin typeface="Aptos"/>
                <a:ea typeface="Aptos"/>
                <a:cs typeface="Aptos"/>
              </a:defRPr>
            </a:pPr>
            <a:r>
              <a:rPr dirty="0"/>
              <a:t>Immediately treating every temporary failure as a permanent failure can create a poor user experience.</a:t>
            </a:r>
          </a:p>
          <a:p>
            <a:pPr marL="285750" indent="-285750">
              <a:lnSpc>
                <a:spcPct val="100000"/>
              </a:lnSpc>
              <a:spcBef>
                <a:spcPts val="700"/>
              </a:spcBef>
              <a:spcAft>
                <a:spcPts val="700"/>
              </a:spcAft>
              <a:buFont typeface="Arial" panose="020B0604020202020204" pitchFamily="34" charset="0"/>
              <a:buChar char="•"/>
              <a:defRPr sz="1470">
                <a:solidFill>
                  <a:srgbClr val="1A233A"/>
                </a:solidFill>
                <a:latin typeface="Aptos"/>
                <a:ea typeface="Aptos"/>
                <a:cs typeface="Aptos"/>
              </a:defRPr>
            </a:pPr>
            <a:r>
              <a:rPr dirty="0"/>
              <a:t>At the same time, continuously retrying as fast as possible can make the problem worse by sending even more traffic to an overloaded service.</a:t>
            </a:r>
          </a:p>
          <a:p>
            <a:pPr marL="285750" indent="-285750">
              <a:lnSpc>
                <a:spcPct val="100000"/>
              </a:lnSpc>
              <a:spcBef>
                <a:spcPts val="700"/>
              </a:spcBef>
              <a:spcAft>
                <a:spcPts val="700"/>
              </a:spcAft>
              <a:buFont typeface="Arial" panose="020B0604020202020204" pitchFamily="34" charset="0"/>
              <a:buChar char="•"/>
              <a:defRPr sz="1470">
                <a:solidFill>
                  <a:srgbClr val="1A233A"/>
                </a:solidFill>
                <a:latin typeface="Aptos"/>
                <a:ea typeface="Aptos"/>
                <a:cs typeface="Aptos"/>
              </a:defRPr>
            </a:pPr>
            <a:r>
              <a:rPr dirty="0"/>
              <a:t>A resilient application therefore needs a controlled way to retry requests.</a:t>
            </a:r>
          </a:p>
          <a:p>
            <a:pPr marL="285750" indent="-285750">
              <a:lnSpc>
                <a:spcPct val="100000"/>
              </a:lnSpc>
              <a:spcBef>
                <a:spcPts val="700"/>
              </a:spcBef>
              <a:spcAft>
                <a:spcPts val="700"/>
              </a:spcAft>
              <a:buFont typeface="Arial" panose="020B0604020202020204" pitchFamily="34" charset="0"/>
              <a:buChar char="•"/>
              <a:defRPr sz="1470">
                <a:solidFill>
                  <a:srgbClr val="1A233A"/>
                </a:solidFill>
                <a:latin typeface="Aptos"/>
                <a:ea typeface="Aptos"/>
                <a:cs typeface="Aptos"/>
              </a:defRPr>
            </a:pPr>
            <a:r>
              <a:rPr dirty="0"/>
              <a:t>One common technique is called exponential backoff.</a:t>
            </a:r>
          </a:p>
        </p:txBody>
      </p:sp>
      <p:sp>
        <p:nvSpPr>
          <p:cNvPr id="7" name="Rounded Rectangle 6">
            <a:extLst>
              <a:ext uri="{FF2B5EF4-FFF2-40B4-BE49-F238E27FC236}">
                <a16:creationId xmlns:a16="http://schemas.microsoft.com/office/drawing/2014/main" id="{C7D171F7-3187-4940-A9FC-FA52185F3D74}"/>
              </a:ext>
            </a:extLst>
          </p:cNvPr>
          <p:cNvSpPr>
            <a:spLocks noGrp="1"/>
          </p:cNvSpPr>
          <p:nvPr/>
        </p:nvSpPr>
        <p:spPr>
          <a:xfrm>
            <a:off x="7635240" y="1600200"/>
            <a:ext cx="3291840" cy="1965960"/>
          </a:xfrm>
          <a:prstGeom prst="roundRect">
            <a:avLst/>
          </a:prstGeom>
          <a:solidFill>
            <a:srgbClr val="FAE8E8"/>
          </a:solidFill>
          <a:ln>
            <a:solidFill>
              <a:srgbClr val="C94A4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2100" b="1" dirty="0">
                <a:solidFill>
                  <a:srgbClr val="C94A4A"/>
                </a:solidFill>
                <a:latin typeface="Aptos"/>
                <a:ea typeface="Aptos"/>
                <a:cs typeface="Aptos"/>
              </a:rPr>
              <a:t>Temporary Failure</a:t>
            </a:r>
          </a:p>
          <a:p>
            <a:pPr algn="ctr">
              <a:buNone/>
            </a:pPr>
            <a:r>
              <a:rPr sz="1500" dirty="0">
                <a:solidFill>
                  <a:srgbClr val="1A233A"/>
                </a:solidFill>
                <a:latin typeface="Aptos"/>
                <a:ea typeface="Aptos"/>
                <a:cs typeface="Aptos"/>
              </a:rPr>
              <a:t>Busy service</a:t>
            </a:r>
            <a:br>
              <a:rPr sz="1500" dirty="0">
                <a:solidFill>
                  <a:srgbClr val="1A233A"/>
                </a:solidFill>
                <a:latin typeface="Aptos"/>
                <a:ea typeface="Aptos"/>
                <a:cs typeface="Aptos"/>
              </a:rPr>
            </a:br>
            <a:r>
              <a:rPr sz="1500" dirty="0">
                <a:solidFill>
                  <a:srgbClr val="1A233A"/>
                </a:solidFill>
                <a:latin typeface="Aptos"/>
                <a:ea typeface="Aptos"/>
                <a:cs typeface="Aptos"/>
              </a:rPr>
              <a:t>Rate limit</a:t>
            </a:r>
            <a:br>
              <a:rPr sz="1500" dirty="0">
                <a:solidFill>
                  <a:srgbClr val="1A233A"/>
                </a:solidFill>
                <a:latin typeface="Aptos"/>
                <a:ea typeface="Aptos"/>
                <a:cs typeface="Aptos"/>
              </a:rPr>
            </a:br>
            <a:r>
              <a:rPr sz="1500" dirty="0">
                <a:solidFill>
                  <a:srgbClr val="1A233A"/>
                </a:solidFill>
                <a:latin typeface="Aptos"/>
                <a:ea typeface="Aptos"/>
                <a:cs typeface="Aptos"/>
              </a:rPr>
              <a:t>Network issue</a:t>
            </a:r>
          </a:p>
        </p:txBody>
      </p:sp>
      <p:sp>
        <p:nvSpPr>
          <p:cNvPr id="8" name="Rounded Rectangle 7">
            <a:extLst>
              <a:ext uri="{FF2B5EF4-FFF2-40B4-BE49-F238E27FC236}">
                <a16:creationId xmlns:a16="http://schemas.microsoft.com/office/drawing/2014/main" id="{BA1E0E42-FD49-4F11-B9B6-9DC7CD51FDF0}"/>
              </a:ext>
            </a:extLst>
          </p:cNvPr>
          <p:cNvSpPr>
            <a:spLocks noGrp="1"/>
          </p:cNvSpPr>
          <p:nvPr/>
        </p:nvSpPr>
        <p:spPr>
          <a:xfrm>
            <a:off x="7360920" y="4160520"/>
            <a:ext cx="4069080" cy="1280160"/>
          </a:xfrm>
          <a:prstGeom prst="roundRect">
            <a:avLst/>
          </a:prstGeom>
          <a:solidFill>
            <a:srgbClr val="FAE8E8"/>
          </a:solidFill>
          <a:ln w="17780">
            <a:solidFill>
              <a:srgbClr val="C94A4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350" b="1" dirty="0">
                <a:solidFill>
                  <a:srgbClr val="C94A4A"/>
                </a:solidFill>
                <a:latin typeface="Aptos"/>
                <a:ea typeface="Aptos"/>
                <a:cs typeface="Aptos"/>
              </a:rPr>
              <a:t>Main Idea:</a:t>
            </a:r>
          </a:p>
          <a:p>
            <a:pPr>
              <a:spcBef>
                <a:spcPts val="300"/>
              </a:spcBef>
            </a:pPr>
            <a:r>
              <a:rPr sz="1350" dirty="0">
                <a:solidFill>
                  <a:srgbClr val="1A233A"/>
                </a:solidFill>
                <a:latin typeface="Aptos"/>
                <a:ea typeface="Aptos"/>
                <a:cs typeface="Aptos"/>
              </a:rPr>
              <a:t>A temporary failure should be handled carefully instead of immediately giving up or retrying aggressively.</a:t>
            </a:r>
          </a:p>
        </p:txBody>
      </p:sp>
      <p:sp>
        <p:nvSpPr>
          <p:cNvPr id="9" name="TextBox 8">
            <a:extLst>
              <a:ext uri="{FF2B5EF4-FFF2-40B4-BE49-F238E27FC236}">
                <a16:creationId xmlns:a16="http://schemas.microsoft.com/office/drawing/2014/main" id="{0470EB9A-5564-4A6A-9BBD-B188285947D6}"/>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767982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2053B4-F758-47D7-BCB0-991E2AFDB552}"/>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spcBef>
                <a:spcPts val="300"/>
              </a:spcBef>
              <a:buNone/>
            </a:pPr>
            <a:endParaRPr/>
          </a:p>
        </p:txBody>
      </p:sp>
      <p:sp>
        <p:nvSpPr>
          <p:cNvPr id="3" name="Rectangle 2">
            <a:extLst>
              <a:ext uri="{FF2B5EF4-FFF2-40B4-BE49-F238E27FC236}">
                <a16:creationId xmlns:a16="http://schemas.microsoft.com/office/drawing/2014/main" id="{24539162-A97B-441A-AA33-4827EE78CD75}"/>
              </a:ext>
            </a:extLst>
          </p:cNvPr>
          <p:cNvSpPr>
            <a:spLocks noGrp="1"/>
          </p:cNvSpPr>
          <p:nvPr/>
        </p:nvSpPr>
        <p:spPr>
          <a:xfrm>
            <a:off x="0" y="0"/>
            <a:ext cx="12191695" cy="109728"/>
          </a:xfrm>
          <a:prstGeom prst="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spcBef>
                <a:spcPts val="300"/>
              </a:spcBef>
              <a:buNone/>
            </a:pPr>
            <a:endParaRPr/>
          </a:p>
        </p:txBody>
      </p:sp>
      <p:sp>
        <p:nvSpPr>
          <p:cNvPr id="4" name="TextBox 3">
            <a:extLst>
              <a:ext uri="{FF2B5EF4-FFF2-40B4-BE49-F238E27FC236}">
                <a16:creationId xmlns:a16="http://schemas.microsoft.com/office/drawing/2014/main" id="{4B677B66-5FCE-491B-8508-F1ECC0A4A3F9}"/>
              </a:ext>
            </a:extLst>
          </p:cNvPr>
          <p:cNvSpPr>
            <a:spLocks noGrp="1"/>
          </p:cNvSpPr>
          <p:nvPr/>
        </p:nvSpPr>
        <p:spPr>
          <a:xfrm>
            <a:off x="594360" y="320040"/>
            <a:ext cx="4698787" cy="523220"/>
          </a:xfrm>
          <a:prstGeom prst="rect">
            <a:avLst/>
          </a:prstGeom>
          <a:noFill/>
        </p:spPr>
        <p:txBody>
          <a:bodyPr wrap="none">
            <a:spAutoFit/>
          </a:bodyPr>
          <a:lstStyle/>
          <a:p>
            <a:pPr>
              <a:spcBef>
                <a:spcPts val="300"/>
              </a:spcBef>
            </a:pPr>
            <a:r>
              <a:rPr sz="2800" b="1">
                <a:solidFill>
                  <a:srgbClr val="1A233A"/>
                </a:solidFill>
                <a:latin typeface="Aptos Display"/>
                <a:ea typeface="Aptos Display"/>
                <a:cs typeface="Aptos Display"/>
              </a:rPr>
              <a:t>Exponential Backoff and Jitter</a:t>
            </a:r>
          </a:p>
        </p:txBody>
      </p:sp>
      <p:sp>
        <p:nvSpPr>
          <p:cNvPr id="5" name="Rounded Rectangle 4">
            <a:extLst>
              <a:ext uri="{FF2B5EF4-FFF2-40B4-BE49-F238E27FC236}">
                <a16:creationId xmlns:a16="http://schemas.microsoft.com/office/drawing/2014/main" id="{28E66488-6EF2-42F6-88AD-B69D084FFA49}"/>
              </a:ext>
            </a:extLst>
          </p:cNvPr>
          <p:cNvSpPr>
            <a:spLocks noGrp="1"/>
          </p:cNvSpPr>
          <p:nvPr/>
        </p:nvSpPr>
        <p:spPr>
          <a:xfrm>
            <a:off x="11109960" y="274320"/>
            <a:ext cx="502920" cy="438912"/>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spcBef>
                <a:spcPts val="300"/>
              </a:spcBef>
              <a:buNone/>
            </a:pPr>
            <a:r>
              <a:rPr sz="1500" b="1">
                <a:solidFill>
                  <a:srgbClr val="FFFFFF"/>
                </a:solidFill>
                <a:latin typeface="Aptos"/>
                <a:ea typeface="Aptos"/>
                <a:cs typeface="Aptos"/>
              </a:rPr>
              <a:t>11</a:t>
            </a:r>
          </a:p>
        </p:txBody>
      </p:sp>
      <p:sp>
        <p:nvSpPr>
          <p:cNvPr id="6" name="Rounded Rectangle 5">
            <a:extLst>
              <a:ext uri="{FF2B5EF4-FFF2-40B4-BE49-F238E27FC236}">
                <a16:creationId xmlns:a16="http://schemas.microsoft.com/office/drawing/2014/main" id="{E81C0127-2F25-44CF-9CFD-89D59BE9F926}"/>
              </a:ext>
            </a:extLst>
          </p:cNvPr>
          <p:cNvSpPr>
            <a:spLocks noGrp="1"/>
          </p:cNvSpPr>
          <p:nvPr/>
        </p:nvSpPr>
        <p:spPr>
          <a:xfrm>
            <a:off x="685800" y="1143000"/>
            <a:ext cx="5577840" cy="246888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300"/>
              </a:spcBef>
              <a:spcAft>
                <a:spcPts val="700"/>
              </a:spcAft>
              <a:buFont typeface="Arial" panose="020B0604020202020204" pitchFamily="34" charset="0"/>
              <a:buChar char="•"/>
              <a:defRPr sz="1550">
                <a:solidFill>
                  <a:srgbClr val="1A233A"/>
                </a:solidFill>
                <a:latin typeface="Aptos"/>
                <a:ea typeface="Aptos"/>
                <a:cs typeface="Aptos"/>
              </a:defRPr>
            </a:pPr>
            <a:r>
              <a:rPr dirty="0"/>
              <a:t>With exponential backoff, the application waits before retrying a failed request.</a:t>
            </a:r>
          </a:p>
          <a:p>
            <a:pPr marL="285750" indent="-285750">
              <a:lnSpc>
                <a:spcPct val="100000"/>
              </a:lnSpc>
              <a:spcBef>
                <a:spcPts val="300"/>
              </a:spcBef>
              <a:spcAft>
                <a:spcPts val="700"/>
              </a:spcAft>
              <a:buFont typeface="Arial" panose="020B0604020202020204" pitchFamily="34" charset="0"/>
              <a:buChar char="•"/>
              <a:defRPr sz="1550">
                <a:solidFill>
                  <a:srgbClr val="1A233A"/>
                </a:solidFill>
                <a:latin typeface="Aptos"/>
                <a:ea typeface="Aptos"/>
                <a:cs typeface="Aptos"/>
              </a:defRPr>
            </a:pPr>
            <a:r>
              <a:rPr dirty="0"/>
              <a:t>If the request fails again, the next waiting period becomes longer.</a:t>
            </a:r>
          </a:p>
          <a:p>
            <a:pPr marL="285750" indent="-285750">
              <a:lnSpc>
                <a:spcPct val="100000"/>
              </a:lnSpc>
              <a:spcBef>
                <a:spcPts val="300"/>
              </a:spcBef>
              <a:spcAft>
                <a:spcPts val="700"/>
              </a:spcAft>
              <a:buFont typeface="Arial" panose="020B0604020202020204" pitchFamily="34" charset="0"/>
              <a:buChar char="•"/>
              <a:defRPr sz="1550">
                <a:solidFill>
                  <a:srgbClr val="1A233A"/>
                </a:solidFill>
                <a:latin typeface="Aptos"/>
                <a:ea typeface="Aptos"/>
                <a:cs typeface="Aptos"/>
              </a:defRPr>
            </a:pPr>
            <a:r>
              <a:rPr dirty="0"/>
              <a:t>This gives the service time to recover and reduces the amount of repeated traffic being sent immediately.</a:t>
            </a:r>
          </a:p>
        </p:txBody>
      </p:sp>
      <p:sp>
        <p:nvSpPr>
          <p:cNvPr id="7" name="Rounded Rectangle 6">
            <a:extLst>
              <a:ext uri="{FF2B5EF4-FFF2-40B4-BE49-F238E27FC236}">
                <a16:creationId xmlns:a16="http://schemas.microsoft.com/office/drawing/2014/main" id="{778DCA58-B801-4EC6-96DD-E3EB2425939E}"/>
              </a:ext>
            </a:extLst>
          </p:cNvPr>
          <p:cNvSpPr>
            <a:spLocks noGrp="1"/>
          </p:cNvSpPr>
          <p:nvPr/>
        </p:nvSpPr>
        <p:spPr>
          <a:xfrm>
            <a:off x="685800" y="3840480"/>
            <a:ext cx="5577840" cy="1325880"/>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500" b="1" dirty="0">
                <a:solidFill>
                  <a:srgbClr val="5B4CBA"/>
                </a:solidFill>
                <a:latin typeface="Aptos"/>
                <a:ea typeface="Aptos"/>
                <a:cs typeface="Aptos"/>
              </a:rPr>
              <a:t>Simple Example:</a:t>
            </a:r>
          </a:p>
          <a:p>
            <a:pPr>
              <a:spcBef>
                <a:spcPts val="300"/>
              </a:spcBef>
            </a:pPr>
            <a:r>
              <a:rPr sz="1500" dirty="0">
                <a:solidFill>
                  <a:srgbClr val="1A233A"/>
                </a:solidFill>
                <a:latin typeface="Aptos"/>
                <a:ea typeface="Aptos"/>
                <a:cs typeface="Aptos"/>
              </a:rPr>
              <a:t>First failure → wait a short time</a:t>
            </a:r>
            <a:br>
              <a:rPr sz="1500" dirty="0">
                <a:solidFill>
                  <a:srgbClr val="1A233A"/>
                </a:solidFill>
                <a:latin typeface="Aptos"/>
                <a:ea typeface="Aptos"/>
                <a:cs typeface="Aptos"/>
              </a:rPr>
            </a:br>
            <a:r>
              <a:rPr sz="1500" dirty="0">
                <a:solidFill>
                  <a:srgbClr val="1A233A"/>
                </a:solidFill>
                <a:latin typeface="Aptos"/>
                <a:ea typeface="Aptos"/>
                <a:cs typeface="Aptos"/>
              </a:rPr>
              <a:t>Second failure → wait longer</a:t>
            </a:r>
            <a:br>
              <a:rPr sz="1500" dirty="0">
                <a:solidFill>
                  <a:srgbClr val="1A233A"/>
                </a:solidFill>
                <a:latin typeface="Aptos"/>
                <a:ea typeface="Aptos"/>
                <a:cs typeface="Aptos"/>
              </a:rPr>
            </a:br>
            <a:r>
              <a:rPr sz="1500" dirty="0">
                <a:solidFill>
                  <a:srgbClr val="1A233A"/>
                </a:solidFill>
                <a:latin typeface="Aptos"/>
                <a:ea typeface="Aptos"/>
                <a:cs typeface="Aptos"/>
              </a:rPr>
              <a:t>Third failure → wait even longer</a:t>
            </a:r>
          </a:p>
        </p:txBody>
      </p:sp>
      <p:sp>
        <p:nvSpPr>
          <p:cNvPr id="8" name="Rounded Rectangle 7">
            <a:extLst>
              <a:ext uri="{FF2B5EF4-FFF2-40B4-BE49-F238E27FC236}">
                <a16:creationId xmlns:a16="http://schemas.microsoft.com/office/drawing/2014/main" id="{22E553A6-8EC9-4989-AF7C-B498037CCFE1}"/>
              </a:ext>
            </a:extLst>
          </p:cNvPr>
          <p:cNvSpPr>
            <a:spLocks noGrp="1"/>
          </p:cNvSpPr>
          <p:nvPr/>
        </p:nvSpPr>
        <p:spPr>
          <a:xfrm>
            <a:off x="6446520" y="1143000"/>
            <a:ext cx="5029200" cy="201168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Bef>
                <a:spcPts val="300"/>
              </a:spcBef>
              <a:spcAft>
                <a:spcPts val="700"/>
              </a:spcAft>
              <a:buFont typeface="Arial" panose="020B0604020202020204" pitchFamily="34" charset="0"/>
              <a:buChar char="•"/>
              <a:defRPr sz="1550">
                <a:solidFill>
                  <a:srgbClr val="1A233A"/>
                </a:solidFill>
                <a:latin typeface="Aptos"/>
                <a:ea typeface="Aptos"/>
                <a:cs typeface="Aptos"/>
              </a:defRPr>
            </a:pPr>
            <a:r>
              <a:rPr dirty="0"/>
              <a:t>Another useful technique is jitter, which adds some variation to the retry timing.</a:t>
            </a:r>
          </a:p>
          <a:p>
            <a:pPr marL="285750" indent="-285750">
              <a:lnSpc>
                <a:spcPct val="100000"/>
              </a:lnSpc>
              <a:spcBef>
                <a:spcPts val="300"/>
              </a:spcBef>
              <a:spcAft>
                <a:spcPts val="700"/>
              </a:spcAft>
              <a:buFont typeface="Arial" panose="020B0604020202020204" pitchFamily="34" charset="0"/>
              <a:buChar char="•"/>
              <a:defRPr sz="1550">
                <a:solidFill>
                  <a:srgbClr val="1A233A"/>
                </a:solidFill>
                <a:latin typeface="Aptos"/>
                <a:ea typeface="Aptos"/>
                <a:cs typeface="Aptos"/>
              </a:defRPr>
            </a:pPr>
            <a:r>
              <a:rPr dirty="0"/>
              <a:t>Jitter helps prevent many applications from retrying at exactly the same moment after a shared failure.</a:t>
            </a:r>
          </a:p>
        </p:txBody>
      </p:sp>
      <p:sp>
        <p:nvSpPr>
          <p:cNvPr id="9" name="Rounded Rectangle 8">
            <a:extLst>
              <a:ext uri="{FF2B5EF4-FFF2-40B4-BE49-F238E27FC236}">
                <a16:creationId xmlns:a16="http://schemas.microsoft.com/office/drawing/2014/main" id="{2C270DCE-7397-4EED-B653-62F29819EE0C}"/>
              </a:ext>
            </a:extLst>
          </p:cNvPr>
          <p:cNvSpPr>
            <a:spLocks noGrp="1"/>
          </p:cNvSpPr>
          <p:nvPr/>
        </p:nvSpPr>
        <p:spPr>
          <a:xfrm>
            <a:off x="6446520" y="3429000"/>
            <a:ext cx="5029200" cy="1691640"/>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450" b="1" dirty="0">
                <a:solidFill>
                  <a:srgbClr val="189299"/>
                </a:solidFill>
                <a:latin typeface="Aptos"/>
                <a:ea typeface="Aptos"/>
                <a:cs typeface="Aptos"/>
              </a:rPr>
              <a:t>Example:</a:t>
            </a:r>
          </a:p>
          <a:p>
            <a:pPr>
              <a:spcBef>
                <a:spcPts val="300"/>
              </a:spcBef>
            </a:pPr>
            <a:r>
              <a:rPr sz="1450" dirty="0">
                <a:solidFill>
                  <a:srgbClr val="1A233A"/>
                </a:solidFill>
                <a:latin typeface="Aptos"/>
                <a:ea typeface="Aptos"/>
                <a:cs typeface="Aptos"/>
              </a:rPr>
              <a:t>Without jitter, thousands of clients could all retry after exactly two seconds.</a:t>
            </a:r>
            <a:br>
              <a:rPr sz="1450" dirty="0">
                <a:solidFill>
                  <a:srgbClr val="1A233A"/>
                </a:solidFill>
                <a:latin typeface="Aptos"/>
                <a:ea typeface="Aptos"/>
                <a:cs typeface="Aptos"/>
              </a:rPr>
            </a:br>
            <a:br>
              <a:rPr sz="1450" dirty="0">
                <a:solidFill>
                  <a:srgbClr val="1A233A"/>
                </a:solidFill>
                <a:latin typeface="Aptos"/>
                <a:ea typeface="Aptos"/>
                <a:cs typeface="Aptos"/>
              </a:rPr>
            </a:br>
            <a:r>
              <a:rPr sz="1450" dirty="0">
                <a:solidFill>
                  <a:srgbClr val="1A233A"/>
                </a:solidFill>
                <a:latin typeface="Aptos"/>
                <a:ea typeface="Aptos"/>
                <a:cs typeface="Aptos"/>
              </a:rPr>
              <a:t>With jitter, their retry times are slightly spread out.</a:t>
            </a:r>
          </a:p>
        </p:txBody>
      </p:sp>
      <p:sp>
        <p:nvSpPr>
          <p:cNvPr id="10" name="Rounded Rectangle 9">
            <a:extLst>
              <a:ext uri="{FF2B5EF4-FFF2-40B4-BE49-F238E27FC236}">
                <a16:creationId xmlns:a16="http://schemas.microsoft.com/office/drawing/2014/main" id="{91CF7EE5-17FF-49D4-B0A3-054E2E3819E4}"/>
              </a:ext>
            </a:extLst>
          </p:cNvPr>
          <p:cNvSpPr>
            <a:spLocks noGrp="1"/>
          </p:cNvSpPr>
          <p:nvPr/>
        </p:nvSpPr>
        <p:spPr>
          <a:xfrm>
            <a:off x="6446520" y="5349239"/>
            <a:ext cx="5029200" cy="902035"/>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320" b="1" dirty="0">
                <a:solidFill>
                  <a:srgbClr val="5B4CBA"/>
                </a:solidFill>
                <a:latin typeface="Aptos"/>
                <a:ea typeface="Aptos"/>
                <a:cs typeface="Aptos"/>
              </a:rPr>
              <a:t>Main Lesson:</a:t>
            </a:r>
          </a:p>
          <a:p>
            <a:pPr>
              <a:spcBef>
                <a:spcPts val="300"/>
              </a:spcBef>
            </a:pPr>
            <a:r>
              <a:rPr sz="1320" dirty="0">
                <a:solidFill>
                  <a:srgbClr val="1A233A"/>
                </a:solidFill>
                <a:latin typeface="Aptos"/>
                <a:ea typeface="Aptos"/>
                <a:cs typeface="Aptos"/>
              </a:rPr>
              <a:t>Backoff reduces retry pressure, while jitter helps prevent everyone from retrying together.</a:t>
            </a:r>
          </a:p>
        </p:txBody>
      </p:sp>
      <p:sp>
        <p:nvSpPr>
          <p:cNvPr id="11" name="TextBox 10">
            <a:extLst>
              <a:ext uri="{FF2B5EF4-FFF2-40B4-BE49-F238E27FC236}">
                <a16:creationId xmlns:a16="http://schemas.microsoft.com/office/drawing/2014/main" id="{61E88F48-13FE-40E2-8418-CE48968FA443}"/>
              </a:ext>
            </a:extLst>
          </p:cNvPr>
          <p:cNvSpPr>
            <a:spLocks noGrp="1"/>
          </p:cNvSpPr>
          <p:nvPr/>
        </p:nvSpPr>
        <p:spPr>
          <a:xfrm>
            <a:off x="9074170" y="6519672"/>
            <a:ext cx="2492990" cy="223138"/>
          </a:xfrm>
          <a:prstGeom prst="rect">
            <a:avLst/>
          </a:prstGeom>
          <a:noFill/>
        </p:spPr>
        <p:txBody>
          <a:bodyPr wrap="none">
            <a:spAutoFit/>
          </a:bodyPr>
          <a:lstStyle/>
          <a:p>
            <a:pPr algn="r">
              <a:spcBef>
                <a:spcPts val="300"/>
              </a:spcBef>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395904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4DB3C3-F7C0-4C27-AC12-82BE71859D7E}"/>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C06E7B6-2864-43ED-B127-3981793EAEAC}"/>
              </a:ext>
            </a:extLst>
          </p:cNvPr>
          <p:cNvSpPr>
            <a:spLocks noGrp="1"/>
          </p:cNvSpPr>
          <p:nvPr/>
        </p:nvSpPr>
        <p:spPr>
          <a:xfrm>
            <a:off x="0" y="0"/>
            <a:ext cx="12191695" cy="109728"/>
          </a:xfrm>
          <a:prstGeom prst="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01DAA2A2-58B3-400B-BFDF-0848410768F9}"/>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Why Connection Pooling Helps</a:t>
            </a:r>
          </a:p>
        </p:txBody>
      </p:sp>
      <p:sp>
        <p:nvSpPr>
          <p:cNvPr id="5" name="Rounded Rectangle 4">
            <a:extLst>
              <a:ext uri="{FF2B5EF4-FFF2-40B4-BE49-F238E27FC236}">
                <a16:creationId xmlns:a16="http://schemas.microsoft.com/office/drawing/2014/main" id="{ABCF52BA-94BA-436F-AF5D-C249ACFC1AF6}"/>
              </a:ext>
            </a:extLst>
          </p:cNvPr>
          <p:cNvSpPr>
            <a:spLocks noGrp="1"/>
          </p:cNvSpPr>
          <p:nvPr/>
        </p:nvSpPr>
        <p:spPr>
          <a:xfrm>
            <a:off x="11109960" y="274320"/>
            <a:ext cx="502920" cy="438912"/>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12</a:t>
            </a:r>
          </a:p>
        </p:txBody>
      </p:sp>
      <p:sp>
        <p:nvSpPr>
          <p:cNvPr id="6" name="Rounded Rectangle 5">
            <a:extLst>
              <a:ext uri="{FF2B5EF4-FFF2-40B4-BE49-F238E27FC236}">
                <a16:creationId xmlns:a16="http://schemas.microsoft.com/office/drawing/2014/main" id="{EBB8D06E-0FC1-44AF-94D9-962D674724FF}"/>
              </a:ext>
            </a:extLst>
          </p:cNvPr>
          <p:cNvSpPr>
            <a:spLocks noGrp="1"/>
          </p:cNvSpPr>
          <p:nvPr/>
        </p:nvSpPr>
        <p:spPr>
          <a:xfrm>
            <a:off x="640080" y="1143000"/>
            <a:ext cx="6400800" cy="457200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Aft>
                <a:spcPts val="700"/>
              </a:spcAft>
              <a:buFont typeface="Arial" panose="020B0604020202020204" pitchFamily="34" charset="0"/>
              <a:buChar char="•"/>
              <a:defRPr sz="1450">
                <a:solidFill>
                  <a:srgbClr val="1A233A"/>
                </a:solidFill>
                <a:latin typeface="Aptos"/>
                <a:ea typeface="Aptos"/>
                <a:cs typeface="Aptos"/>
              </a:defRPr>
            </a:pPr>
            <a:r>
              <a:rPr dirty="0"/>
              <a:t>AI applications may send many network requests to model endpoints, APIs, databases, and other services.</a:t>
            </a:r>
          </a:p>
          <a:p>
            <a:pPr marL="285750" indent="-285750">
              <a:lnSpc>
                <a:spcPct val="100000"/>
              </a:lnSpc>
              <a:spcAft>
                <a:spcPts val="700"/>
              </a:spcAft>
              <a:buFont typeface="Arial" panose="020B0604020202020204" pitchFamily="34" charset="0"/>
              <a:buChar char="•"/>
              <a:defRPr sz="1450">
                <a:solidFill>
                  <a:srgbClr val="1A233A"/>
                </a:solidFill>
                <a:latin typeface="Aptos"/>
                <a:ea typeface="Aptos"/>
                <a:cs typeface="Aptos"/>
              </a:defRPr>
            </a:pPr>
            <a:r>
              <a:rPr dirty="0"/>
              <a:t>Creating a completely new network connection for every request can add unnecessary overhead.</a:t>
            </a:r>
          </a:p>
          <a:p>
            <a:pPr marL="285750" indent="-285750">
              <a:lnSpc>
                <a:spcPct val="100000"/>
              </a:lnSpc>
              <a:spcAft>
                <a:spcPts val="700"/>
              </a:spcAft>
              <a:buFont typeface="Arial" panose="020B0604020202020204" pitchFamily="34" charset="0"/>
              <a:buChar char="•"/>
              <a:defRPr sz="1450">
                <a:solidFill>
                  <a:srgbClr val="1A233A"/>
                </a:solidFill>
                <a:latin typeface="Aptos"/>
                <a:ea typeface="Aptos"/>
                <a:cs typeface="Aptos"/>
              </a:defRPr>
            </a:pPr>
            <a:r>
              <a:rPr dirty="0"/>
              <a:t>Connection pooling allows an application to reuse existing connections instead of repeatedly creating and closing new ones.</a:t>
            </a:r>
          </a:p>
          <a:p>
            <a:pPr marL="285750" indent="-285750">
              <a:lnSpc>
                <a:spcPct val="100000"/>
              </a:lnSpc>
              <a:spcAft>
                <a:spcPts val="700"/>
              </a:spcAft>
              <a:buFont typeface="Arial" panose="020B0604020202020204" pitchFamily="34" charset="0"/>
              <a:buChar char="•"/>
              <a:defRPr sz="1450">
                <a:solidFill>
                  <a:srgbClr val="1A233A"/>
                </a:solidFill>
                <a:latin typeface="Aptos"/>
                <a:ea typeface="Aptos"/>
                <a:cs typeface="Aptos"/>
              </a:defRPr>
            </a:pPr>
            <a:r>
              <a:rPr dirty="0"/>
              <a:t>Reusing connections can reduce connection setup work and make frequent requests more efficient.</a:t>
            </a:r>
          </a:p>
          <a:p>
            <a:pPr marL="285750" indent="-285750">
              <a:lnSpc>
                <a:spcPct val="100000"/>
              </a:lnSpc>
              <a:spcAft>
                <a:spcPts val="700"/>
              </a:spcAft>
              <a:buFont typeface="Arial" panose="020B0604020202020204" pitchFamily="34" charset="0"/>
              <a:buChar char="•"/>
              <a:defRPr sz="1450">
                <a:solidFill>
                  <a:srgbClr val="1A233A"/>
                </a:solidFill>
                <a:latin typeface="Aptos"/>
                <a:ea typeface="Aptos"/>
                <a:cs typeface="Aptos"/>
              </a:defRPr>
            </a:pPr>
            <a:r>
              <a:rPr dirty="0"/>
              <a:t>This becomes more important when an application sends a large number of requests to the same service.</a:t>
            </a:r>
          </a:p>
          <a:p>
            <a:pPr marL="285750" indent="-285750">
              <a:lnSpc>
                <a:spcPct val="100000"/>
              </a:lnSpc>
              <a:spcAft>
                <a:spcPts val="700"/>
              </a:spcAft>
              <a:buFont typeface="Arial" panose="020B0604020202020204" pitchFamily="34" charset="0"/>
              <a:buChar char="•"/>
              <a:defRPr sz="1450">
                <a:solidFill>
                  <a:srgbClr val="1A233A"/>
                </a:solidFill>
                <a:latin typeface="Aptos"/>
                <a:ea typeface="Aptos"/>
                <a:cs typeface="Aptos"/>
              </a:defRPr>
            </a:pPr>
            <a:r>
              <a:rPr dirty="0"/>
              <a:t>Connection pooling does not change the Foundation Model itself; it improves the way the surrounding application communicates with services.</a:t>
            </a:r>
          </a:p>
        </p:txBody>
      </p:sp>
      <p:sp>
        <p:nvSpPr>
          <p:cNvPr id="7" name="Rounded Rectangle 6">
            <a:extLst>
              <a:ext uri="{FF2B5EF4-FFF2-40B4-BE49-F238E27FC236}">
                <a16:creationId xmlns:a16="http://schemas.microsoft.com/office/drawing/2014/main" id="{30EFB5AD-9916-443A-9D75-77F9F942E645}"/>
              </a:ext>
            </a:extLst>
          </p:cNvPr>
          <p:cNvSpPr>
            <a:spLocks noGrp="1"/>
          </p:cNvSpPr>
          <p:nvPr/>
        </p:nvSpPr>
        <p:spPr>
          <a:xfrm>
            <a:off x="7269480" y="1417320"/>
            <a:ext cx="4160520" cy="2926080"/>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400" b="1" dirty="0">
                <a:solidFill>
                  <a:srgbClr val="189299"/>
                </a:solidFill>
                <a:latin typeface="Aptos"/>
                <a:ea typeface="Aptos"/>
                <a:cs typeface="Aptos"/>
              </a:rPr>
              <a:t>Simple Comparison:</a:t>
            </a:r>
          </a:p>
          <a:p>
            <a:pPr>
              <a:spcBef>
                <a:spcPts val="300"/>
              </a:spcBef>
            </a:pPr>
            <a:r>
              <a:rPr sz="1400" dirty="0">
                <a:solidFill>
                  <a:srgbClr val="1A233A"/>
                </a:solidFill>
                <a:latin typeface="Aptos"/>
                <a:ea typeface="Aptos"/>
                <a:cs typeface="Aptos"/>
              </a:rPr>
              <a:t>Without Pooling:</a:t>
            </a:r>
            <a:br>
              <a:rPr sz="1400" dirty="0">
                <a:solidFill>
                  <a:srgbClr val="1A233A"/>
                </a:solidFill>
                <a:latin typeface="Aptos"/>
                <a:ea typeface="Aptos"/>
                <a:cs typeface="Aptos"/>
              </a:rPr>
            </a:br>
            <a:r>
              <a:rPr sz="1400" dirty="0">
                <a:solidFill>
                  <a:srgbClr val="1A233A"/>
                </a:solidFill>
                <a:latin typeface="Aptos"/>
                <a:ea typeface="Aptos"/>
                <a:cs typeface="Aptos"/>
              </a:rPr>
              <a:t>Request → New Connection → Response → Close</a:t>
            </a:r>
            <a:br>
              <a:rPr sz="1400" dirty="0">
                <a:solidFill>
                  <a:srgbClr val="1A233A"/>
                </a:solidFill>
                <a:latin typeface="Aptos"/>
                <a:ea typeface="Aptos"/>
                <a:cs typeface="Aptos"/>
              </a:rPr>
            </a:br>
            <a:br>
              <a:rPr sz="1400" dirty="0">
                <a:solidFill>
                  <a:srgbClr val="1A233A"/>
                </a:solidFill>
                <a:latin typeface="Aptos"/>
                <a:ea typeface="Aptos"/>
                <a:cs typeface="Aptos"/>
              </a:rPr>
            </a:br>
            <a:r>
              <a:rPr sz="1400" dirty="0">
                <a:solidFill>
                  <a:srgbClr val="1A233A"/>
                </a:solidFill>
                <a:latin typeface="Aptos"/>
                <a:ea typeface="Aptos"/>
                <a:cs typeface="Aptos"/>
              </a:rPr>
              <a:t>Next request → repeat everything</a:t>
            </a:r>
            <a:br>
              <a:rPr sz="1400" dirty="0">
                <a:solidFill>
                  <a:srgbClr val="1A233A"/>
                </a:solidFill>
                <a:latin typeface="Aptos"/>
                <a:ea typeface="Aptos"/>
                <a:cs typeface="Aptos"/>
              </a:rPr>
            </a:br>
            <a:br>
              <a:rPr sz="1400" dirty="0">
                <a:solidFill>
                  <a:srgbClr val="1A233A"/>
                </a:solidFill>
                <a:latin typeface="Aptos"/>
                <a:ea typeface="Aptos"/>
                <a:cs typeface="Aptos"/>
              </a:rPr>
            </a:br>
            <a:r>
              <a:rPr sz="1400" dirty="0">
                <a:solidFill>
                  <a:srgbClr val="1A233A"/>
                </a:solidFill>
                <a:latin typeface="Aptos"/>
                <a:ea typeface="Aptos"/>
                <a:cs typeface="Aptos"/>
              </a:rPr>
              <a:t>With Pooling:</a:t>
            </a:r>
            <a:br>
              <a:rPr sz="1400" dirty="0">
                <a:solidFill>
                  <a:srgbClr val="1A233A"/>
                </a:solidFill>
                <a:latin typeface="Aptos"/>
                <a:ea typeface="Aptos"/>
                <a:cs typeface="Aptos"/>
              </a:rPr>
            </a:br>
            <a:r>
              <a:rPr sz="1400" dirty="0">
                <a:solidFill>
                  <a:srgbClr val="1A233A"/>
                </a:solidFill>
                <a:latin typeface="Aptos"/>
                <a:ea typeface="Aptos"/>
                <a:cs typeface="Aptos"/>
              </a:rPr>
              <a:t>Create Connection → Reuse for Multiple Requests</a:t>
            </a:r>
          </a:p>
        </p:txBody>
      </p:sp>
      <p:sp>
        <p:nvSpPr>
          <p:cNvPr id="8" name="Rounded Rectangle 7">
            <a:extLst>
              <a:ext uri="{FF2B5EF4-FFF2-40B4-BE49-F238E27FC236}">
                <a16:creationId xmlns:a16="http://schemas.microsoft.com/office/drawing/2014/main" id="{1ABD720A-0C36-44A8-846F-0C918C03E905}"/>
              </a:ext>
            </a:extLst>
          </p:cNvPr>
          <p:cNvSpPr>
            <a:spLocks noGrp="1"/>
          </p:cNvSpPr>
          <p:nvPr/>
        </p:nvSpPr>
        <p:spPr>
          <a:xfrm>
            <a:off x="7269480" y="4663440"/>
            <a:ext cx="4160520" cy="960120"/>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350" b="1" dirty="0">
                <a:solidFill>
                  <a:srgbClr val="189299"/>
                </a:solidFill>
                <a:latin typeface="Aptos"/>
                <a:ea typeface="Aptos"/>
                <a:cs typeface="Aptos"/>
              </a:rPr>
              <a:t>Main Idea:</a:t>
            </a:r>
          </a:p>
          <a:p>
            <a:pPr>
              <a:spcBef>
                <a:spcPts val="300"/>
              </a:spcBef>
            </a:pPr>
            <a:r>
              <a:rPr sz="1350" dirty="0">
                <a:solidFill>
                  <a:srgbClr val="1A233A"/>
                </a:solidFill>
                <a:latin typeface="Aptos"/>
                <a:ea typeface="Aptos"/>
                <a:cs typeface="Aptos"/>
              </a:rPr>
              <a:t>Small infrastructure improvements around the model can also improve the overall application.</a:t>
            </a:r>
          </a:p>
        </p:txBody>
      </p:sp>
      <p:sp>
        <p:nvSpPr>
          <p:cNvPr id="9" name="TextBox 8">
            <a:extLst>
              <a:ext uri="{FF2B5EF4-FFF2-40B4-BE49-F238E27FC236}">
                <a16:creationId xmlns:a16="http://schemas.microsoft.com/office/drawing/2014/main" id="{64817490-780F-4191-966D-56AE6D775394}"/>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754510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289FEF-2A3E-4CD9-B5ED-83B9E40972BF}"/>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E9BC8B7-3243-4CD6-AFC4-36708F3A167F}"/>
              </a:ext>
            </a:extLst>
          </p:cNvPr>
          <p:cNvSpPr>
            <a:spLocks noGrp="1"/>
          </p:cNvSpPr>
          <p:nvPr/>
        </p:nvSpPr>
        <p:spPr>
          <a:xfrm>
            <a:off x="0" y="0"/>
            <a:ext cx="12191695" cy="109728"/>
          </a:xfrm>
          <a:prstGeom prst="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021B63D2-BF98-44C5-9311-37F7A7BB6C63}"/>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Amazon Bedrock Cross-Region Inference</a:t>
            </a:r>
          </a:p>
        </p:txBody>
      </p:sp>
      <p:sp>
        <p:nvSpPr>
          <p:cNvPr id="5" name="Rounded Rectangle 4">
            <a:extLst>
              <a:ext uri="{FF2B5EF4-FFF2-40B4-BE49-F238E27FC236}">
                <a16:creationId xmlns:a16="http://schemas.microsoft.com/office/drawing/2014/main" id="{1AE0C169-0257-4ECF-9C2C-6B564D8BBB13}"/>
              </a:ext>
            </a:extLst>
          </p:cNvPr>
          <p:cNvSpPr>
            <a:spLocks noGrp="1"/>
          </p:cNvSpPr>
          <p:nvPr/>
        </p:nvSpPr>
        <p:spPr>
          <a:xfrm>
            <a:off x="11109960" y="274320"/>
            <a:ext cx="502920" cy="438912"/>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13</a:t>
            </a:r>
          </a:p>
        </p:txBody>
      </p:sp>
      <p:sp>
        <p:nvSpPr>
          <p:cNvPr id="6" name="Rounded Rectangle 5">
            <a:extLst>
              <a:ext uri="{FF2B5EF4-FFF2-40B4-BE49-F238E27FC236}">
                <a16:creationId xmlns:a16="http://schemas.microsoft.com/office/drawing/2014/main" id="{0CB0A742-9ACF-458B-8218-8984EA236C48}"/>
              </a:ext>
            </a:extLst>
          </p:cNvPr>
          <p:cNvSpPr>
            <a:spLocks noGrp="1"/>
          </p:cNvSpPr>
          <p:nvPr/>
        </p:nvSpPr>
        <p:spPr>
          <a:xfrm>
            <a:off x="594360" y="1097280"/>
            <a:ext cx="6400800" cy="511949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Aft>
                <a:spcPts val="700"/>
              </a:spcAft>
              <a:buFont typeface="Arial" panose="020B0604020202020204" pitchFamily="34" charset="0"/>
              <a:buChar char="•"/>
              <a:defRPr sz="1420">
                <a:solidFill>
                  <a:srgbClr val="1A233A"/>
                </a:solidFill>
                <a:latin typeface="Aptos"/>
                <a:ea typeface="Aptos"/>
                <a:cs typeface="Aptos"/>
              </a:defRPr>
            </a:pPr>
            <a:r>
              <a:rPr dirty="0"/>
              <a:t>Model capacity may not always be equally available in every AWS Region, especially during periods of high demand.</a:t>
            </a:r>
          </a:p>
          <a:p>
            <a:pPr marL="285750" indent="-285750">
              <a:lnSpc>
                <a:spcPct val="100000"/>
              </a:lnSpc>
              <a:spcAft>
                <a:spcPts val="700"/>
              </a:spcAft>
              <a:buFont typeface="Arial" panose="020B0604020202020204" pitchFamily="34" charset="0"/>
              <a:buChar char="•"/>
              <a:defRPr sz="1420">
                <a:solidFill>
                  <a:srgbClr val="1A233A"/>
                </a:solidFill>
                <a:latin typeface="Aptos"/>
                <a:ea typeface="Aptos"/>
                <a:cs typeface="Aptos"/>
              </a:defRPr>
            </a:pPr>
            <a:r>
              <a:rPr dirty="0"/>
              <a:t>Amazon Bedrock Cross-Region Inference can help distribute inference requests across supported AWS Regions.</a:t>
            </a:r>
          </a:p>
          <a:p>
            <a:pPr marL="285750" indent="-285750">
              <a:lnSpc>
                <a:spcPct val="100000"/>
              </a:lnSpc>
              <a:spcAft>
                <a:spcPts val="700"/>
              </a:spcAft>
              <a:buFont typeface="Arial" panose="020B0604020202020204" pitchFamily="34" charset="0"/>
              <a:buChar char="•"/>
              <a:defRPr sz="1420">
                <a:solidFill>
                  <a:srgbClr val="1A233A"/>
                </a:solidFill>
                <a:latin typeface="Aptos"/>
                <a:ea typeface="Aptos"/>
                <a:cs typeface="Aptos"/>
              </a:defRPr>
            </a:pPr>
            <a:r>
              <a:rPr dirty="0"/>
              <a:t>Instead of depending on capacity from only one Region, the inference profile can route requests to available supported capacity.</a:t>
            </a:r>
          </a:p>
          <a:p>
            <a:pPr marL="285750" indent="-285750">
              <a:lnSpc>
                <a:spcPct val="100000"/>
              </a:lnSpc>
              <a:spcAft>
                <a:spcPts val="700"/>
              </a:spcAft>
              <a:buFont typeface="Arial" panose="020B0604020202020204" pitchFamily="34" charset="0"/>
              <a:buChar char="•"/>
              <a:defRPr sz="1420">
                <a:solidFill>
                  <a:srgbClr val="1A233A"/>
                </a:solidFill>
                <a:latin typeface="Aptos"/>
                <a:ea typeface="Aptos"/>
                <a:cs typeface="Aptos"/>
              </a:defRPr>
            </a:pPr>
            <a:r>
              <a:rPr dirty="0"/>
              <a:t>This can help improve application resilience when there are capacity limitations, high traffic, or temporary service pressure.</a:t>
            </a:r>
          </a:p>
          <a:p>
            <a:pPr marL="285750" indent="-285750">
              <a:lnSpc>
                <a:spcPct val="100000"/>
              </a:lnSpc>
              <a:spcAft>
                <a:spcPts val="700"/>
              </a:spcAft>
              <a:buFont typeface="Arial" panose="020B0604020202020204" pitchFamily="34" charset="0"/>
              <a:buChar char="•"/>
              <a:defRPr sz="1420">
                <a:solidFill>
                  <a:srgbClr val="1A233A"/>
                </a:solidFill>
                <a:latin typeface="Aptos"/>
                <a:ea typeface="Aptos"/>
                <a:cs typeface="Aptos"/>
              </a:defRPr>
            </a:pPr>
            <a:r>
              <a:rPr dirty="0"/>
              <a:t>The application still sends requests using the inference profile </a:t>
            </a:r>
            <a:r>
              <a:rPr lang="en-IN" dirty="0"/>
              <a:t>r</a:t>
            </a:r>
            <a:r>
              <a:rPr dirty="0" err="1"/>
              <a:t>ather</a:t>
            </a:r>
            <a:r>
              <a:rPr dirty="0"/>
              <a:t> than manually deciding the destination Region for every individual request.</a:t>
            </a:r>
          </a:p>
          <a:p>
            <a:pPr marL="285750" indent="-285750">
              <a:lnSpc>
                <a:spcPct val="100000"/>
              </a:lnSpc>
              <a:spcAft>
                <a:spcPts val="700"/>
              </a:spcAft>
              <a:buFont typeface="Arial" panose="020B0604020202020204" pitchFamily="34" charset="0"/>
              <a:buChar char="•"/>
              <a:defRPr sz="1420">
                <a:solidFill>
                  <a:srgbClr val="1A233A"/>
                </a:solidFill>
                <a:latin typeface="Aptos"/>
                <a:ea typeface="Aptos"/>
                <a:cs typeface="Aptos"/>
              </a:defRPr>
            </a:pPr>
            <a:r>
              <a:rPr dirty="0"/>
              <a:t>Cross-Region Inference is therefore another way to improve the reliability and available capacity of a Generative AI workload.</a:t>
            </a:r>
          </a:p>
        </p:txBody>
      </p:sp>
      <p:sp>
        <p:nvSpPr>
          <p:cNvPr id="7" name="Rounded Rectangle 6">
            <a:extLst>
              <a:ext uri="{FF2B5EF4-FFF2-40B4-BE49-F238E27FC236}">
                <a16:creationId xmlns:a16="http://schemas.microsoft.com/office/drawing/2014/main" id="{BB0F6EAE-DBCA-418C-82B3-1C04FB98A32E}"/>
              </a:ext>
            </a:extLst>
          </p:cNvPr>
          <p:cNvSpPr>
            <a:spLocks noGrp="1"/>
          </p:cNvSpPr>
          <p:nvPr/>
        </p:nvSpPr>
        <p:spPr>
          <a:xfrm>
            <a:off x="7315200" y="1143000"/>
            <a:ext cx="3886200" cy="640080"/>
          </a:xfrm>
          <a:prstGeom prst="round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b="1">
                <a:solidFill>
                  <a:srgbClr val="FFFFFF"/>
                </a:solidFill>
                <a:latin typeface="Aptos"/>
                <a:ea typeface="Aptos"/>
                <a:cs typeface="Aptos"/>
              </a:rPr>
              <a:t>Application</a:t>
            </a:r>
          </a:p>
        </p:txBody>
      </p:sp>
      <p:sp>
        <p:nvSpPr>
          <p:cNvPr id="8" name="Connector 7">
            <a:extLst>
              <a:ext uri="{FF2B5EF4-FFF2-40B4-BE49-F238E27FC236}">
                <a16:creationId xmlns:a16="http://schemas.microsoft.com/office/drawing/2014/main" id="{37DD6F52-5700-46FB-B9FA-2D3A28ABC3FF}"/>
              </a:ext>
            </a:extLst>
          </p:cNvPr>
          <p:cNvSpPr>
            <a:spLocks noGrp="1"/>
          </p:cNvSpPr>
          <p:nvPr/>
        </p:nvSpPr>
        <p:spPr>
          <a:xfrm>
            <a:off x="9258300" y="1783080"/>
            <a:ext cx="0" cy="256032"/>
          </a:xfrm>
          <a:prstGeom prst="line">
            <a:avLst/>
          </a:prstGeom>
          <a:ln w="19050">
            <a:solidFill>
              <a:srgbClr val="3D72D5"/>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9" name="Rounded Rectangle 8">
            <a:extLst>
              <a:ext uri="{FF2B5EF4-FFF2-40B4-BE49-F238E27FC236}">
                <a16:creationId xmlns:a16="http://schemas.microsoft.com/office/drawing/2014/main" id="{AB56D85E-78FD-4ADC-92AA-56A7024653EC}"/>
              </a:ext>
            </a:extLst>
          </p:cNvPr>
          <p:cNvSpPr>
            <a:spLocks noGrp="1"/>
          </p:cNvSpPr>
          <p:nvPr/>
        </p:nvSpPr>
        <p:spPr>
          <a:xfrm>
            <a:off x="7315200" y="2103120"/>
            <a:ext cx="3886200" cy="640080"/>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b="1">
                <a:solidFill>
                  <a:srgbClr val="FFFFFF"/>
                </a:solidFill>
                <a:latin typeface="Aptos"/>
                <a:ea typeface="Aptos"/>
                <a:cs typeface="Aptos"/>
              </a:rPr>
              <a:t>Inference Profile</a:t>
            </a:r>
          </a:p>
        </p:txBody>
      </p:sp>
      <p:sp>
        <p:nvSpPr>
          <p:cNvPr id="10" name="Connector 9">
            <a:extLst>
              <a:ext uri="{FF2B5EF4-FFF2-40B4-BE49-F238E27FC236}">
                <a16:creationId xmlns:a16="http://schemas.microsoft.com/office/drawing/2014/main" id="{B195E879-5A1E-4258-B70C-6574C05ECBB7}"/>
              </a:ext>
            </a:extLst>
          </p:cNvPr>
          <p:cNvSpPr>
            <a:spLocks noGrp="1"/>
          </p:cNvSpPr>
          <p:nvPr/>
        </p:nvSpPr>
        <p:spPr>
          <a:xfrm>
            <a:off x="9258300" y="2743200"/>
            <a:ext cx="0" cy="256032"/>
          </a:xfrm>
          <a:prstGeom prst="line">
            <a:avLst/>
          </a:prstGeom>
          <a:ln w="19050">
            <a:solidFill>
              <a:srgbClr val="3D72D5"/>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1" name="Rounded Rectangle 10">
            <a:extLst>
              <a:ext uri="{FF2B5EF4-FFF2-40B4-BE49-F238E27FC236}">
                <a16:creationId xmlns:a16="http://schemas.microsoft.com/office/drawing/2014/main" id="{A4A8CE8A-A0E5-4789-9247-23416BF9F99A}"/>
              </a:ext>
            </a:extLst>
          </p:cNvPr>
          <p:cNvSpPr>
            <a:spLocks noGrp="1"/>
          </p:cNvSpPr>
          <p:nvPr/>
        </p:nvSpPr>
        <p:spPr>
          <a:xfrm>
            <a:off x="7315200" y="3063240"/>
            <a:ext cx="3886200" cy="640080"/>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b="1">
                <a:solidFill>
                  <a:srgbClr val="FFFFFF"/>
                </a:solidFill>
                <a:latin typeface="Aptos"/>
                <a:ea typeface="Aptos"/>
                <a:cs typeface="Aptos"/>
              </a:rPr>
              <a:t>Available Supported Region</a:t>
            </a:r>
          </a:p>
        </p:txBody>
      </p:sp>
      <p:sp>
        <p:nvSpPr>
          <p:cNvPr id="12" name="Connector 11">
            <a:extLst>
              <a:ext uri="{FF2B5EF4-FFF2-40B4-BE49-F238E27FC236}">
                <a16:creationId xmlns:a16="http://schemas.microsoft.com/office/drawing/2014/main" id="{D444FAEA-1BEC-42CD-8043-9A8D7BA93EE5}"/>
              </a:ext>
            </a:extLst>
          </p:cNvPr>
          <p:cNvSpPr>
            <a:spLocks noGrp="1"/>
          </p:cNvSpPr>
          <p:nvPr/>
        </p:nvSpPr>
        <p:spPr>
          <a:xfrm>
            <a:off x="9258300" y="3703320"/>
            <a:ext cx="0" cy="256032"/>
          </a:xfrm>
          <a:prstGeom prst="line">
            <a:avLst/>
          </a:prstGeom>
          <a:ln w="19050">
            <a:solidFill>
              <a:srgbClr val="3D72D5"/>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3" name="Rounded Rectangle 12">
            <a:extLst>
              <a:ext uri="{FF2B5EF4-FFF2-40B4-BE49-F238E27FC236}">
                <a16:creationId xmlns:a16="http://schemas.microsoft.com/office/drawing/2014/main" id="{A99F66CE-28ED-4B31-83F4-FCE7FB2907E6}"/>
              </a:ext>
            </a:extLst>
          </p:cNvPr>
          <p:cNvSpPr>
            <a:spLocks noGrp="1"/>
          </p:cNvSpPr>
          <p:nvPr/>
        </p:nvSpPr>
        <p:spPr>
          <a:xfrm>
            <a:off x="7315200" y="4023360"/>
            <a:ext cx="3886200" cy="640080"/>
          </a:xfrm>
          <a:prstGeom prst="round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b="1">
                <a:solidFill>
                  <a:srgbClr val="FFFFFF"/>
                </a:solidFill>
                <a:latin typeface="Aptos"/>
                <a:ea typeface="Aptos"/>
                <a:cs typeface="Aptos"/>
              </a:rPr>
              <a:t>Foundation Model</a:t>
            </a:r>
          </a:p>
        </p:txBody>
      </p:sp>
      <p:sp>
        <p:nvSpPr>
          <p:cNvPr id="14" name="Connector 13">
            <a:extLst>
              <a:ext uri="{FF2B5EF4-FFF2-40B4-BE49-F238E27FC236}">
                <a16:creationId xmlns:a16="http://schemas.microsoft.com/office/drawing/2014/main" id="{B9C4466C-9B39-44A3-9D02-E1FAC48AFF6E}"/>
              </a:ext>
            </a:extLst>
          </p:cNvPr>
          <p:cNvSpPr>
            <a:spLocks noGrp="1"/>
          </p:cNvSpPr>
          <p:nvPr/>
        </p:nvSpPr>
        <p:spPr>
          <a:xfrm>
            <a:off x="9258300" y="4663440"/>
            <a:ext cx="0" cy="256032"/>
          </a:xfrm>
          <a:prstGeom prst="line">
            <a:avLst/>
          </a:prstGeom>
          <a:ln w="19050">
            <a:solidFill>
              <a:srgbClr val="3D72D5"/>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5" name="Rounded Rectangle 14">
            <a:extLst>
              <a:ext uri="{FF2B5EF4-FFF2-40B4-BE49-F238E27FC236}">
                <a16:creationId xmlns:a16="http://schemas.microsoft.com/office/drawing/2014/main" id="{DA923FF0-6F5C-4224-9A5F-F85FEC694C37}"/>
              </a:ext>
            </a:extLst>
          </p:cNvPr>
          <p:cNvSpPr>
            <a:spLocks noGrp="1"/>
          </p:cNvSpPr>
          <p:nvPr/>
        </p:nvSpPr>
        <p:spPr>
          <a:xfrm>
            <a:off x="7315200" y="4983480"/>
            <a:ext cx="3886200" cy="640080"/>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450" b="1">
                <a:solidFill>
                  <a:srgbClr val="FFFFFF"/>
                </a:solidFill>
                <a:latin typeface="Aptos"/>
                <a:ea typeface="Aptos"/>
                <a:cs typeface="Aptos"/>
              </a:rPr>
              <a:t>Response</a:t>
            </a:r>
          </a:p>
        </p:txBody>
      </p:sp>
      <p:sp>
        <p:nvSpPr>
          <p:cNvPr id="16" name="Rounded Rectangle 15">
            <a:extLst>
              <a:ext uri="{FF2B5EF4-FFF2-40B4-BE49-F238E27FC236}">
                <a16:creationId xmlns:a16="http://schemas.microsoft.com/office/drawing/2014/main" id="{0E20C1B6-1ADC-44AE-AB80-2689B98E59F5}"/>
              </a:ext>
            </a:extLst>
          </p:cNvPr>
          <p:cNvSpPr>
            <a:spLocks noGrp="1"/>
          </p:cNvSpPr>
          <p:nvPr/>
        </p:nvSpPr>
        <p:spPr>
          <a:xfrm>
            <a:off x="7315200" y="5764112"/>
            <a:ext cx="3886200" cy="755559"/>
          </a:xfrm>
          <a:prstGeom prst="roundRect">
            <a:avLst/>
          </a:prstGeom>
          <a:solidFill>
            <a:srgbClr val="E8EFFC"/>
          </a:solidFill>
          <a:ln w="17780">
            <a:solidFill>
              <a:srgbClr val="3D72D5"/>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330" b="1" dirty="0">
                <a:solidFill>
                  <a:srgbClr val="3D72D5"/>
                </a:solidFill>
                <a:latin typeface="Aptos"/>
                <a:ea typeface="Aptos"/>
                <a:cs typeface="Aptos"/>
              </a:rPr>
              <a:t>Main Benefit:</a:t>
            </a:r>
          </a:p>
          <a:p>
            <a:pPr>
              <a:spcBef>
                <a:spcPts val="300"/>
              </a:spcBef>
            </a:pPr>
            <a:r>
              <a:rPr sz="1330" dirty="0">
                <a:solidFill>
                  <a:srgbClr val="1A233A"/>
                </a:solidFill>
                <a:latin typeface="Aptos"/>
                <a:ea typeface="Aptos"/>
                <a:cs typeface="Aptos"/>
              </a:rPr>
              <a:t>The application can make use of capacity beyond a single Region.</a:t>
            </a:r>
          </a:p>
        </p:txBody>
      </p:sp>
      <p:sp>
        <p:nvSpPr>
          <p:cNvPr id="17" name="TextBox 16">
            <a:extLst>
              <a:ext uri="{FF2B5EF4-FFF2-40B4-BE49-F238E27FC236}">
                <a16:creationId xmlns:a16="http://schemas.microsoft.com/office/drawing/2014/main" id="{C66E1EF4-D7B4-448D-B426-663F6A8E22D7}"/>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855800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94D8B2-49DA-459A-AEC4-33AF8952E167}"/>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spcBef>
                <a:spcPts val="300"/>
              </a:spcBef>
              <a:buNone/>
            </a:pPr>
            <a:endParaRPr/>
          </a:p>
        </p:txBody>
      </p:sp>
      <p:sp>
        <p:nvSpPr>
          <p:cNvPr id="3" name="Rectangle 2">
            <a:extLst>
              <a:ext uri="{FF2B5EF4-FFF2-40B4-BE49-F238E27FC236}">
                <a16:creationId xmlns:a16="http://schemas.microsoft.com/office/drawing/2014/main" id="{9B521EA5-772C-4EA1-9A7E-A0CDBAA60FBE}"/>
              </a:ext>
            </a:extLst>
          </p:cNvPr>
          <p:cNvSpPr>
            <a:spLocks noGrp="1"/>
          </p:cNvSpPr>
          <p:nvPr/>
        </p:nvSpPr>
        <p:spPr>
          <a:xfrm>
            <a:off x="0" y="0"/>
            <a:ext cx="12191695" cy="109728"/>
          </a:xfrm>
          <a:prstGeom prst="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AEA4DC6-E2EC-44DA-8137-3EEDB4341960}"/>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Geographic and Global Inference Profiles</a:t>
            </a:r>
          </a:p>
        </p:txBody>
      </p:sp>
      <p:sp>
        <p:nvSpPr>
          <p:cNvPr id="5" name="Rounded Rectangle 4">
            <a:extLst>
              <a:ext uri="{FF2B5EF4-FFF2-40B4-BE49-F238E27FC236}">
                <a16:creationId xmlns:a16="http://schemas.microsoft.com/office/drawing/2014/main" id="{9B7AE7CD-8D5B-4D5D-A0F3-194548370275}"/>
              </a:ext>
            </a:extLst>
          </p:cNvPr>
          <p:cNvSpPr>
            <a:spLocks noGrp="1"/>
          </p:cNvSpPr>
          <p:nvPr/>
        </p:nvSpPr>
        <p:spPr>
          <a:xfrm>
            <a:off x="11109960" y="274320"/>
            <a:ext cx="502920" cy="438912"/>
          </a:xfrm>
          <a:prstGeom prst="round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14</a:t>
            </a:r>
          </a:p>
        </p:txBody>
      </p:sp>
      <p:sp>
        <p:nvSpPr>
          <p:cNvPr id="6" name="Rounded Rectangle 5">
            <a:extLst>
              <a:ext uri="{FF2B5EF4-FFF2-40B4-BE49-F238E27FC236}">
                <a16:creationId xmlns:a16="http://schemas.microsoft.com/office/drawing/2014/main" id="{C91F3B27-7EBD-42E0-A55A-09087ABF27A7}"/>
              </a:ext>
            </a:extLst>
          </p:cNvPr>
          <p:cNvSpPr>
            <a:spLocks noGrp="1"/>
          </p:cNvSpPr>
          <p:nvPr/>
        </p:nvSpPr>
        <p:spPr>
          <a:xfrm>
            <a:off x="640080" y="1142999"/>
            <a:ext cx="6400800" cy="5217543"/>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285750" indent="-285750">
              <a:lnSpc>
                <a:spcPct val="100000"/>
              </a:lnSpc>
              <a:spcAft>
                <a:spcPts val="700"/>
              </a:spcAft>
              <a:buFont typeface="Arial" panose="020B0604020202020204" pitchFamily="34" charset="0"/>
              <a:buChar char="•"/>
              <a:defRPr sz="1440">
                <a:solidFill>
                  <a:srgbClr val="1A233A"/>
                </a:solidFill>
                <a:latin typeface="Aptos"/>
                <a:ea typeface="Aptos"/>
                <a:cs typeface="Aptos"/>
              </a:defRPr>
            </a:pPr>
            <a:r>
              <a:rPr dirty="0"/>
              <a:t>The course distinguishes between geographic inference profiles and global inference profiles for Cross-Region Inference.</a:t>
            </a:r>
          </a:p>
          <a:p>
            <a:pPr marL="285750" indent="-285750">
              <a:lnSpc>
                <a:spcPct val="100000"/>
              </a:lnSpc>
              <a:spcAft>
                <a:spcPts val="700"/>
              </a:spcAft>
              <a:buFont typeface="Arial" panose="020B0604020202020204" pitchFamily="34" charset="0"/>
              <a:buChar char="•"/>
              <a:defRPr sz="1440">
                <a:solidFill>
                  <a:srgbClr val="1A233A"/>
                </a:solidFill>
                <a:latin typeface="Aptos"/>
                <a:ea typeface="Aptos"/>
                <a:cs typeface="Aptos"/>
              </a:defRPr>
            </a:pPr>
            <a:r>
              <a:rPr dirty="0"/>
              <a:t>A geographic inference profile is designed to route inference within the supported Regions associated with a particular geographic area.</a:t>
            </a:r>
          </a:p>
          <a:p>
            <a:pPr marL="285750" indent="-285750">
              <a:lnSpc>
                <a:spcPct val="100000"/>
              </a:lnSpc>
              <a:spcAft>
                <a:spcPts val="700"/>
              </a:spcAft>
              <a:buFont typeface="Arial" panose="020B0604020202020204" pitchFamily="34" charset="0"/>
              <a:buChar char="•"/>
              <a:defRPr sz="1440">
                <a:solidFill>
                  <a:srgbClr val="1A233A"/>
                </a:solidFill>
                <a:latin typeface="Aptos"/>
                <a:ea typeface="Aptos"/>
                <a:cs typeface="Aptos"/>
              </a:defRPr>
            </a:pPr>
            <a:r>
              <a:rPr dirty="0"/>
              <a:t>A global inference profile can use a broader set of supported AWS Regions to find available inference capacity.</a:t>
            </a:r>
          </a:p>
          <a:p>
            <a:pPr marL="285750" indent="-285750">
              <a:lnSpc>
                <a:spcPct val="100000"/>
              </a:lnSpc>
              <a:spcAft>
                <a:spcPts val="700"/>
              </a:spcAft>
              <a:buFont typeface="Arial" panose="020B0604020202020204" pitchFamily="34" charset="0"/>
              <a:buChar char="•"/>
              <a:defRPr sz="1440">
                <a:solidFill>
                  <a:srgbClr val="1A233A"/>
                </a:solidFill>
                <a:latin typeface="Aptos"/>
                <a:ea typeface="Aptos"/>
                <a:cs typeface="Aptos"/>
              </a:defRPr>
            </a:pPr>
            <a:r>
              <a:rPr dirty="0"/>
              <a:t>The choice depends on the organization’s architecture, capacity requirements, and restrictions on where workloads are allowed to run.</a:t>
            </a:r>
          </a:p>
          <a:p>
            <a:pPr marL="285750" indent="-285750">
              <a:lnSpc>
                <a:spcPct val="100000"/>
              </a:lnSpc>
              <a:spcAft>
                <a:spcPts val="700"/>
              </a:spcAft>
              <a:buFont typeface="Arial" panose="020B0604020202020204" pitchFamily="34" charset="0"/>
              <a:buChar char="•"/>
              <a:defRPr sz="1440">
                <a:solidFill>
                  <a:srgbClr val="1A233A"/>
                </a:solidFill>
                <a:latin typeface="Aptos"/>
                <a:ea typeface="Aptos"/>
                <a:cs typeface="Aptos"/>
              </a:defRPr>
            </a:pPr>
            <a:r>
              <a:rPr dirty="0"/>
              <a:t>AWS organization controls such as Service Control Policies, or SCPs, also need to allow the Regions required by the inference profile.</a:t>
            </a:r>
          </a:p>
          <a:p>
            <a:pPr marL="285750" indent="-285750">
              <a:lnSpc>
                <a:spcPct val="100000"/>
              </a:lnSpc>
              <a:spcAft>
                <a:spcPts val="700"/>
              </a:spcAft>
              <a:buFont typeface="Arial" panose="020B0604020202020204" pitchFamily="34" charset="0"/>
              <a:buChar char="•"/>
              <a:defRPr sz="1440">
                <a:solidFill>
                  <a:srgbClr val="1A233A"/>
                </a:solidFill>
                <a:latin typeface="Aptos"/>
                <a:ea typeface="Aptos"/>
                <a:cs typeface="Aptos"/>
              </a:defRPr>
            </a:pPr>
            <a:r>
              <a:rPr dirty="0"/>
              <a:t>If an organization blocks one of the required Regions, Cross-Region Inference may not work as expected.</a:t>
            </a:r>
          </a:p>
        </p:txBody>
      </p:sp>
      <p:sp>
        <p:nvSpPr>
          <p:cNvPr id="7" name="Rounded Rectangle 6">
            <a:extLst>
              <a:ext uri="{FF2B5EF4-FFF2-40B4-BE49-F238E27FC236}">
                <a16:creationId xmlns:a16="http://schemas.microsoft.com/office/drawing/2014/main" id="{06C8E759-B527-4DAD-A0B5-0614751FB47B}"/>
              </a:ext>
            </a:extLst>
          </p:cNvPr>
          <p:cNvSpPr>
            <a:spLocks noGrp="1"/>
          </p:cNvSpPr>
          <p:nvPr/>
        </p:nvSpPr>
        <p:spPr>
          <a:xfrm>
            <a:off x="7315200" y="1371600"/>
            <a:ext cx="4114800" cy="1463040"/>
          </a:xfrm>
          <a:prstGeom prst="roundRect">
            <a:avLst/>
          </a:prstGeom>
          <a:solidFill>
            <a:srgbClr val="FCF1E5"/>
          </a:solidFill>
          <a:ln w="17780">
            <a:solidFill>
              <a:srgbClr val="E6893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400" b="1" dirty="0">
                <a:solidFill>
                  <a:srgbClr val="E6893A"/>
                </a:solidFill>
                <a:latin typeface="Aptos"/>
                <a:ea typeface="Aptos"/>
                <a:cs typeface="Aptos"/>
              </a:rPr>
              <a:t>Geographic Profile</a:t>
            </a:r>
          </a:p>
          <a:p>
            <a:pPr>
              <a:spcBef>
                <a:spcPts val="300"/>
              </a:spcBef>
            </a:pPr>
            <a:r>
              <a:rPr sz="1400" dirty="0">
                <a:solidFill>
                  <a:srgbClr val="1A233A"/>
                </a:solidFill>
                <a:latin typeface="Aptos"/>
                <a:ea typeface="Aptos"/>
                <a:cs typeface="Aptos"/>
              </a:rPr>
              <a:t>Routes within supported Regions associated with a geographic area.</a:t>
            </a:r>
          </a:p>
        </p:txBody>
      </p:sp>
      <p:sp>
        <p:nvSpPr>
          <p:cNvPr id="8" name="Rounded Rectangle 7">
            <a:extLst>
              <a:ext uri="{FF2B5EF4-FFF2-40B4-BE49-F238E27FC236}">
                <a16:creationId xmlns:a16="http://schemas.microsoft.com/office/drawing/2014/main" id="{FBA7000E-B0A5-4686-8AA0-AEB7C24C8628}"/>
              </a:ext>
            </a:extLst>
          </p:cNvPr>
          <p:cNvSpPr>
            <a:spLocks noGrp="1"/>
          </p:cNvSpPr>
          <p:nvPr/>
        </p:nvSpPr>
        <p:spPr>
          <a:xfrm>
            <a:off x="7315200" y="3154680"/>
            <a:ext cx="4114800" cy="1463040"/>
          </a:xfrm>
          <a:prstGeom prst="roundRect">
            <a:avLst/>
          </a:prstGeom>
          <a:solidFill>
            <a:srgbClr val="E8EFFC"/>
          </a:solidFill>
          <a:ln w="17780">
            <a:solidFill>
              <a:srgbClr val="3D72D5"/>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400" b="1">
                <a:solidFill>
                  <a:srgbClr val="3D72D5"/>
                </a:solidFill>
                <a:latin typeface="Aptos"/>
                <a:ea typeface="Aptos"/>
                <a:cs typeface="Aptos"/>
              </a:rPr>
              <a:t>Global Profile</a:t>
            </a:r>
          </a:p>
          <a:p>
            <a:pPr>
              <a:spcBef>
                <a:spcPts val="300"/>
              </a:spcBef>
            </a:pPr>
            <a:r>
              <a:rPr sz="1400">
                <a:solidFill>
                  <a:srgbClr val="1A233A"/>
                </a:solidFill>
                <a:latin typeface="Aptos"/>
                <a:ea typeface="Aptos"/>
                <a:cs typeface="Aptos"/>
              </a:rPr>
              <a:t>Can use a broader set of supported AWS Regions to find available inference capacity.</a:t>
            </a:r>
          </a:p>
        </p:txBody>
      </p:sp>
      <p:sp>
        <p:nvSpPr>
          <p:cNvPr id="9" name="Rounded Rectangle 8">
            <a:extLst>
              <a:ext uri="{FF2B5EF4-FFF2-40B4-BE49-F238E27FC236}">
                <a16:creationId xmlns:a16="http://schemas.microsoft.com/office/drawing/2014/main" id="{453CDDD4-3E32-4042-921D-057564A856F7}"/>
              </a:ext>
            </a:extLst>
          </p:cNvPr>
          <p:cNvSpPr>
            <a:spLocks noGrp="1"/>
          </p:cNvSpPr>
          <p:nvPr/>
        </p:nvSpPr>
        <p:spPr>
          <a:xfrm>
            <a:off x="7315200" y="4937760"/>
            <a:ext cx="4114800" cy="1051560"/>
          </a:xfrm>
          <a:prstGeom prst="roundRect">
            <a:avLst/>
          </a:prstGeom>
          <a:solidFill>
            <a:srgbClr val="FCF1E5"/>
          </a:solidFill>
          <a:ln w="17780">
            <a:solidFill>
              <a:srgbClr val="E6893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320" b="1">
                <a:solidFill>
                  <a:srgbClr val="E6893A"/>
                </a:solidFill>
                <a:latin typeface="Aptos"/>
                <a:ea typeface="Aptos"/>
                <a:cs typeface="Aptos"/>
              </a:rPr>
              <a:t>Main Lesson:</a:t>
            </a:r>
          </a:p>
          <a:p>
            <a:pPr>
              <a:spcBef>
                <a:spcPts val="300"/>
              </a:spcBef>
            </a:pPr>
            <a:r>
              <a:rPr sz="1320">
                <a:solidFill>
                  <a:srgbClr val="1A233A"/>
                </a:solidFill>
                <a:latin typeface="Aptos"/>
                <a:ea typeface="Aptos"/>
                <a:cs typeface="Aptos"/>
              </a:rPr>
              <a:t>Cross-Region Inference improves flexibility, but the organization’s Region and security policies still matter.</a:t>
            </a:r>
          </a:p>
        </p:txBody>
      </p:sp>
      <p:sp>
        <p:nvSpPr>
          <p:cNvPr id="10" name="TextBox 9">
            <a:extLst>
              <a:ext uri="{FF2B5EF4-FFF2-40B4-BE49-F238E27FC236}">
                <a16:creationId xmlns:a16="http://schemas.microsoft.com/office/drawing/2014/main" id="{6CFC9437-B5A0-414A-9848-5392C8D843F1}"/>
              </a:ext>
            </a:extLst>
          </p:cNvPr>
          <p:cNvSpPr>
            <a:spLocks noGrp="1"/>
          </p:cNvSpPr>
          <p:nvPr/>
        </p:nvSpPr>
        <p:spPr>
          <a:xfrm>
            <a:off x="594360" y="6519672"/>
            <a:ext cx="10972800" cy="228600"/>
          </a:xfrm>
          <a:prstGeom prst="rect">
            <a:avLst/>
          </a:prstGeom>
          <a:noFill/>
        </p:spPr>
        <p:txBody>
          <a:bodyPr wrap="none">
            <a:spAutoFit/>
          </a:bodyPr>
          <a:lstStyle/>
          <a:p>
            <a:pPr algn="r">
              <a:buNone/>
            </a:pPr>
            <a:r>
              <a:rPr sz="850" dirty="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677504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E3317A-D9ED-4909-AE17-61C1DD19322B}"/>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E47ACA6-8755-42FC-8531-4FCFE980E012}"/>
              </a:ext>
            </a:extLst>
          </p:cNvPr>
          <p:cNvSpPr>
            <a:spLocks noGrp="1"/>
          </p:cNvSpPr>
          <p:nvPr/>
        </p:nvSpPr>
        <p:spPr>
          <a:xfrm>
            <a:off x="0" y="0"/>
            <a:ext cx="12191695" cy="109728"/>
          </a:xfrm>
          <a:prstGeom prst="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8952456-0FCA-47D1-9D6F-E4619AB86E17}"/>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Putting Everything Together</a:t>
            </a:r>
          </a:p>
        </p:txBody>
      </p:sp>
      <p:sp>
        <p:nvSpPr>
          <p:cNvPr id="5" name="Rounded Rectangle 4">
            <a:extLst>
              <a:ext uri="{FF2B5EF4-FFF2-40B4-BE49-F238E27FC236}">
                <a16:creationId xmlns:a16="http://schemas.microsoft.com/office/drawing/2014/main" id="{23D34D99-2808-4AAE-B9A2-A5AACE5E2BAC}"/>
              </a:ext>
            </a:extLst>
          </p:cNvPr>
          <p:cNvSpPr>
            <a:spLocks noGrp="1"/>
          </p:cNvSpPr>
          <p:nvPr/>
        </p:nvSpPr>
        <p:spPr>
          <a:xfrm>
            <a:off x="11109960" y="274320"/>
            <a:ext cx="502920" cy="438912"/>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15</a:t>
            </a:r>
          </a:p>
        </p:txBody>
      </p:sp>
      <p:sp>
        <p:nvSpPr>
          <p:cNvPr id="6" name="Rounded Rectangle 5">
            <a:extLst>
              <a:ext uri="{FF2B5EF4-FFF2-40B4-BE49-F238E27FC236}">
                <a16:creationId xmlns:a16="http://schemas.microsoft.com/office/drawing/2014/main" id="{051140C4-5E12-46B2-8C25-FE855738EB4A}"/>
              </a:ext>
            </a:extLst>
          </p:cNvPr>
          <p:cNvSpPr>
            <a:spLocks noGrp="1"/>
          </p:cNvSpPr>
          <p:nvPr/>
        </p:nvSpPr>
        <p:spPr>
          <a:xfrm>
            <a:off x="640080" y="950976"/>
            <a:ext cx="10972800" cy="914400"/>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buNone/>
            </a:pPr>
            <a:r>
              <a:rPr sz="1450" b="1" dirty="0">
                <a:solidFill>
                  <a:srgbClr val="5B4CBA"/>
                </a:solidFill>
                <a:latin typeface="Aptos"/>
                <a:ea typeface="Aptos"/>
                <a:cs typeface="Aptos"/>
              </a:rPr>
              <a:t>Imagine a company builds an AI support application that receives thousands of user questions.</a:t>
            </a:r>
          </a:p>
          <a:p>
            <a:r>
              <a:rPr sz="1450" dirty="0">
                <a:solidFill>
                  <a:srgbClr val="1A233A"/>
                </a:solidFill>
                <a:latin typeface="Aptos"/>
                <a:ea typeface="Aptos"/>
                <a:cs typeface="Aptos"/>
              </a:rPr>
              <a:t>A responsive and resilient design could work like this:</a:t>
            </a:r>
          </a:p>
        </p:txBody>
      </p:sp>
      <p:sp>
        <p:nvSpPr>
          <p:cNvPr id="7" name="Rounded Rectangle 6">
            <a:extLst>
              <a:ext uri="{FF2B5EF4-FFF2-40B4-BE49-F238E27FC236}">
                <a16:creationId xmlns:a16="http://schemas.microsoft.com/office/drawing/2014/main" id="{39F1BC6E-0F03-472B-B884-550191B309AC}"/>
              </a:ext>
            </a:extLst>
          </p:cNvPr>
          <p:cNvSpPr>
            <a:spLocks noGrp="1"/>
          </p:cNvSpPr>
          <p:nvPr/>
        </p:nvSpPr>
        <p:spPr>
          <a:xfrm>
            <a:off x="640080" y="2240280"/>
            <a:ext cx="6035040" cy="356616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fontScale="85000" lnSpcReduction="10000"/>
          </a:bodyPr>
          <a:lstStyle/>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The application keeps prompts focused and retrieves only the most relevant context.</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Independent retrieval or processing tasks can run in parallel when possible.</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Streaming starts returning the response before the entire answer is generated.</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Retrieval indexes and query preprocessing help the RAG system find useful information efficiently.</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Model parameters are selected and tested based on the type of response the application needs.</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If a temporary service error occurs, exponential backoff and jitter control the retry process.</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Connection pooling reuses network connections for frequent service calls.</a:t>
            </a:r>
          </a:p>
          <a:p>
            <a:pPr marL="285750" indent="-285750">
              <a:lnSpc>
                <a:spcPct val="100000"/>
              </a:lnSpc>
              <a:spcAft>
                <a:spcPts val="700"/>
              </a:spcAft>
              <a:buFont typeface="Arial" panose="020B0604020202020204" pitchFamily="34" charset="0"/>
              <a:buChar char="•"/>
              <a:defRPr sz="1360">
                <a:solidFill>
                  <a:srgbClr val="1A233A"/>
                </a:solidFill>
                <a:latin typeface="Aptos"/>
                <a:ea typeface="Aptos"/>
                <a:cs typeface="Aptos"/>
              </a:defRPr>
            </a:pPr>
            <a:r>
              <a:rPr dirty="0"/>
              <a:t>Bedrock Cross-Region Inference provides access to supported model capacity across Regions when needed.</a:t>
            </a:r>
          </a:p>
        </p:txBody>
      </p:sp>
      <p:sp>
        <p:nvSpPr>
          <p:cNvPr id="8" name="Rounded Rectangle 7">
            <a:extLst>
              <a:ext uri="{FF2B5EF4-FFF2-40B4-BE49-F238E27FC236}">
                <a16:creationId xmlns:a16="http://schemas.microsoft.com/office/drawing/2014/main" id="{03D18045-9E87-4FB2-A559-9B573FEF2DB7}"/>
              </a:ext>
            </a:extLst>
          </p:cNvPr>
          <p:cNvSpPr>
            <a:spLocks noGrp="1"/>
          </p:cNvSpPr>
          <p:nvPr/>
        </p:nvSpPr>
        <p:spPr>
          <a:xfrm>
            <a:off x="6995160" y="2148840"/>
            <a:ext cx="4343400" cy="457200"/>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150" b="1">
                <a:solidFill>
                  <a:srgbClr val="FFFFFF"/>
                </a:solidFill>
                <a:latin typeface="Aptos"/>
                <a:ea typeface="Aptos"/>
                <a:cs typeface="Aptos"/>
              </a:rPr>
              <a:t>User Request</a:t>
            </a:r>
          </a:p>
        </p:txBody>
      </p:sp>
      <p:sp>
        <p:nvSpPr>
          <p:cNvPr id="9" name="Connector 8">
            <a:extLst>
              <a:ext uri="{FF2B5EF4-FFF2-40B4-BE49-F238E27FC236}">
                <a16:creationId xmlns:a16="http://schemas.microsoft.com/office/drawing/2014/main" id="{497A711C-5922-4073-B14D-1C350602374A}"/>
              </a:ext>
            </a:extLst>
          </p:cNvPr>
          <p:cNvSpPr>
            <a:spLocks noGrp="1"/>
          </p:cNvSpPr>
          <p:nvPr/>
        </p:nvSpPr>
        <p:spPr>
          <a:xfrm>
            <a:off x="9144000" y="2606040"/>
            <a:ext cx="0" cy="128016"/>
          </a:xfrm>
          <a:prstGeom prst="line">
            <a:avLst/>
          </a:prstGeom>
          <a:ln w="1524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0" name="Rounded Rectangle 9">
            <a:extLst>
              <a:ext uri="{FF2B5EF4-FFF2-40B4-BE49-F238E27FC236}">
                <a16:creationId xmlns:a16="http://schemas.microsoft.com/office/drawing/2014/main" id="{F1967776-1AA5-4851-B366-BC5C2737BB5B}"/>
              </a:ext>
            </a:extLst>
          </p:cNvPr>
          <p:cNvSpPr>
            <a:spLocks noGrp="1"/>
          </p:cNvSpPr>
          <p:nvPr/>
        </p:nvSpPr>
        <p:spPr>
          <a:xfrm>
            <a:off x="6995160" y="2770632"/>
            <a:ext cx="4343400" cy="457200"/>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150" b="1">
                <a:solidFill>
                  <a:srgbClr val="FFFFFF"/>
                </a:solidFill>
                <a:latin typeface="Aptos"/>
                <a:ea typeface="Aptos"/>
                <a:cs typeface="Aptos"/>
              </a:rPr>
              <a:t>Focused Prompt + Optimized Retrieval</a:t>
            </a:r>
          </a:p>
        </p:txBody>
      </p:sp>
      <p:sp>
        <p:nvSpPr>
          <p:cNvPr id="11" name="Connector 10">
            <a:extLst>
              <a:ext uri="{FF2B5EF4-FFF2-40B4-BE49-F238E27FC236}">
                <a16:creationId xmlns:a16="http://schemas.microsoft.com/office/drawing/2014/main" id="{AA1CB616-304E-4BF6-9BD9-74EDC3BF3B86}"/>
              </a:ext>
            </a:extLst>
          </p:cNvPr>
          <p:cNvSpPr>
            <a:spLocks noGrp="1"/>
          </p:cNvSpPr>
          <p:nvPr/>
        </p:nvSpPr>
        <p:spPr>
          <a:xfrm>
            <a:off x="9144000" y="3227832"/>
            <a:ext cx="0" cy="128016"/>
          </a:xfrm>
          <a:prstGeom prst="line">
            <a:avLst/>
          </a:prstGeom>
          <a:ln w="1524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2" name="Rounded Rectangle 11">
            <a:extLst>
              <a:ext uri="{FF2B5EF4-FFF2-40B4-BE49-F238E27FC236}">
                <a16:creationId xmlns:a16="http://schemas.microsoft.com/office/drawing/2014/main" id="{9C475E4D-02D1-441E-A38C-E2940D5FA114}"/>
              </a:ext>
            </a:extLst>
          </p:cNvPr>
          <p:cNvSpPr>
            <a:spLocks noGrp="1"/>
          </p:cNvSpPr>
          <p:nvPr/>
        </p:nvSpPr>
        <p:spPr>
          <a:xfrm>
            <a:off x="6995160" y="3392424"/>
            <a:ext cx="4343400" cy="457200"/>
          </a:xfrm>
          <a:prstGeom prst="roundRect">
            <a:avLst/>
          </a:prstGeom>
          <a:solidFill>
            <a:srgbClr val="5B4CB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150" b="1">
                <a:solidFill>
                  <a:srgbClr val="FFFFFF"/>
                </a:solidFill>
                <a:latin typeface="Aptos"/>
                <a:ea typeface="Aptos"/>
                <a:cs typeface="Aptos"/>
              </a:rPr>
              <a:t>Parallel Processing Where Possible</a:t>
            </a:r>
          </a:p>
        </p:txBody>
      </p:sp>
      <p:sp>
        <p:nvSpPr>
          <p:cNvPr id="13" name="Connector 12">
            <a:extLst>
              <a:ext uri="{FF2B5EF4-FFF2-40B4-BE49-F238E27FC236}">
                <a16:creationId xmlns:a16="http://schemas.microsoft.com/office/drawing/2014/main" id="{58F7978B-0F32-4184-A6E5-A0F099ED3F71}"/>
              </a:ext>
            </a:extLst>
          </p:cNvPr>
          <p:cNvSpPr>
            <a:spLocks noGrp="1"/>
          </p:cNvSpPr>
          <p:nvPr/>
        </p:nvSpPr>
        <p:spPr>
          <a:xfrm>
            <a:off x="9144000" y="3849624"/>
            <a:ext cx="0" cy="128015"/>
          </a:xfrm>
          <a:prstGeom prst="line">
            <a:avLst/>
          </a:prstGeom>
          <a:ln w="1524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4" name="Rounded Rectangle 13">
            <a:extLst>
              <a:ext uri="{FF2B5EF4-FFF2-40B4-BE49-F238E27FC236}">
                <a16:creationId xmlns:a16="http://schemas.microsoft.com/office/drawing/2014/main" id="{BC8D37FE-21BC-474A-8B58-C3BCEF86F57F}"/>
              </a:ext>
            </a:extLst>
          </p:cNvPr>
          <p:cNvSpPr>
            <a:spLocks noGrp="1"/>
          </p:cNvSpPr>
          <p:nvPr/>
        </p:nvSpPr>
        <p:spPr>
          <a:xfrm>
            <a:off x="6995160" y="4014216"/>
            <a:ext cx="4343400" cy="457200"/>
          </a:xfrm>
          <a:prstGeom prst="roundRect">
            <a:avLst/>
          </a:prstGeom>
          <a:solidFill>
            <a:srgbClr val="E6893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150" b="1">
                <a:solidFill>
                  <a:srgbClr val="FFFFFF"/>
                </a:solidFill>
                <a:latin typeface="Aptos"/>
                <a:ea typeface="Aptos"/>
                <a:cs typeface="Aptos"/>
              </a:rPr>
              <a:t>Bedrock Inference / Cross-Region Capacity</a:t>
            </a:r>
          </a:p>
        </p:txBody>
      </p:sp>
      <p:sp>
        <p:nvSpPr>
          <p:cNvPr id="15" name="Connector 14">
            <a:extLst>
              <a:ext uri="{FF2B5EF4-FFF2-40B4-BE49-F238E27FC236}">
                <a16:creationId xmlns:a16="http://schemas.microsoft.com/office/drawing/2014/main" id="{D322550B-C844-48B1-87F1-7DAA93A6A7AC}"/>
              </a:ext>
            </a:extLst>
          </p:cNvPr>
          <p:cNvSpPr>
            <a:spLocks noGrp="1"/>
          </p:cNvSpPr>
          <p:nvPr/>
        </p:nvSpPr>
        <p:spPr>
          <a:xfrm>
            <a:off x="9144000" y="4471416"/>
            <a:ext cx="0" cy="128016"/>
          </a:xfrm>
          <a:prstGeom prst="line">
            <a:avLst/>
          </a:prstGeom>
          <a:ln w="1524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6" name="Rounded Rectangle 15">
            <a:extLst>
              <a:ext uri="{FF2B5EF4-FFF2-40B4-BE49-F238E27FC236}">
                <a16:creationId xmlns:a16="http://schemas.microsoft.com/office/drawing/2014/main" id="{448A6E9C-B5C9-4A38-B734-25B1553FA889}"/>
              </a:ext>
            </a:extLst>
          </p:cNvPr>
          <p:cNvSpPr>
            <a:spLocks noGrp="1"/>
          </p:cNvSpPr>
          <p:nvPr/>
        </p:nvSpPr>
        <p:spPr>
          <a:xfrm>
            <a:off x="6995160" y="4636008"/>
            <a:ext cx="4343400" cy="457200"/>
          </a:xfrm>
          <a:prstGeom prst="roundRect">
            <a:avLst/>
          </a:prstGeom>
          <a:solidFill>
            <a:srgbClr val="3D72D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150" b="1">
                <a:solidFill>
                  <a:srgbClr val="FFFFFF"/>
                </a:solidFill>
                <a:latin typeface="Aptos"/>
                <a:ea typeface="Aptos"/>
                <a:cs typeface="Aptos"/>
              </a:rPr>
              <a:t>Streaming Response</a:t>
            </a:r>
          </a:p>
        </p:txBody>
      </p:sp>
      <p:sp>
        <p:nvSpPr>
          <p:cNvPr id="17" name="Connector 16">
            <a:extLst>
              <a:ext uri="{FF2B5EF4-FFF2-40B4-BE49-F238E27FC236}">
                <a16:creationId xmlns:a16="http://schemas.microsoft.com/office/drawing/2014/main" id="{253A1ED9-19B9-42E4-B935-858133975075}"/>
              </a:ext>
            </a:extLst>
          </p:cNvPr>
          <p:cNvSpPr>
            <a:spLocks noGrp="1"/>
          </p:cNvSpPr>
          <p:nvPr/>
        </p:nvSpPr>
        <p:spPr>
          <a:xfrm>
            <a:off x="9144000" y="5093208"/>
            <a:ext cx="0" cy="128016"/>
          </a:xfrm>
          <a:prstGeom prst="line">
            <a:avLst/>
          </a:prstGeom>
          <a:ln w="15240">
            <a:solidFill>
              <a:srgbClr val="5B4CBA"/>
            </a:solidFill>
          </a:ln>
        </p:spPr>
        <p:style>
          <a:lnRef idx="2">
            <a:schemeClr val="accent1"/>
          </a:lnRef>
          <a:fillRef idx="0">
            <a:schemeClr val="accent1"/>
          </a:fillRef>
          <a:effectRef idx="1">
            <a:schemeClr val="accent1"/>
          </a:effectRef>
          <a:fontRef idx="minor">
            <a:schemeClr val="tx1"/>
          </a:fontRef>
        </p:style>
        <p:txBody>
          <a:bodyPr/>
          <a:lstStyle/>
          <a:p>
            <a:endParaRPr lang="en-IN"/>
          </a:p>
        </p:txBody>
      </p:sp>
      <p:sp>
        <p:nvSpPr>
          <p:cNvPr id="18" name="Rounded Rectangle 17">
            <a:extLst>
              <a:ext uri="{FF2B5EF4-FFF2-40B4-BE49-F238E27FC236}">
                <a16:creationId xmlns:a16="http://schemas.microsoft.com/office/drawing/2014/main" id="{BFA3029E-BFB3-41C8-8957-6845D85666E5}"/>
              </a:ext>
            </a:extLst>
          </p:cNvPr>
          <p:cNvSpPr>
            <a:spLocks noGrp="1"/>
          </p:cNvSpPr>
          <p:nvPr/>
        </p:nvSpPr>
        <p:spPr>
          <a:xfrm>
            <a:off x="6995160" y="5257800"/>
            <a:ext cx="4343400" cy="457200"/>
          </a:xfrm>
          <a:prstGeom prst="roundRect">
            <a:avLst/>
          </a:prstGeom>
          <a:solidFill>
            <a:srgbClr val="C94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150" b="1">
                <a:solidFill>
                  <a:srgbClr val="FFFFFF"/>
                </a:solidFill>
                <a:latin typeface="Aptos"/>
                <a:ea typeface="Aptos"/>
                <a:cs typeface="Aptos"/>
              </a:rPr>
              <a:t>Retry Safely if Temporary Failure Occurs</a:t>
            </a:r>
          </a:p>
        </p:txBody>
      </p:sp>
      <p:sp>
        <p:nvSpPr>
          <p:cNvPr id="19" name="Rounded Rectangle 18">
            <a:extLst>
              <a:ext uri="{FF2B5EF4-FFF2-40B4-BE49-F238E27FC236}">
                <a16:creationId xmlns:a16="http://schemas.microsoft.com/office/drawing/2014/main" id="{C800313D-D485-4CF5-A68A-0DB445653457}"/>
              </a:ext>
            </a:extLst>
          </p:cNvPr>
          <p:cNvSpPr>
            <a:spLocks noGrp="1"/>
          </p:cNvSpPr>
          <p:nvPr/>
        </p:nvSpPr>
        <p:spPr>
          <a:xfrm>
            <a:off x="640081" y="5907024"/>
            <a:ext cx="6192040" cy="630936"/>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150" b="1" dirty="0">
                <a:solidFill>
                  <a:srgbClr val="5B4CBA"/>
                </a:solidFill>
                <a:latin typeface="Aptos"/>
                <a:ea typeface="Aptos"/>
                <a:cs typeface="Aptos"/>
              </a:rPr>
              <a:t>Main Idea:</a:t>
            </a:r>
          </a:p>
          <a:p>
            <a:pPr>
              <a:spcBef>
                <a:spcPts val="300"/>
              </a:spcBef>
            </a:pPr>
            <a:r>
              <a:rPr sz="1150" dirty="0">
                <a:solidFill>
                  <a:srgbClr val="1A233A"/>
                </a:solidFill>
                <a:latin typeface="Aptos"/>
                <a:ea typeface="Aptos"/>
                <a:cs typeface="Aptos"/>
              </a:rPr>
              <a:t>Responsiveness and resilience come from improving the complete application, not from changing only the Foundation Model.</a:t>
            </a:r>
          </a:p>
        </p:txBody>
      </p:sp>
      <p:sp>
        <p:nvSpPr>
          <p:cNvPr id="20" name="TextBox 19">
            <a:extLst>
              <a:ext uri="{FF2B5EF4-FFF2-40B4-BE49-F238E27FC236}">
                <a16:creationId xmlns:a16="http://schemas.microsoft.com/office/drawing/2014/main" id="{560AC08D-FBA0-46B2-88EB-E41BC9E10383}"/>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24061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876894-6839-4CB4-A3D8-56F0B3366CDB}"/>
              </a:ext>
            </a:extLst>
          </p:cNvPr>
          <p:cNvSpPr>
            <a:spLocks noGrp="1"/>
          </p:cNvSpPr>
          <p:nvPr/>
        </p:nvSpPr>
        <p:spPr>
          <a:xfrm>
            <a:off x="0" y="0"/>
            <a:ext cx="12191695"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4B2947E2-37DC-4B84-B0BD-B8B82C9216AD}"/>
              </a:ext>
            </a:extLst>
          </p:cNvPr>
          <p:cNvSpPr>
            <a:spLocks noGrp="1"/>
          </p:cNvSpPr>
          <p:nvPr/>
        </p:nvSpPr>
        <p:spPr>
          <a:xfrm>
            <a:off x="0" y="0"/>
            <a:ext cx="12191695" cy="109728"/>
          </a:xfrm>
          <a:prstGeom prst="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E0D4622-0535-47B0-9AA0-37D638049D35}"/>
              </a:ext>
            </a:extLst>
          </p:cNvPr>
          <p:cNvSpPr>
            <a:spLocks noGrp="1"/>
          </p:cNvSpPr>
          <p:nvPr/>
        </p:nvSpPr>
        <p:spPr>
          <a:xfrm>
            <a:off x="594360" y="320040"/>
            <a:ext cx="10698480" cy="594360"/>
          </a:xfrm>
          <a:prstGeom prst="rect">
            <a:avLst/>
          </a:prstGeom>
          <a:noFill/>
        </p:spPr>
        <p:txBody>
          <a:bodyPr wrap="none">
            <a:spAutoFit/>
          </a:bodyPr>
          <a:lstStyle/>
          <a:p>
            <a:r>
              <a:rPr sz="2800" b="1">
                <a:solidFill>
                  <a:srgbClr val="1A233A"/>
                </a:solidFill>
                <a:latin typeface="Aptos Display"/>
                <a:ea typeface="Aptos Display"/>
                <a:cs typeface="Aptos Display"/>
              </a:rPr>
              <a:t>Key Takeaways &amp; Thank You</a:t>
            </a:r>
          </a:p>
        </p:txBody>
      </p:sp>
      <p:sp>
        <p:nvSpPr>
          <p:cNvPr id="5" name="Rounded Rectangle 4">
            <a:extLst>
              <a:ext uri="{FF2B5EF4-FFF2-40B4-BE49-F238E27FC236}">
                <a16:creationId xmlns:a16="http://schemas.microsoft.com/office/drawing/2014/main" id="{D94C97F9-D36B-46B5-8938-8CC1162F4458}"/>
              </a:ext>
            </a:extLst>
          </p:cNvPr>
          <p:cNvSpPr>
            <a:spLocks noGrp="1"/>
          </p:cNvSpPr>
          <p:nvPr/>
        </p:nvSpPr>
        <p:spPr>
          <a:xfrm>
            <a:off x="11109960" y="274320"/>
            <a:ext cx="502920" cy="438912"/>
          </a:xfrm>
          <a:prstGeom prst="roundRect">
            <a:avLst/>
          </a:prstGeom>
          <a:solidFill>
            <a:srgbClr val="18929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Aptos"/>
                <a:ea typeface="Aptos"/>
                <a:cs typeface="Aptos"/>
              </a:rPr>
              <a:t>16</a:t>
            </a:r>
          </a:p>
        </p:txBody>
      </p:sp>
      <p:sp>
        <p:nvSpPr>
          <p:cNvPr id="6" name="Rounded Rectangle 5">
            <a:extLst>
              <a:ext uri="{FF2B5EF4-FFF2-40B4-BE49-F238E27FC236}">
                <a16:creationId xmlns:a16="http://schemas.microsoft.com/office/drawing/2014/main" id="{672B9B59-3E57-4CF8-8650-AA2A3DAD6D12}"/>
              </a:ext>
            </a:extLst>
          </p:cNvPr>
          <p:cNvSpPr>
            <a:spLocks noGrp="1"/>
          </p:cNvSpPr>
          <p:nvPr/>
        </p:nvSpPr>
        <p:spPr>
          <a:xfrm>
            <a:off x="502920" y="1051560"/>
            <a:ext cx="6812280" cy="5120640"/>
          </a:xfrm>
          <a:prstGeom prst="roundRect">
            <a:avLst/>
          </a:prstGeom>
          <a:solidFill>
            <a:srgbClr val="FFFFFF"/>
          </a:solidFill>
          <a:ln w="12700">
            <a:solidFill>
              <a:srgbClr val="D7DCE7"/>
            </a:solidFill>
          </a:ln>
        </p:spPr>
        <p:style>
          <a:lnRef idx="1">
            <a:schemeClr val="accent1"/>
          </a:lnRef>
          <a:fillRef idx="3">
            <a:schemeClr val="accent1"/>
          </a:fillRef>
          <a:effectRef idx="2">
            <a:schemeClr val="accent1"/>
          </a:effectRef>
          <a:fontRef idx="minor">
            <a:schemeClr val="lt1"/>
          </a:fontRef>
        </p:style>
        <p:txBody>
          <a:bodyPr wrap="square" lIns="201168" tIns="137160" rIns="201168" bIns="109728" anchor="ctr">
            <a:normAutofit/>
          </a:bodyPr>
          <a:lstStyle/>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Responsive systems reduce unnecessary waiting by improving how tasks are organized and executed.</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Independent work can sometimes run in parallel instead of always executing sequentially.</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Streaming allows users to begin receiving model output earlier, and TTFT helps measure that experience.</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Focused prompts and context pruning can improve both efficiency and responsiveness.</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RAG performance depends on the retrieval pipeline as well as the Foundation Model.</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Query preprocessing, filtering, and hybrid search can improve retrieval quality.</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Parameters such as temperature, </a:t>
            </a:r>
            <a:r>
              <a:rPr dirty="0" err="1"/>
              <a:t>top_p</a:t>
            </a:r>
            <a:r>
              <a:rPr dirty="0"/>
              <a:t>, and </a:t>
            </a:r>
            <a:r>
              <a:rPr dirty="0" err="1"/>
              <a:t>top_k</a:t>
            </a:r>
            <a:r>
              <a:rPr dirty="0"/>
              <a:t> should match the needs of the application.</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Optimization changes should be tested and evaluated instead of selected only by assumption.</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Exponential backoff and jitter help applications recover more safely from temporary failures.</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Connection pooling reduces unnecessary connection setup for repeated service requests.</a:t>
            </a:r>
          </a:p>
          <a:p>
            <a:pPr marL="171450" indent="-171450">
              <a:lnSpc>
                <a:spcPct val="100000"/>
              </a:lnSpc>
              <a:spcAft>
                <a:spcPts val="700"/>
              </a:spcAft>
              <a:buFont typeface="Arial" panose="020B0604020202020204" pitchFamily="34" charset="0"/>
              <a:buChar char="•"/>
              <a:defRPr sz="1170">
                <a:solidFill>
                  <a:srgbClr val="1A233A"/>
                </a:solidFill>
                <a:latin typeface="Aptos"/>
                <a:ea typeface="Aptos"/>
                <a:cs typeface="Aptos"/>
              </a:defRPr>
            </a:pPr>
            <a:r>
              <a:rPr dirty="0"/>
              <a:t>Amazon Bedrock Cross-Region Inference can use supported capacity across Regions to improve resilience and availability.</a:t>
            </a:r>
          </a:p>
        </p:txBody>
      </p:sp>
      <p:sp>
        <p:nvSpPr>
          <p:cNvPr id="7" name="Rounded Rectangle 6">
            <a:extLst>
              <a:ext uri="{FF2B5EF4-FFF2-40B4-BE49-F238E27FC236}">
                <a16:creationId xmlns:a16="http://schemas.microsoft.com/office/drawing/2014/main" id="{7D983D2F-3BB3-43B9-9ED3-FB9F91F66DC8}"/>
              </a:ext>
            </a:extLst>
          </p:cNvPr>
          <p:cNvSpPr>
            <a:spLocks noGrp="1"/>
          </p:cNvSpPr>
          <p:nvPr/>
        </p:nvSpPr>
        <p:spPr>
          <a:xfrm>
            <a:off x="7543800" y="1143000"/>
            <a:ext cx="4114800" cy="1920240"/>
          </a:xfrm>
          <a:prstGeom prst="roundRect">
            <a:avLst/>
          </a:prstGeom>
          <a:solidFill>
            <a:srgbClr val="E5F7F7"/>
          </a:solidFill>
          <a:ln w="17780">
            <a:solidFill>
              <a:srgbClr val="189299"/>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350" b="1" dirty="0">
                <a:solidFill>
                  <a:srgbClr val="189299"/>
                </a:solidFill>
                <a:latin typeface="Aptos"/>
                <a:ea typeface="Aptos"/>
                <a:cs typeface="Aptos"/>
              </a:rPr>
              <a:t>Main Lesson</a:t>
            </a:r>
          </a:p>
          <a:p>
            <a:pPr>
              <a:spcBef>
                <a:spcPts val="300"/>
              </a:spcBef>
            </a:pPr>
            <a:r>
              <a:rPr sz="1350" dirty="0">
                <a:solidFill>
                  <a:srgbClr val="1A233A"/>
                </a:solidFill>
                <a:latin typeface="Aptos"/>
                <a:ea typeface="Aptos"/>
                <a:cs typeface="Aptos"/>
              </a:rPr>
              <a:t>A responsive and resilient Generative AI system is not created by one single AWS feature. It comes from improving the entire workflow—from the prompt and retrieval process to model inference, network connections, retries, and available regional capacity.</a:t>
            </a:r>
          </a:p>
        </p:txBody>
      </p:sp>
      <p:sp>
        <p:nvSpPr>
          <p:cNvPr id="8" name="Rounded Rectangle 7">
            <a:extLst>
              <a:ext uri="{FF2B5EF4-FFF2-40B4-BE49-F238E27FC236}">
                <a16:creationId xmlns:a16="http://schemas.microsoft.com/office/drawing/2014/main" id="{009DA1B0-3E21-421B-B970-655DDDA8FD9F}"/>
              </a:ext>
            </a:extLst>
          </p:cNvPr>
          <p:cNvSpPr>
            <a:spLocks noGrp="1"/>
          </p:cNvSpPr>
          <p:nvPr/>
        </p:nvSpPr>
        <p:spPr>
          <a:xfrm>
            <a:off x="7543800" y="3246120"/>
            <a:ext cx="4114800" cy="2872884"/>
          </a:xfrm>
          <a:prstGeom prst="roundRect">
            <a:avLst/>
          </a:prstGeom>
          <a:solidFill>
            <a:srgbClr val="EEEBFC"/>
          </a:solidFill>
          <a:ln w="17780">
            <a:solidFill>
              <a:srgbClr val="5B4CBA"/>
            </a:solidFill>
          </a:ln>
        </p:spPr>
        <p:style>
          <a:lnRef idx="1">
            <a:schemeClr val="accent1"/>
          </a:lnRef>
          <a:fillRef idx="3">
            <a:schemeClr val="accent1"/>
          </a:fillRef>
          <a:effectRef idx="2">
            <a:schemeClr val="accent1"/>
          </a:effectRef>
          <a:fontRef idx="minor">
            <a:schemeClr val="lt1"/>
          </a:fontRef>
        </p:style>
        <p:txBody>
          <a:bodyPr lIns="164592" tIns="118872" rIns="164592" bIns="91440" anchor="ctr"/>
          <a:lstStyle/>
          <a:p>
            <a:pPr>
              <a:spcBef>
                <a:spcPts val="300"/>
              </a:spcBef>
              <a:buNone/>
            </a:pPr>
            <a:r>
              <a:rPr sz="1170" b="1" dirty="0">
                <a:solidFill>
                  <a:srgbClr val="5B4CBA"/>
                </a:solidFill>
                <a:latin typeface="Aptos"/>
                <a:ea typeface="Aptos"/>
                <a:cs typeface="Aptos"/>
              </a:rPr>
              <a:t>Thank You</a:t>
            </a:r>
          </a:p>
          <a:p>
            <a:pPr>
              <a:spcBef>
                <a:spcPts val="300"/>
              </a:spcBef>
            </a:pPr>
            <a:r>
              <a:rPr sz="1170" dirty="0">
                <a:solidFill>
                  <a:srgbClr val="1A233A"/>
                </a:solidFill>
                <a:latin typeface="Aptos"/>
                <a:ea typeface="Aptos"/>
                <a:cs typeface="Aptos"/>
              </a:rPr>
              <a:t>Presented by: Akash Patel</a:t>
            </a:r>
            <a:br>
              <a:rPr sz="1170" dirty="0">
                <a:solidFill>
                  <a:srgbClr val="1A233A"/>
                </a:solidFill>
                <a:latin typeface="Aptos"/>
                <a:ea typeface="Aptos"/>
                <a:cs typeface="Aptos"/>
              </a:rPr>
            </a:br>
            <a:r>
              <a:rPr sz="1170" dirty="0">
                <a:solidFill>
                  <a:srgbClr val="1A233A"/>
                </a:solidFill>
                <a:latin typeface="Aptos"/>
                <a:ea typeface="Aptos"/>
                <a:cs typeface="Aptos"/>
              </a:rPr>
              <a:t>Concordia University Chicago</a:t>
            </a:r>
            <a:br>
              <a:rPr sz="1170" dirty="0">
                <a:solidFill>
                  <a:srgbClr val="1A233A"/>
                </a:solidFill>
                <a:latin typeface="Aptos"/>
                <a:ea typeface="Aptos"/>
                <a:cs typeface="Aptos"/>
              </a:rPr>
            </a:br>
            <a:br>
              <a:rPr sz="1170" dirty="0">
                <a:solidFill>
                  <a:srgbClr val="1A233A"/>
                </a:solidFill>
                <a:latin typeface="Aptos"/>
                <a:ea typeface="Aptos"/>
                <a:cs typeface="Aptos"/>
              </a:rPr>
            </a:br>
            <a:r>
              <a:rPr sz="1170" dirty="0">
                <a:solidFill>
                  <a:srgbClr val="1A233A"/>
                </a:solidFill>
                <a:latin typeface="Aptos"/>
                <a:ea typeface="Aptos"/>
                <a:cs typeface="Aptos"/>
              </a:rPr>
              <a:t>Special thanks to Professor Dr. Victor </a:t>
            </a:r>
            <a:r>
              <a:rPr sz="1170" dirty="0" err="1">
                <a:solidFill>
                  <a:srgbClr val="1A233A"/>
                </a:solidFill>
                <a:latin typeface="Aptos"/>
                <a:ea typeface="Aptos"/>
                <a:cs typeface="Aptos"/>
              </a:rPr>
              <a:t>Govindaswamy</a:t>
            </a:r>
            <a:r>
              <a:rPr sz="1170" dirty="0">
                <a:solidFill>
                  <a:srgbClr val="1A233A"/>
                </a:solidFill>
                <a:latin typeface="Aptos"/>
                <a:ea typeface="Aptos"/>
                <a:cs typeface="Aptos"/>
              </a:rPr>
              <a:t> for his continued guidance and support throughout my AWS Generative AI learning journey. This topic helped me understand that production AI optimization is not only about lowering cost. A strong application also needs fast retrieval, responsive model interaction, controlled failure handling, and enough capacity to continue serving users reliably.</a:t>
            </a:r>
          </a:p>
        </p:txBody>
      </p:sp>
      <p:sp>
        <p:nvSpPr>
          <p:cNvPr id="10" name="TextBox 9">
            <a:extLst>
              <a:ext uri="{FF2B5EF4-FFF2-40B4-BE49-F238E27FC236}">
                <a16:creationId xmlns:a16="http://schemas.microsoft.com/office/drawing/2014/main" id="{CD4ABB52-4601-423F-A9D8-7EF119F14514}"/>
              </a:ext>
            </a:extLst>
          </p:cNvPr>
          <p:cNvSpPr>
            <a:spLocks noGrp="1"/>
          </p:cNvSpPr>
          <p:nvPr/>
        </p:nvSpPr>
        <p:spPr>
          <a:xfrm>
            <a:off x="594360" y="6519672"/>
            <a:ext cx="10972800" cy="228600"/>
          </a:xfrm>
          <a:prstGeom prst="rect">
            <a:avLst/>
          </a:prstGeom>
          <a:noFill/>
        </p:spPr>
        <p:txBody>
          <a:bodyPr wrap="none">
            <a:spAutoFit/>
          </a:bodyPr>
          <a:lstStyle/>
          <a:p>
            <a:pPr algn="r">
              <a:buNone/>
            </a:pPr>
            <a:r>
              <a:rPr sz="850">
                <a:solidFill>
                  <a:srgbClr val="5F697D"/>
                </a:solidFill>
                <a:latin typeface="Aptos"/>
                <a:ea typeface="Aptos"/>
                <a:cs typeface="Aptos"/>
              </a:rPr>
              <a:t>AWS Generative AI Learning Series  •  Akash Patel</a:t>
            </a:r>
          </a:p>
        </p:txBody>
      </p:sp>
    </p:spTree>
    <p:extLst>
      <p:ext uri="{BB962C8B-B14F-4D97-AF65-F5344CB8AC3E}">
        <p14:creationId xmlns:p14="http://schemas.microsoft.com/office/powerpoint/2010/main" val="1384648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2604</Words>
  <Application>Microsoft Office PowerPoint</Application>
  <DocSecurity>0</DocSecurity>
  <PresentationFormat>Widescreen</PresentationFormat>
  <Paragraphs>227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Akash Patel</cp:lastModifiedBy>
  <cp:revision>5</cp:revision>
  <dcterms:created xsi:type="dcterms:W3CDTF">2026-10-27T03:54:44Z</dcterms:created>
  <dcterms:modified xsi:type="dcterms:W3CDTF">2026-10-27T18:55:24Z</dcterms:modified>
</cp:coreProperties>
</file>