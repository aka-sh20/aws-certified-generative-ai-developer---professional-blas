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705"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data1.xml><?xml version="1.0" encoding="utf-8"?>
<dgm:dataModel xmlns:dgm="http://schemas.openxmlformats.org/drawingml/2006/diagram" xmlns:a="http://schemas.openxmlformats.org/drawingml/2006/main">
  <dgm:ptLst>
    <dgm:pt modelId="{A033AD23-5C9F-498E-928E-7C8B09CC49EE}" type="doc">
      <dgm:prSet loTypeId="urn:microsoft.com/office/officeart/2018/2/layout/IconCircleList" loCatId="icon" qsTypeId="urn:microsoft.com/office/officeart/2005/8/quickstyle/simple1#30" qsCatId="simple" csTypeId="urn:microsoft.com/office/officeart/2018/5/colors/Iconchunking_coloredtext_accent0_3" csCatId="mainScheme" phldr="1"/>
      <dgm:spPr/>
      <dgm:t>
        <a:bodyPr/>
        <a:lstStyle/>
        <a:p>
          <a:endParaRPr lang="en-US"/>
        </a:p>
      </dgm:t>
    </dgm:pt>
    <dgm:pt modelId="{E570882A-EC6A-4037-AA10-5E61180499CC}">
      <dgm:prSet/>
      <dgm:spPr/>
      <dgm:t>
        <a:bodyPr/>
        <a:lstStyle/>
        <a:p>
          <a:r>
            <a:rPr lang="en-IN" b="1"/>
            <a:t>Amazon RDS stands for Relational Database Service.</a:t>
          </a:r>
          <a:r>
            <a:rPr lang="en-IN"/>
            <a:t> It is an AWS-managed database service for relational databases that use SQL. </a:t>
          </a:r>
          <a:endParaRPr lang="en-US"/>
        </a:p>
      </dgm:t>
    </dgm:pt>
    <dgm:pt modelId="{4A6BA2B1-00F5-43BE-8278-B834B8A2BA39}" type="parTrans" cxnId="{FB07728C-BF3C-4680-BBAA-2153762C7CFE}">
      <dgm:prSet/>
      <dgm:spPr/>
      <dgm:t>
        <a:bodyPr/>
        <a:lstStyle/>
        <a:p>
          <a:endParaRPr lang="en-US"/>
        </a:p>
      </dgm:t>
    </dgm:pt>
    <dgm:pt modelId="{967CD076-2C02-40E5-9802-2C736D988103}" type="sibTrans" cxnId="{FB07728C-BF3C-4680-BBAA-2153762C7CFE}">
      <dgm:prSet/>
      <dgm:spPr/>
      <dgm:t>
        <a:bodyPr/>
        <a:lstStyle/>
        <a:p>
          <a:endParaRPr lang="en-US"/>
        </a:p>
      </dgm:t>
    </dgm:pt>
    <dgm:pt modelId="{D028C89F-4DCA-4697-915A-EBC432D2A827}">
      <dgm:prSet/>
      <dgm:spPr/>
      <dgm:t>
        <a:bodyPr/>
        <a:lstStyle/>
        <a:p>
          <a:r>
            <a:rPr lang="en-IN"/>
            <a:t>RDS supports several common database engines, including </a:t>
          </a:r>
          <a:r>
            <a:rPr lang="en-IN" b="1"/>
            <a:t>PostgreSQL, MySQL, MariaDB, Oracle, Microsoft SQL Server, IBM Db2, and Amazon Aurora</a:t>
          </a:r>
          <a:r>
            <a:rPr lang="en-IN"/>
            <a:t>. </a:t>
          </a:r>
          <a:endParaRPr lang="en-US"/>
        </a:p>
      </dgm:t>
    </dgm:pt>
    <dgm:pt modelId="{224DBC2B-0771-4205-9924-4766148AAA52}" type="parTrans" cxnId="{AF1A9DD0-C29E-4458-82D4-F077EC371AEA}">
      <dgm:prSet/>
      <dgm:spPr/>
      <dgm:t>
        <a:bodyPr/>
        <a:lstStyle/>
        <a:p>
          <a:endParaRPr lang="en-US"/>
        </a:p>
      </dgm:t>
    </dgm:pt>
    <dgm:pt modelId="{0EBB5C1A-6F04-41C8-B88B-03E49DD16566}" type="sibTrans" cxnId="{AF1A9DD0-C29E-4458-82D4-F077EC371AEA}">
      <dgm:prSet/>
      <dgm:spPr/>
      <dgm:t>
        <a:bodyPr/>
        <a:lstStyle/>
        <a:p>
          <a:endParaRPr lang="en-US"/>
        </a:p>
      </dgm:t>
    </dgm:pt>
    <dgm:pt modelId="{417AEF00-32EA-4BC4-883D-E30541AA8859}">
      <dgm:prSet/>
      <dgm:spPr/>
      <dgm:t>
        <a:bodyPr/>
        <a:lstStyle/>
        <a:p>
          <a:r>
            <a:rPr lang="en-IN"/>
            <a:t>A relational database organizes structured information into tables with defined relationships. This makes it useful when an application needs predictable fields, SQL queries, joins, transactions, and structured business records. </a:t>
          </a:r>
          <a:endParaRPr lang="en-US"/>
        </a:p>
      </dgm:t>
    </dgm:pt>
    <dgm:pt modelId="{B3F9BD96-79B4-486C-A724-5B0B2EF75C23}" type="parTrans" cxnId="{B1EF8E9C-3556-4A3B-8CC1-50C2A693C0D5}">
      <dgm:prSet/>
      <dgm:spPr/>
      <dgm:t>
        <a:bodyPr/>
        <a:lstStyle/>
        <a:p>
          <a:endParaRPr lang="en-US"/>
        </a:p>
      </dgm:t>
    </dgm:pt>
    <dgm:pt modelId="{5568C499-22E8-479D-B752-440B46A19835}" type="sibTrans" cxnId="{B1EF8E9C-3556-4A3B-8CC1-50C2A693C0D5}">
      <dgm:prSet/>
      <dgm:spPr/>
      <dgm:t>
        <a:bodyPr/>
        <a:lstStyle/>
        <a:p>
          <a:endParaRPr lang="en-US"/>
        </a:p>
      </dgm:t>
    </dgm:pt>
    <dgm:pt modelId="{EB65C86E-838A-443D-92FB-6EFE3726347C}">
      <dgm:prSet/>
      <dgm:spPr/>
      <dgm:t>
        <a:bodyPr/>
        <a:lstStyle/>
        <a:p>
          <a:r>
            <a:rPr lang="en-IN"/>
            <a:t>In a Generative AI application, the Foundation Model may handle natural-language interaction, while RDS continues to store the reliable business information behind the application. </a:t>
          </a:r>
          <a:endParaRPr lang="en-US"/>
        </a:p>
      </dgm:t>
    </dgm:pt>
    <dgm:pt modelId="{FDE9E75C-E174-4DDD-9456-C63E9F684F41}" type="parTrans" cxnId="{980CCE05-4E45-4960-95AC-2DA0C3F6BEC3}">
      <dgm:prSet/>
      <dgm:spPr/>
      <dgm:t>
        <a:bodyPr/>
        <a:lstStyle/>
        <a:p>
          <a:endParaRPr lang="en-US"/>
        </a:p>
      </dgm:t>
    </dgm:pt>
    <dgm:pt modelId="{83939D71-20F5-4518-98F3-D5BD846358AF}" type="sibTrans" cxnId="{980CCE05-4E45-4960-95AC-2DA0C3F6BEC3}">
      <dgm:prSet/>
      <dgm:spPr/>
      <dgm:t>
        <a:bodyPr/>
        <a:lstStyle/>
        <a:p>
          <a:endParaRPr lang="en-US"/>
        </a:p>
      </dgm:t>
    </dgm:pt>
    <dgm:pt modelId="{3189B177-EB8D-4D78-B119-BDF0F11F35F8}">
      <dgm:prSet/>
      <dgm:spPr/>
      <dgm:t>
        <a:bodyPr/>
        <a:lstStyle/>
        <a:p>
          <a:r>
            <a:rPr lang="en-IN" b="1"/>
            <a:t>Example:</a:t>
          </a:r>
          <a:br>
            <a:rPr lang="en-IN"/>
          </a:br>
          <a:r>
            <a:rPr lang="en-IN"/>
            <a:t>A customer can ask an AI assistant,</a:t>
          </a:r>
          <a:br>
            <a:rPr lang="en-IN"/>
          </a:br>
          <a:r>
            <a:rPr lang="en-IN" b="1"/>
            <a:t>“What is the status of my latest order?”</a:t>
          </a:r>
          <a:endParaRPr lang="en-US"/>
        </a:p>
      </dgm:t>
    </dgm:pt>
    <dgm:pt modelId="{511FB637-57C8-47A8-AE9E-E1169E369E76}" type="parTrans" cxnId="{F34D57E6-0472-454A-914F-59670AF64967}">
      <dgm:prSet/>
      <dgm:spPr/>
      <dgm:t>
        <a:bodyPr/>
        <a:lstStyle/>
        <a:p>
          <a:endParaRPr lang="en-US"/>
        </a:p>
      </dgm:t>
    </dgm:pt>
    <dgm:pt modelId="{D7D19C1C-8646-4AD2-A2FC-43E6F73FF2C4}" type="sibTrans" cxnId="{F34D57E6-0472-454A-914F-59670AF64967}">
      <dgm:prSet/>
      <dgm:spPr/>
      <dgm:t>
        <a:bodyPr/>
        <a:lstStyle/>
        <a:p>
          <a:endParaRPr lang="en-US"/>
        </a:p>
      </dgm:t>
    </dgm:pt>
    <dgm:pt modelId="{1CEC3DC3-A570-42BD-8C3B-C5B16DFF9C3C}">
      <dgm:prSet/>
      <dgm:spPr/>
      <dgm:t>
        <a:bodyPr/>
        <a:lstStyle/>
        <a:p>
          <a:r>
            <a:rPr lang="en-IN"/>
            <a:t>The AI may understand the question, but the actual order number, shipping state, and delivery information should come from the company's database rather than being invented by the model.</a:t>
          </a:r>
          <a:endParaRPr lang="en-US"/>
        </a:p>
      </dgm:t>
    </dgm:pt>
    <dgm:pt modelId="{A7B163D9-FB12-48A4-8285-3B4AE62BD5E1}" type="parTrans" cxnId="{14316809-7DE5-41A7-908F-AA860FDA333A}">
      <dgm:prSet/>
      <dgm:spPr/>
      <dgm:t>
        <a:bodyPr/>
        <a:lstStyle/>
        <a:p>
          <a:endParaRPr lang="en-US"/>
        </a:p>
      </dgm:t>
    </dgm:pt>
    <dgm:pt modelId="{A64A53FD-D189-4BB8-AF14-31B4931F0C8F}" type="sibTrans" cxnId="{14316809-7DE5-41A7-908F-AA860FDA333A}">
      <dgm:prSet/>
      <dgm:spPr/>
      <dgm:t>
        <a:bodyPr/>
        <a:lstStyle/>
        <a:p>
          <a:endParaRPr lang="en-US"/>
        </a:p>
      </dgm:t>
    </dgm:pt>
    <dgm:pt modelId="{4535DE3A-DEF2-4F10-9BA3-78A2DF67AAEA}" type="pres">
      <dgm:prSet presAssocID="{A033AD23-5C9F-498E-928E-7C8B09CC49EE}" presName="root" presStyleCnt="0">
        <dgm:presLayoutVars>
          <dgm:dir/>
          <dgm:resizeHandles val="exact"/>
        </dgm:presLayoutVars>
      </dgm:prSet>
      <dgm:spPr/>
    </dgm:pt>
    <dgm:pt modelId="{54CBDCB4-DC43-47B6-9BAF-26A8E8D0B9FE}" type="pres">
      <dgm:prSet presAssocID="{A033AD23-5C9F-498E-928E-7C8B09CC49EE}" presName="container" presStyleCnt="0">
        <dgm:presLayoutVars>
          <dgm:dir/>
          <dgm:resizeHandles val="exact"/>
        </dgm:presLayoutVars>
      </dgm:prSet>
      <dgm:spPr/>
    </dgm:pt>
    <dgm:pt modelId="{9197C923-8EBC-4939-9810-7A47F06C7E5B}" type="pres">
      <dgm:prSet presAssocID="{E570882A-EC6A-4037-AA10-5E61180499CC}" presName="compNode" presStyleCnt="0"/>
      <dgm:spPr/>
    </dgm:pt>
    <dgm:pt modelId="{ACBEC37D-3AF4-4A6B-B09C-BAE632B28541}" type="pres">
      <dgm:prSet presAssocID="{E570882A-EC6A-4037-AA10-5E61180499CC}" presName="iconBgRect" presStyleLbl="bgShp" presStyleIdx="0" presStyleCnt="6"/>
      <dgm:spPr/>
    </dgm:pt>
    <dgm:pt modelId="{454D72E7-620C-46F6-8DF4-FC87E8421DC2}" type="pres">
      <dgm:prSet presAssocID="{E570882A-EC6A-4037-AA10-5E61180499CC}"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9CB22BA2-7CDD-4EA2-9C47-BD5F807A5EC4}" type="pres">
      <dgm:prSet presAssocID="{E570882A-EC6A-4037-AA10-5E61180499CC}" presName="spaceRect" presStyleCnt="0"/>
      <dgm:spPr/>
    </dgm:pt>
    <dgm:pt modelId="{AD81AD07-7D0A-4C95-A59B-2DF39357BF22}" type="pres">
      <dgm:prSet presAssocID="{E570882A-EC6A-4037-AA10-5E61180499CC}" presName="textRect" presStyleLbl="revTx" presStyleIdx="0" presStyleCnt="6">
        <dgm:presLayoutVars>
          <dgm:chMax val="1"/>
          <dgm:chPref val="1"/>
        </dgm:presLayoutVars>
      </dgm:prSet>
      <dgm:spPr/>
    </dgm:pt>
    <dgm:pt modelId="{EC41EA11-29E5-4335-B1FE-E5CA43C9433C}" type="pres">
      <dgm:prSet presAssocID="{967CD076-2C02-40E5-9802-2C736D988103}" presName="sibTrans" presStyleLbl="sibTrans2D1" presStyleIdx="0" presStyleCnt="0"/>
      <dgm:spPr/>
    </dgm:pt>
    <dgm:pt modelId="{B4998BDE-EF38-4681-88D1-2C16EC8CD4C2}" type="pres">
      <dgm:prSet presAssocID="{D028C89F-4DCA-4697-915A-EBC432D2A827}" presName="compNode" presStyleCnt="0"/>
      <dgm:spPr/>
    </dgm:pt>
    <dgm:pt modelId="{87BA749C-2824-4741-B167-A0F625C80171}" type="pres">
      <dgm:prSet presAssocID="{D028C89F-4DCA-4697-915A-EBC432D2A827}" presName="iconBgRect" presStyleLbl="bgShp" presStyleIdx="1" presStyleCnt="6"/>
      <dgm:spPr/>
    </dgm:pt>
    <dgm:pt modelId="{BC32F6FD-9A94-4262-B4A1-1DD89D5E6C11}" type="pres">
      <dgm:prSet presAssocID="{D028C89F-4DCA-4697-915A-EBC432D2A827}"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B2202EDC-54A3-458D-99D9-C99A5D9694F8}" type="pres">
      <dgm:prSet presAssocID="{D028C89F-4DCA-4697-915A-EBC432D2A827}" presName="spaceRect" presStyleCnt="0"/>
      <dgm:spPr/>
    </dgm:pt>
    <dgm:pt modelId="{E634DDE6-2695-47D3-AD83-4B494033C772}" type="pres">
      <dgm:prSet presAssocID="{D028C89F-4DCA-4697-915A-EBC432D2A827}" presName="textRect" presStyleLbl="revTx" presStyleIdx="1" presStyleCnt="6">
        <dgm:presLayoutVars>
          <dgm:chMax val="1"/>
          <dgm:chPref val="1"/>
        </dgm:presLayoutVars>
      </dgm:prSet>
      <dgm:spPr/>
    </dgm:pt>
    <dgm:pt modelId="{3A7B949C-EAE5-49A7-AFCE-20DD7F57D3E1}" type="pres">
      <dgm:prSet presAssocID="{0EBB5C1A-6F04-41C8-B88B-03E49DD16566}" presName="sibTrans" presStyleLbl="sibTrans2D1" presStyleIdx="0" presStyleCnt="0"/>
      <dgm:spPr/>
    </dgm:pt>
    <dgm:pt modelId="{76B0100B-F013-4E0E-971C-53E036DE23DC}" type="pres">
      <dgm:prSet presAssocID="{417AEF00-32EA-4BC4-883D-E30541AA8859}" presName="compNode" presStyleCnt="0"/>
      <dgm:spPr/>
    </dgm:pt>
    <dgm:pt modelId="{3E6DBA68-600E-4CBA-B0BA-3E56DDEE595C}" type="pres">
      <dgm:prSet presAssocID="{417AEF00-32EA-4BC4-883D-E30541AA8859}" presName="iconBgRect" presStyleLbl="bgShp" presStyleIdx="2" presStyleCnt="6"/>
      <dgm:spPr/>
    </dgm:pt>
    <dgm:pt modelId="{90C3E907-9545-4E61-B9FB-C5CF70FA9FE9}" type="pres">
      <dgm:prSet presAssocID="{417AEF00-32EA-4BC4-883D-E30541AA8859}"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A7A3111B-E313-48C6-900E-BE04FAA6AB29}" type="pres">
      <dgm:prSet presAssocID="{417AEF00-32EA-4BC4-883D-E30541AA8859}" presName="spaceRect" presStyleCnt="0"/>
      <dgm:spPr/>
    </dgm:pt>
    <dgm:pt modelId="{C608B7FC-3F30-4B62-AFBE-CCFA45D1D4B4}" type="pres">
      <dgm:prSet presAssocID="{417AEF00-32EA-4BC4-883D-E30541AA8859}" presName="textRect" presStyleLbl="revTx" presStyleIdx="2" presStyleCnt="6">
        <dgm:presLayoutVars>
          <dgm:chMax val="1"/>
          <dgm:chPref val="1"/>
        </dgm:presLayoutVars>
      </dgm:prSet>
      <dgm:spPr/>
    </dgm:pt>
    <dgm:pt modelId="{B34ACB60-2726-475F-85DA-15A7CAB275F2}" type="pres">
      <dgm:prSet presAssocID="{5568C499-22E8-479D-B752-440B46A19835}" presName="sibTrans" presStyleLbl="sibTrans2D1" presStyleIdx="0" presStyleCnt="0"/>
      <dgm:spPr/>
    </dgm:pt>
    <dgm:pt modelId="{726E5175-7AD0-4020-B8D6-263C17EDEC98}" type="pres">
      <dgm:prSet presAssocID="{EB65C86E-838A-443D-92FB-6EFE3726347C}" presName="compNode" presStyleCnt="0"/>
      <dgm:spPr/>
    </dgm:pt>
    <dgm:pt modelId="{56A31448-76FA-47EC-A323-3B3A44316E94}" type="pres">
      <dgm:prSet presAssocID="{EB65C86E-838A-443D-92FB-6EFE3726347C}" presName="iconBgRect" presStyleLbl="bgShp" presStyleIdx="3" presStyleCnt="6"/>
      <dgm:spPr/>
    </dgm:pt>
    <dgm:pt modelId="{E7ADBAA4-CD60-4A73-A2C4-80F5E3717D32}" type="pres">
      <dgm:prSet presAssocID="{EB65C86E-838A-443D-92FB-6EFE3726347C}"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E7C97A3F-3A85-41CB-9D73-B0AA31BE4AD2}" type="pres">
      <dgm:prSet presAssocID="{EB65C86E-838A-443D-92FB-6EFE3726347C}" presName="spaceRect" presStyleCnt="0"/>
      <dgm:spPr/>
    </dgm:pt>
    <dgm:pt modelId="{6D9C2E9C-B532-4214-9DA7-F16FC4E51AF8}" type="pres">
      <dgm:prSet presAssocID="{EB65C86E-838A-443D-92FB-6EFE3726347C}" presName="textRect" presStyleLbl="revTx" presStyleIdx="3" presStyleCnt="6">
        <dgm:presLayoutVars>
          <dgm:chMax val="1"/>
          <dgm:chPref val="1"/>
        </dgm:presLayoutVars>
      </dgm:prSet>
      <dgm:spPr/>
    </dgm:pt>
    <dgm:pt modelId="{65003538-3969-4C41-8B78-A6FAFCA15D49}" type="pres">
      <dgm:prSet presAssocID="{83939D71-20F5-4518-98F3-D5BD846358AF}" presName="sibTrans" presStyleLbl="sibTrans2D1" presStyleIdx="0" presStyleCnt="0"/>
      <dgm:spPr/>
    </dgm:pt>
    <dgm:pt modelId="{770C8F41-0A5F-47FA-B036-B59D3A0FB923}" type="pres">
      <dgm:prSet presAssocID="{3189B177-EB8D-4D78-B119-BDF0F11F35F8}" presName="compNode" presStyleCnt="0"/>
      <dgm:spPr/>
    </dgm:pt>
    <dgm:pt modelId="{9D6BF3F9-8386-4F24-A1D4-930CA6FC9F9D}" type="pres">
      <dgm:prSet presAssocID="{3189B177-EB8D-4D78-B119-BDF0F11F35F8}" presName="iconBgRect" presStyleLbl="bgShp" presStyleIdx="4" presStyleCnt="6"/>
      <dgm:spPr/>
    </dgm:pt>
    <dgm:pt modelId="{51BF822F-D17A-4D0D-9C53-A06312F60C8D}" type="pres">
      <dgm:prSet presAssocID="{3189B177-EB8D-4D78-B119-BDF0F11F35F8}"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Robot"/>
        </a:ext>
      </dgm:extLst>
    </dgm:pt>
    <dgm:pt modelId="{4D656FCD-6EE8-42C0-BF81-3BFD81D5062E}" type="pres">
      <dgm:prSet presAssocID="{3189B177-EB8D-4D78-B119-BDF0F11F35F8}" presName="spaceRect" presStyleCnt="0"/>
      <dgm:spPr/>
    </dgm:pt>
    <dgm:pt modelId="{7DD35C59-A6A7-4C8C-9874-C16F317CA79E}" type="pres">
      <dgm:prSet presAssocID="{3189B177-EB8D-4D78-B119-BDF0F11F35F8}" presName="textRect" presStyleLbl="revTx" presStyleIdx="4" presStyleCnt="6">
        <dgm:presLayoutVars>
          <dgm:chMax val="1"/>
          <dgm:chPref val="1"/>
        </dgm:presLayoutVars>
      </dgm:prSet>
      <dgm:spPr/>
    </dgm:pt>
    <dgm:pt modelId="{D411CEA3-04E0-4EAD-A784-61A7D666C95D}" type="pres">
      <dgm:prSet presAssocID="{D7D19C1C-8646-4AD2-A2FC-43E6F73FF2C4}" presName="sibTrans" presStyleLbl="sibTrans2D1" presStyleIdx="0" presStyleCnt="0"/>
      <dgm:spPr/>
    </dgm:pt>
    <dgm:pt modelId="{C2FF3B2A-C4D7-4C4C-95E7-86CD0AED3F4C}" type="pres">
      <dgm:prSet presAssocID="{1CEC3DC3-A570-42BD-8C3B-C5B16DFF9C3C}" presName="compNode" presStyleCnt="0"/>
      <dgm:spPr/>
    </dgm:pt>
    <dgm:pt modelId="{C7FB35D3-E1A7-475C-B80E-1E322798FD5A}" type="pres">
      <dgm:prSet presAssocID="{1CEC3DC3-A570-42BD-8C3B-C5B16DFF9C3C}" presName="iconBgRect" presStyleLbl="bgShp" presStyleIdx="5" presStyleCnt="6"/>
      <dgm:spPr/>
    </dgm:pt>
    <dgm:pt modelId="{1ABF6EC5-0065-4664-9B6C-366CEC1E0491}" type="pres">
      <dgm:prSet presAssocID="{1CEC3DC3-A570-42BD-8C3B-C5B16DFF9C3C}"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F27DBB4E-82E6-425F-B92B-276705616D37}" type="pres">
      <dgm:prSet presAssocID="{1CEC3DC3-A570-42BD-8C3B-C5B16DFF9C3C}" presName="spaceRect" presStyleCnt="0"/>
      <dgm:spPr/>
    </dgm:pt>
    <dgm:pt modelId="{86E389E4-45B3-4946-A532-1449B4441C3D}" type="pres">
      <dgm:prSet presAssocID="{1CEC3DC3-A570-42BD-8C3B-C5B16DFF9C3C}" presName="textRect" presStyleLbl="revTx" presStyleIdx="5" presStyleCnt="6">
        <dgm:presLayoutVars>
          <dgm:chMax val="1"/>
          <dgm:chPref val="1"/>
        </dgm:presLayoutVars>
      </dgm:prSet>
      <dgm:spPr/>
    </dgm:pt>
  </dgm:ptLst>
  <dgm:cxnLst>
    <dgm:cxn modelId="{17566A02-AE24-48BC-9828-4D93606CE2A1}" type="presOf" srcId="{0EBB5C1A-6F04-41C8-B88B-03E49DD16566}" destId="{3A7B949C-EAE5-49A7-AFCE-20DD7F57D3E1}" srcOrd="0" destOrd="0" presId="urn:microsoft.com/office/officeart/2018/2/layout/IconCircleList"/>
    <dgm:cxn modelId="{980CCE05-4E45-4960-95AC-2DA0C3F6BEC3}" srcId="{A033AD23-5C9F-498E-928E-7C8B09CC49EE}" destId="{EB65C86E-838A-443D-92FB-6EFE3726347C}" srcOrd="3" destOrd="0" parTransId="{FDE9E75C-E174-4DDD-9456-C63E9F684F41}" sibTransId="{83939D71-20F5-4518-98F3-D5BD846358AF}"/>
    <dgm:cxn modelId="{E429FA06-FC5A-42BD-8F19-04C7A6B7E994}" type="presOf" srcId="{A033AD23-5C9F-498E-928E-7C8B09CC49EE}" destId="{4535DE3A-DEF2-4F10-9BA3-78A2DF67AAEA}" srcOrd="0" destOrd="0" presId="urn:microsoft.com/office/officeart/2018/2/layout/IconCircleList"/>
    <dgm:cxn modelId="{14316809-7DE5-41A7-908F-AA860FDA333A}" srcId="{A033AD23-5C9F-498E-928E-7C8B09CC49EE}" destId="{1CEC3DC3-A570-42BD-8C3B-C5B16DFF9C3C}" srcOrd="5" destOrd="0" parTransId="{A7B163D9-FB12-48A4-8285-3B4AE62BD5E1}" sibTransId="{A64A53FD-D189-4BB8-AF14-31B4931F0C8F}"/>
    <dgm:cxn modelId="{D623ED25-1C22-4DE2-BB70-D8F4E7485A50}" type="presOf" srcId="{5568C499-22E8-479D-B752-440B46A19835}" destId="{B34ACB60-2726-475F-85DA-15A7CAB275F2}" srcOrd="0" destOrd="0" presId="urn:microsoft.com/office/officeart/2018/2/layout/IconCircleList"/>
    <dgm:cxn modelId="{704EBD33-F006-4799-86C6-010680C0551E}" type="presOf" srcId="{EB65C86E-838A-443D-92FB-6EFE3726347C}" destId="{6D9C2E9C-B532-4214-9DA7-F16FC4E51AF8}" srcOrd="0" destOrd="0" presId="urn:microsoft.com/office/officeart/2018/2/layout/IconCircleList"/>
    <dgm:cxn modelId="{845A5F3D-6007-4AE4-AAD3-A71198F7BFF9}" type="presOf" srcId="{D7D19C1C-8646-4AD2-A2FC-43E6F73FF2C4}" destId="{D411CEA3-04E0-4EAD-A784-61A7D666C95D}" srcOrd="0" destOrd="0" presId="urn:microsoft.com/office/officeart/2018/2/layout/IconCircleList"/>
    <dgm:cxn modelId="{E7B3B483-1244-4915-8748-926B6B151587}" type="presOf" srcId="{83939D71-20F5-4518-98F3-D5BD846358AF}" destId="{65003538-3969-4C41-8B78-A6FAFCA15D49}" srcOrd="0" destOrd="0" presId="urn:microsoft.com/office/officeart/2018/2/layout/IconCircleList"/>
    <dgm:cxn modelId="{A6F42D86-0184-43E6-AD95-EC5AC809625C}" type="presOf" srcId="{967CD076-2C02-40E5-9802-2C736D988103}" destId="{EC41EA11-29E5-4335-B1FE-E5CA43C9433C}" srcOrd="0" destOrd="0" presId="urn:microsoft.com/office/officeart/2018/2/layout/IconCircleList"/>
    <dgm:cxn modelId="{FB07728C-BF3C-4680-BBAA-2153762C7CFE}" srcId="{A033AD23-5C9F-498E-928E-7C8B09CC49EE}" destId="{E570882A-EC6A-4037-AA10-5E61180499CC}" srcOrd="0" destOrd="0" parTransId="{4A6BA2B1-00F5-43BE-8278-B834B8A2BA39}" sibTransId="{967CD076-2C02-40E5-9802-2C736D988103}"/>
    <dgm:cxn modelId="{31F2D991-4D51-4837-A67E-696CD4CB582F}" type="presOf" srcId="{3189B177-EB8D-4D78-B119-BDF0F11F35F8}" destId="{7DD35C59-A6A7-4C8C-9874-C16F317CA79E}" srcOrd="0" destOrd="0" presId="urn:microsoft.com/office/officeart/2018/2/layout/IconCircleList"/>
    <dgm:cxn modelId="{B1EF8E9C-3556-4A3B-8CC1-50C2A693C0D5}" srcId="{A033AD23-5C9F-498E-928E-7C8B09CC49EE}" destId="{417AEF00-32EA-4BC4-883D-E30541AA8859}" srcOrd="2" destOrd="0" parTransId="{B3F9BD96-79B4-486C-A724-5B0B2EF75C23}" sibTransId="{5568C499-22E8-479D-B752-440B46A19835}"/>
    <dgm:cxn modelId="{D55C33C8-6D3D-4DAB-BC4B-7D623915ED43}" type="presOf" srcId="{1CEC3DC3-A570-42BD-8C3B-C5B16DFF9C3C}" destId="{86E389E4-45B3-4946-A532-1449B4441C3D}" srcOrd="0" destOrd="0" presId="urn:microsoft.com/office/officeart/2018/2/layout/IconCircleList"/>
    <dgm:cxn modelId="{AF1A9DD0-C29E-4458-82D4-F077EC371AEA}" srcId="{A033AD23-5C9F-498E-928E-7C8B09CC49EE}" destId="{D028C89F-4DCA-4697-915A-EBC432D2A827}" srcOrd="1" destOrd="0" parTransId="{224DBC2B-0771-4205-9924-4766148AAA52}" sibTransId="{0EBB5C1A-6F04-41C8-B88B-03E49DD16566}"/>
    <dgm:cxn modelId="{E5AB61DD-07E6-4B29-8D0D-CF23FC65F2C6}" type="presOf" srcId="{E570882A-EC6A-4037-AA10-5E61180499CC}" destId="{AD81AD07-7D0A-4C95-A59B-2DF39357BF22}" srcOrd="0" destOrd="0" presId="urn:microsoft.com/office/officeart/2018/2/layout/IconCircleList"/>
    <dgm:cxn modelId="{F34D57E6-0472-454A-914F-59670AF64967}" srcId="{A033AD23-5C9F-498E-928E-7C8B09CC49EE}" destId="{3189B177-EB8D-4D78-B119-BDF0F11F35F8}" srcOrd="4" destOrd="0" parTransId="{511FB637-57C8-47A8-AE9E-E1169E369E76}" sibTransId="{D7D19C1C-8646-4AD2-A2FC-43E6F73FF2C4}"/>
    <dgm:cxn modelId="{463CD0F5-06CF-46F9-89F4-15FB4599B5A3}" type="presOf" srcId="{417AEF00-32EA-4BC4-883D-E30541AA8859}" destId="{C608B7FC-3F30-4B62-AFBE-CCFA45D1D4B4}" srcOrd="0" destOrd="0" presId="urn:microsoft.com/office/officeart/2018/2/layout/IconCircleList"/>
    <dgm:cxn modelId="{DF523EFB-E1B5-472F-BEC1-10CF6BB3006E}" type="presOf" srcId="{D028C89F-4DCA-4697-915A-EBC432D2A827}" destId="{E634DDE6-2695-47D3-AD83-4B494033C772}" srcOrd="0" destOrd="0" presId="urn:microsoft.com/office/officeart/2018/2/layout/IconCircleList"/>
    <dgm:cxn modelId="{89903486-E539-4812-A918-5EFBEFE59692}" type="presParOf" srcId="{4535DE3A-DEF2-4F10-9BA3-78A2DF67AAEA}" destId="{54CBDCB4-DC43-47B6-9BAF-26A8E8D0B9FE}" srcOrd="0" destOrd="0" presId="urn:microsoft.com/office/officeart/2018/2/layout/IconCircleList"/>
    <dgm:cxn modelId="{6F22F626-8B50-4DCF-BECC-33BC089C03B7}" type="presParOf" srcId="{54CBDCB4-DC43-47B6-9BAF-26A8E8D0B9FE}" destId="{9197C923-8EBC-4939-9810-7A47F06C7E5B}" srcOrd="0" destOrd="0" presId="urn:microsoft.com/office/officeart/2018/2/layout/IconCircleList"/>
    <dgm:cxn modelId="{63FF6996-45F4-4915-89A0-B2B4BE084516}" type="presParOf" srcId="{9197C923-8EBC-4939-9810-7A47F06C7E5B}" destId="{ACBEC37D-3AF4-4A6B-B09C-BAE632B28541}" srcOrd="0" destOrd="0" presId="urn:microsoft.com/office/officeart/2018/2/layout/IconCircleList"/>
    <dgm:cxn modelId="{8F12C779-5C2D-4A01-A9C0-1ADB3F4E80DC}" type="presParOf" srcId="{9197C923-8EBC-4939-9810-7A47F06C7E5B}" destId="{454D72E7-620C-46F6-8DF4-FC87E8421DC2}" srcOrd="1" destOrd="0" presId="urn:microsoft.com/office/officeart/2018/2/layout/IconCircleList"/>
    <dgm:cxn modelId="{ADAF3BD1-CF84-4C96-8826-7EDD66227DB7}" type="presParOf" srcId="{9197C923-8EBC-4939-9810-7A47F06C7E5B}" destId="{9CB22BA2-7CDD-4EA2-9C47-BD5F807A5EC4}" srcOrd="2" destOrd="0" presId="urn:microsoft.com/office/officeart/2018/2/layout/IconCircleList"/>
    <dgm:cxn modelId="{EEDC67E4-8597-49CD-AED9-B6260A72252C}" type="presParOf" srcId="{9197C923-8EBC-4939-9810-7A47F06C7E5B}" destId="{AD81AD07-7D0A-4C95-A59B-2DF39357BF22}" srcOrd="3" destOrd="0" presId="urn:microsoft.com/office/officeart/2018/2/layout/IconCircleList"/>
    <dgm:cxn modelId="{810C5F75-F0F1-4536-95A1-730AE90F0E3C}" type="presParOf" srcId="{54CBDCB4-DC43-47B6-9BAF-26A8E8D0B9FE}" destId="{EC41EA11-29E5-4335-B1FE-E5CA43C9433C}" srcOrd="1" destOrd="0" presId="urn:microsoft.com/office/officeart/2018/2/layout/IconCircleList"/>
    <dgm:cxn modelId="{F0980978-E190-4B27-A408-0FF037FE2CFC}" type="presParOf" srcId="{54CBDCB4-DC43-47B6-9BAF-26A8E8D0B9FE}" destId="{B4998BDE-EF38-4681-88D1-2C16EC8CD4C2}" srcOrd="2" destOrd="0" presId="urn:microsoft.com/office/officeart/2018/2/layout/IconCircleList"/>
    <dgm:cxn modelId="{C8ACBAA5-3108-47CF-AC5F-67FFC3F25289}" type="presParOf" srcId="{B4998BDE-EF38-4681-88D1-2C16EC8CD4C2}" destId="{87BA749C-2824-4741-B167-A0F625C80171}" srcOrd="0" destOrd="0" presId="urn:microsoft.com/office/officeart/2018/2/layout/IconCircleList"/>
    <dgm:cxn modelId="{58040F50-35EA-4316-B16D-4CBC570EB535}" type="presParOf" srcId="{B4998BDE-EF38-4681-88D1-2C16EC8CD4C2}" destId="{BC32F6FD-9A94-4262-B4A1-1DD89D5E6C11}" srcOrd="1" destOrd="0" presId="urn:microsoft.com/office/officeart/2018/2/layout/IconCircleList"/>
    <dgm:cxn modelId="{7B47F46A-9A73-4FA4-B0CB-8ED5D6492B56}" type="presParOf" srcId="{B4998BDE-EF38-4681-88D1-2C16EC8CD4C2}" destId="{B2202EDC-54A3-458D-99D9-C99A5D9694F8}" srcOrd="2" destOrd="0" presId="urn:microsoft.com/office/officeart/2018/2/layout/IconCircleList"/>
    <dgm:cxn modelId="{5BF82C6A-6CE6-4315-BAC3-7FB971C5256E}" type="presParOf" srcId="{B4998BDE-EF38-4681-88D1-2C16EC8CD4C2}" destId="{E634DDE6-2695-47D3-AD83-4B494033C772}" srcOrd="3" destOrd="0" presId="urn:microsoft.com/office/officeart/2018/2/layout/IconCircleList"/>
    <dgm:cxn modelId="{68717624-173E-4FC7-8988-CF1C9259A8D9}" type="presParOf" srcId="{54CBDCB4-DC43-47B6-9BAF-26A8E8D0B9FE}" destId="{3A7B949C-EAE5-49A7-AFCE-20DD7F57D3E1}" srcOrd="3" destOrd="0" presId="urn:microsoft.com/office/officeart/2018/2/layout/IconCircleList"/>
    <dgm:cxn modelId="{309E4BFA-FD60-454E-9237-326BF5A0A6DB}" type="presParOf" srcId="{54CBDCB4-DC43-47B6-9BAF-26A8E8D0B9FE}" destId="{76B0100B-F013-4E0E-971C-53E036DE23DC}" srcOrd="4" destOrd="0" presId="urn:microsoft.com/office/officeart/2018/2/layout/IconCircleList"/>
    <dgm:cxn modelId="{87A0227D-9BD5-410B-92DC-2EA6328FB7BF}" type="presParOf" srcId="{76B0100B-F013-4E0E-971C-53E036DE23DC}" destId="{3E6DBA68-600E-4CBA-B0BA-3E56DDEE595C}" srcOrd="0" destOrd="0" presId="urn:microsoft.com/office/officeart/2018/2/layout/IconCircleList"/>
    <dgm:cxn modelId="{1EDE4D6C-5F78-4C7A-A321-7F739C913023}" type="presParOf" srcId="{76B0100B-F013-4E0E-971C-53E036DE23DC}" destId="{90C3E907-9545-4E61-B9FB-C5CF70FA9FE9}" srcOrd="1" destOrd="0" presId="urn:microsoft.com/office/officeart/2018/2/layout/IconCircleList"/>
    <dgm:cxn modelId="{8A86FF9C-941D-472B-B0B6-537F95A37BB2}" type="presParOf" srcId="{76B0100B-F013-4E0E-971C-53E036DE23DC}" destId="{A7A3111B-E313-48C6-900E-BE04FAA6AB29}" srcOrd="2" destOrd="0" presId="urn:microsoft.com/office/officeart/2018/2/layout/IconCircleList"/>
    <dgm:cxn modelId="{7E995CAB-64D1-4EB8-999C-4085D4EEC582}" type="presParOf" srcId="{76B0100B-F013-4E0E-971C-53E036DE23DC}" destId="{C608B7FC-3F30-4B62-AFBE-CCFA45D1D4B4}" srcOrd="3" destOrd="0" presId="urn:microsoft.com/office/officeart/2018/2/layout/IconCircleList"/>
    <dgm:cxn modelId="{E242D657-ECE5-4D59-B886-5A302B366C13}" type="presParOf" srcId="{54CBDCB4-DC43-47B6-9BAF-26A8E8D0B9FE}" destId="{B34ACB60-2726-475F-85DA-15A7CAB275F2}" srcOrd="5" destOrd="0" presId="urn:microsoft.com/office/officeart/2018/2/layout/IconCircleList"/>
    <dgm:cxn modelId="{8D8BBEB0-D93D-4221-A448-69999C4D285C}" type="presParOf" srcId="{54CBDCB4-DC43-47B6-9BAF-26A8E8D0B9FE}" destId="{726E5175-7AD0-4020-B8D6-263C17EDEC98}" srcOrd="6" destOrd="0" presId="urn:microsoft.com/office/officeart/2018/2/layout/IconCircleList"/>
    <dgm:cxn modelId="{2920BAA3-EBBF-4BE4-A877-74EFA17A1D19}" type="presParOf" srcId="{726E5175-7AD0-4020-B8D6-263C17EDEC98}" destId="{56A31448-76FA-47EC-A323-3B3A44316E94}" srcOrd="0" destOrd="0" presId="urn:microsoft.com/office/officeart/2018/2/layout/IconCircleList"/>
    <dgm:cxn modelId="{3085C528-7661-4328-B5C9-2706C7273571}" type="presParOf" srcId="{726E5175-7AD0-4020-B8D6-263C17EDEC98}" destId="{E7ADBAA4-CD60-4A73-A2C4-80F5E3717D32}" srcOrd="1" destOrd="0" presId="urn:microsoft.com/office/officeart/2018/2/layout/IconCircleList"/>
    <dgm:cxn modelId="{262E6B31-385B-4620-80DB-23FD32DE5F57}" type="presParOf" srcId="{726E5175-7AD0-4020-B8D6-263C17EDEC98}" destId="{E7C97A3F-3A85-41CB-9D73-B0AA31BE4AD2}" srcOrd="2" destOrd="0" presId="urn:microsoft.com/office/officeart/2018/2/layout/IconCircleList"/>
    <dgm:cxn modelId="{A37709FD-8227-4A1B-8690-475ECDD80061}" type="presParOf" srcId="{726E5175-7AD0-4020-B8D6-263C17EDEC98}" destId="{6D9C2E9C-B532-4214-9DA7-F16FC4E51AF8}" srcOrd="3" destOrd="0" presId="urn:microsoft.com/office/officeart/2018/2/layout/IconCircleList"/>
    <dgm:cxn modelId="{364F0578-CA5E-4A4B-875B-94BFF8EB3207}" type="presParOf" srcId="{54CBDCB4-DC43-47B6-9BAF-26A8E8D0B9FE}" destId="{65003538-3969-4C41-8B78-A6FAFCA15D49}" srcOrd="7" destOrd="0" presId="urn:microsoft.com/office/officeart/2018/2/layout/IconCircleList"/>
    <dgm:cxn modelId="{CAD10F99-AD4A-420D-A597-261FA755E733}" type="presParOf" srcId="{54CBDCB4-DC43-47B6-9BAF-26A8E8D0B9FE}" destId="{770C8F41-0A5F-47FA-B036-B59D3A0FB923}" srcOrd="8" destOrd="0" presId="urn:microsoft.com/office/officeart/2018/2/layout/IconCircleList"/>
    <dgm:cxn modelId="{0241B2BF-0A93-4688-824A-2E6197858BAB}" type="presParOf" srcId="{770C8F41-0A5F-47FA-B036-B59D3A0FB923}" destId="{9D6BF3F9-8386-4F24-A1D4-930CA6FC9F9D}" srcOrd="0" destOrd="0" presId="urn:microsoft.com/office/officeart/2018/2/layout/IconCircleList"/>
    <dgm:cxn modelId="{7C4D7146-0895-4AD1-A4AA-B2BCEF175E75}" type="presParOf" srcId="{770C8F41-0A5F-47FA-B036-B59D3A0FB923}" destId="{51BF822F-D17A-4D0D-9C53-A06312F60C8D}" srcOrd="1" destOrd="0" presId="urn:microsoft.com/office/officeart/2018/2/layout/IconCircleList"/>
    <dgm:cxn modelId="{F2038DD5-DEC0-4CD9-AE25-1018C086B4A5}" type="presParOf" srcId="{770C8F41-0A5F-47FA-B036-B59D3A0FB923}" destId="{4D656FCD-6EE8-42C0-BF81-3BFD81D5062E}" srcOrd="2" destOrd="0" presId="urn:microsoft.com/office/officeart/2018/2/layout/IconCircleList"/>
    <dgm:cxn modelId="{4983D641-E109-47EE-BC12-72F365FEC2FA}" type="presParOf" srcId="{770C8F41-0A5F-47FA-B036-B59D3A0FB923}" destId="{7DD35C59-A6A7-4C8C-9874-C16F317CA79E}" srcOrd="3" destOrd="0" presId="urn:microsoft.com/office/officeart/2018/2/layout/IconCircleList"/>
    <dgm:cxn modelId="{01B93904-CB3B-420C-8FED-AF93C16D6540}" type="presParOf" srcId="{54CBDCB4-DC43-47B6-9BAF-26A8E8D0B9FE}" destId="{D411CEA3-04E0-4EAD-A784-61A7D666C95D}" srcOrd="9" destOrd="0" presId="urn:microsoft.com/office/officeart/2018/2/layout/IconCircleList"/>
    <dgm:cxn modelId="{837CA787-F5C0-412F-B079-4CACC746D64E}" type="presParOf" srcId="{54CBDCB4-DC43-47B6-9BAF-26A8E8D0B9FE}" destId="{C2FF3B2A-C4D7-4C4C-95E7-86CD0AED3F4C}" srcOrd="10" destOrd="0" presId="urn:microsoft.com/office/officeart/2018/2/layout/IconCircleList"/>
    <dgm:cxn modelId="{D1748ECB-7D50-41F1-9C89-51F66089F5FE}" type="presParOf" srcId="{C2FF3B2A-C4D7-4C4C-95E7-86CD0AED3F4C}" destId="{C7FB35D3-E1A7-475C-B80E-1E322798FD5A}" srcOrd="0" destOrd="0" presId="urn:microsoft.com/office/officeart/2018/2/layout/IconCircleList"/>
    <dgm:cxn modelId="{F9ECE001-64D6-468F-98AD-1ECA9ADDF872}" type="presParOf" srcId="{C2FF3B2A-C4D7-4C4C-95E7-86CD0AED3F4C}" destId="{1ABF6EC5-0065-4664-9B6C-366CEC1E0491}" srcOrd="1" destOrd="0" presId="urn:microsoft.com/office/officeart/2018/2/layout/IconCircleList"/>
    <dgm:cxn modelId="{5E323139-B312-4AE7-8F56-2D1ECABD8BDE}" type="presParOf" srcId="{C2FF3B2A-C4D7-4C4C-95E7-86CD0AED3F4C}" destId="{F27DBB4E-82E6-425F-B92B-276705616D37}" srcOrd="2" destOrd="0" presId="urn:microsoft.com/office/officeart/2018/2/layout/IconCircleList"/>
    <dgm:cxn modelId="{5F137238-8984-4737-A5F2-7A95ECEB7CBE}" type="presParOf" srcId="{C2FF3B2A-C4D7-4C4C-95E7-86CD0AED3F4C}" destId="{86E389E4-45B3-4946-A532-1449B4441C3D}"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EC37D-3AF4-4A6B-B09C-BAE632B28541}">
      <dsp:nvSpPr>
        <dsp:cNvPr id="0" name=""/>
        <dsp:cNvSpPr/>
      </dsp:nvSpPr>
      <dsp:spPr>
        <a:xfrm>
          <a:off x="82613" y="908559"/>
          <a:ext cx="897246" cy="89724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4D72E7-620C-46F6-8DF4-FC87E8421DC2}">
      <dsp:nvSpPr>
        <dsp:cNvPr id="0" name=""/>
        <dsp:cNvSpPr/>
      </dsp:nvSpPr>
      <dsp:spPr>
        <a:xfrm>
          <a:off x="271034"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81AD07-7D0A-4C95-A59B-2DF39357BF22}">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b="1" kern="1200"/>
            <a:t>Amazon RDS stands for Relational Database Service.</a:t>
          </a:r>
          <a:r>
            <a:rPr lang="en-IN" sz="1100" kern="1200"/>
            <a:t> It is an AWS-managed database service for relational databases that use SQL. </a:t>
          </a:r>
          <a:endParaRPr lang="en-US" sz="1100" kern="1200"/>
        </a:p>
      </dsp:txBody>
      <dsp:txXfrm>
        <a:off x="1172126" y="908559"/>
        <a:ext cx="2114937" cy="897246"/>
      </dsp:txXfrm>
    </dsp:sp>
    <dsp:sp modelId="{87BA749C-2824-4741-B167-A0F625C80171}">
      <dsp:nvSpPr>
        <dsp:cNvPr id="0" name=""/>
        <dsp:cNvSpPr/>
      </dsp:nvSpPr>
      <dsp:spPr>
        <a:xfrm>
          <a:off x="3655575" y="908559"/>
          <a:ext cx="897246" cy="89724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32F6FD-9A94-4262-B4A1-1DD89D5E6C11}">
      <dsp:nvSpPr>
        <dsp:cNvPr id="0" name=""/>
        <dsp:cNvSpPr/>
      </dsp:nvSpPr>
      <dsp:spPr>
        <a:xfrm>
          <a:off x="3843996"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34DDE6-2695-47D3-AD83-4B494033C772}">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RDS supports several common database engines, including </a:t>
          </a:r>
          <a:r>
            <a:rPr lang="en-IN" sz="1100" b="1" kern="1200"/>
            <a:t>PostgreSQL, MySQL, MariaDB, Oracle, Microsoft SQL Server, IBM Db2, and Amazon Aurora</a:t>
          </a:r>
          <a:r>
            <a:rPr lang="en-IN" sz="1100" kern="1200"/>
            <a:t>. </a:t>
          </a:r>
          <a:endParaRPr lang="en-US" sz="1100" kern="1200"/>
        </a:p>
      </dsp:txBody>
      <dsp:txXfrm>
        <a:off x="4745088" y="908559"/>
        <a:ext cx="2114937" cy="897246"/>
      </dsp:txXfrm>
    </dsp:sp>
    <dsp:sp modelId="{3E6DBA68-600E-4CBA-B0BA-3E56DDEE595C}">
      <dsp:nvSpPr>
        <dsp:cNvPr id="0" name=""/>
        <dsp:cNvSpPr/>
      </dsp:nvSpPr>
      <dsp:spPr>
        <a:xfrm>
          <a:off x="7228536" y="908559"/>
          <a:ext cx="897246" cy="89724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C3E907-9545-4E61-B9FB-C5CF70FA9FE9}">
      <dsp:nvSpPr>
        <dsp:cNvPr id="0" name=""/>
        <dsp:cNvSpPr/>
      </dsp:nvSpPr>
      <dsp:spPr>
        <a:xfrm>
          <a:off x="7416958"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08B7FC-3F30-4B62-AFBE-CCFA45D1D4B4}">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A relational database organizes structured information into tables with defined relationships. This makes it useful when an application needs predictable fields, SQL queries, joins, transactions, and structured business records. </a:t>
          </a:r>
          <a:endParaRPr lang="en-US" sz="1100" kern="1200"/>
        </a:p>
      </dsp:txBody>
      <dsp:txXfrm>
        <a:off x="8318049" y="908559"/>
        <a:ext cx="2114937" cy="897246"/>
      </dsp:txXfrm>
    </dsp:sp>
    <dsp:sp modelId="{56A31448-76FA-47EC-A323-3B3A44316E94}">
      <dsp:nvSpPr>
        <dsp:cNvPr id="0" name=""/>
        <dsp:cNvSpPr/>
      </dsp:nvSpPr>
      <dsp:spPr>
        <a:xfrm>
          <a:off x="82613" y="2545532"/>
          <a:ext cx="897246" cy="89724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ADBAA4-CD60-4A73-A2C4-80F5E3717D32}">
      <dsp:nvSpPr>
        <dsp:cNvPr id="0" name=""/>
        <dsp:cNvSpPr/>
      </dsp:nvSpPr>
      <dsp:spPr>
        <a:xfrm>
          <a:off x="271034"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9C2E9C-B532-4214-9DA7-F16FC4E51AF8}">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In a Generative AI application, the Foundation Model may handle natural-language interaction, while RDS continues to store the reliable business information behind the application. </a:t>
          </a:r>
          <a:endParaRPr lang="en-US" sz="1100" kern="1200"/>
        </a:p>
      </dsp:txBody>
      <dsp:txXfrm>
        <a:off x="1172126" y="2545532"/>
        <a:ext cx="2114937" cy="897246"/>
      </dsp:txXfrm>
    </dsp:sp>
    <dsp:sp modelId="{9D6BF3F9-8386-4F24-A1D4-930CA6FC9F9D}">
      <dsp:nvSpPr>
        <dsp:cNvPr id="0" name=""/>
        <dsp:cNvSpPr/>
      </dsp:nvSpPr>
      <dsp:spPr>
        <a:xfrm>
          <a:off x="3655575" y="2545532"/>
          <a:ext cx="897246" cy="89724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BF822F-D17A-4D0D-9C53-A06312F60C8D}">
      <dsp:nvSpPr>
        <dsp:cNvPr id="0" name=""/>
        <dsp:cNvSpPr/>
      </dsp:nvSpPr>
      <dsp:spPr>
        <a:xfrm>
          <a:off x="3843996"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D35C59-A6A7-4C8C-9874-C16F317CA79E}">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b="1" kern="1200"/>
            <a:t>Example:</a:t>
          </a:r>
          <a:br>
            <a:rPr lang="en-IN" sz="1100" kern="1200"/>
          </a:br>
          <a:r>
            <a:rPr lang="en-IN" sz="1100" kern="1200"/>
            <a:t>A customer can ask an AI assistant,</a:t>
          </a:r>
          <a:br>
            <a:rPr lang="en-IN" sz="1100" kern="1200"/>
          </a:br>
          <a:r>
            <a:rPr lang="en-IN" sz="1100" b="1" kern="1200"/>
            <a:t>“What is the status of my latest order?”</a:t>
          </a:r>
          <a:endParaRPr lang="en-US" sz="1100" kern="1200"/>
        </a:p>
      </dsp:txBody>
      <dsp:txXfrm>
        <a:off x="4745088" y="2545532"/>
        <a:ext cx="2114937" cy="897246"/>
      </dsp:txXfrm>
    </dsp:sp>
    <dsp:sp modelId="{C7FB35D3-E1A7-475C-B80E-1E322798FD5A}">
      <dsp:nvSpPr>
        <dsp:cNvPr id="0" name=""/>
        <dsp:cNvSpPr/>
      </dsp:nvSpPr>
      <dsp:spPr>
        <a:xfrm>
          <a:off x="7228536" y="2545532"/>
          <a:ext cx="897246" cy="89724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BF6EC5-0065-4664-9B6C-366CEC1E0491}">
      <dsp:nvSpPr>
        <dsp:cNvPr id="0" name=""/>
        <dsp:cNvSpPr/>
      </dsp:nvSpPr>
      <dsp:spPr>
        <a:xfrm>
          <a:off x="7416958"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E389E4-45B3-4946-A532-1449B4441C3D}">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The AI may understand the question, but the actual order number, shipping state, and delivery information should come from the company's database rather than being invented by the model.</a:t>
          </a:r>
          <a:endParaRPr lang="en-US" sz="1100" kern="1200"/>
        </a:p>
      </dsp:txBody>
      <dsp:txXfrm>
        <a:off x="8318049" y="2545532"/>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3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E3E433-9E8C-4430-8744-974FDA568816}" type="datetimeFigureOut">
              <a:rPr lang="en-IN" smtClean="0"/>
              <a:t>25-09-2026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B50BF7-87A6-4292-A237-671C44C31471}" type="slidenum">
              <a:rPr lang="en-IN" smtClean="0"/>
              <a:t>‹#›</a:t>
            </a:fld>
            <a:endParaRPr lang="en-IN"/>
          </a:p>
        </p:txBody>
      </p:sp>
    </p:spTree>
    <p:extLst>
      <p:ext uri="{BB962C8B-B14F-4D97-AF65-F5344CB8AC3E}">
        <p14:creationId xmlns:p14="http://schemas.microsoft.com/office/powerpoint/2010/main" val="3505528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0B50BF7-87A6-4292-A237-671C44C31471}" type="slidenum">
              <a:rPr lang="en-IN" smtClean="0"/>
              <a:t>6</a:t>
            </a:fld>
            <a:endParaRPr lang="en-IN"/>
          </a:p>
        </p:txBody>
      </p:sp>
    </p:spTree>
    <p:extLst>
      <p:ext uri="{BB962C8B-B14F-4D97-AF65-F5344CB8AC3E}">
        <p14:creationId xmlns:p14="http://schemas.microsoft.com/office/powerpoint/2010/main" val="3401307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0B50BF7-87A6-4292-A237-671C44C31471}" type="slidenum">
              <a:rPr lang="en-IN" smtClean="0"/>
              <a:t>19</a:t>
            </a:fld>
            <a:endParaRPr lang="en-IN"/>
          </a:p>
        </p:txBody>
      </p:sp>
    </p:spTree>
    <p:extLst>
      <p:ext uri="{BB962C8B-B14F-4D97-AF65-F5344CB8AC3E}">
        <p14:creationId xmlns:p14="http://schemas.microsoft.com/office/powerpoint/2010/main" val="3479260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49EC2-A01B-6BCC-5B3D-D7B0C2050E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752A9CD-E1EE-6382-7A19-905506760A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2BFD6E-383D-0A1D-2D93-2FE9520085D5}"/>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5" name="Footer Placeholder 4">
            <a:extLst>
              <a:ext uri="{FF2B5EF4-FFF2-40B4-BE49-F238E27FC236}">
                <a16:creationId xmlns:a16="http://schemas.microsoft.com/office/drawing/2014/main" id="{44397D16-AD4B-6FF9-D947-859B9FD2FE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5FFDEC-A2D5-F19A-607E-8DB0EBD9CFEB}"/>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2104560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52555-73A8-D793-6E1B-A076FC702D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00F035-CCAC-B0C0-00D7-7766B76DBD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1C4FC1-BEE7-CD3D-8051-D803F91B1EF0}"/>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5" name="Footer Placeholder 4">
            <a:extLst>
              <a:ext uri="{FF2B5EF4-FFF2-40B4-BE49-F238E27FC236}">
                <a16:creationId xmlns:a16="http://schemas.microsoft.com/office/drawing/2014/main" id="{93A0CB98-C7EF-16BA-5686-FB4937C3DC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BDDF89-35EC-42E2-3754-9D77457221C7}"/>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297310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7E3D-CAAA-B305-AB9C-5028E8295B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F8CD5A-46FC-765D-5B50-A4875C83BB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D5BB76-15FE-9D8F-4E1D-A5E5A87E0766}"/>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5" name="Footer Placeholder 4">
            <a:extLst>
              <a:ext uri="{FF2B5EF4-FFF2-40B4-BE49-F238E27FC236}">
                <a16:creationId xmlns:a16="http://schemas.microsoft.com/office/drawing/2014/main" id="{420588FF-36C8-781C-13B9-7D7368E236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23E180-F273-0C80-38F0-36BF65081737}"/>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1016264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20273-2BA6-DF1F-6597-D315175F0D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EF474F-EC01-190C-9698-66404A7355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A36E43C-42A3-A0D0-3D85-E18AB79B3C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54454E2-1A35-E05F-FE1A-A47E810460C1}"/>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6" name="Footer Placeholder 5">
            <a:extLst>
              <a:ext uri="{FF2B5EF4-FFF2-40B4-BE49-F238E27FC236}">
                <a16:creationId xmlns:a16="http://schemas.microsoft.com/office/drawing/2014/main" id="{40A885EF-CD15-09E8-AC82-29D7A5F4D9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4FA449-F838-CF70-4508-632F304598D8}"/>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3279627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789FB-0E75-6AD8-7E9F-5A4A1CFA39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875822-6CF8-355E-E40C-22CFE0DD39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92C4BC-DFEB-B2B7-C4B3-287926083C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E0BD03-1C3F-5F30-72A1-E6536A3F57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C2FE4E-5E90-2ED7-1E74-B024DF7BD7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478FE41-89E5-551D-EFFD-FCE6FA521B14}"/>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8" name="Footer Placeholder 7">
            <a:extLst>
              <a:ext uri="{FF2B5EF4-FFF2-40B4-BE49-F238E27FC236}">
                <a16:creationId xmlns:a16="http://schemas.microsoft.com/office/drawing/2014/main" id="{8EE91922-625E-4542-7F01-B3EC0ED0A4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92B8709-F53A-3518-7D85-0ABFC808C7DD}"/>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1418273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79EB7-47B1-DB51-1D44-595F803ED47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4A192A6-DB08-BB59-5A60-0EB9494634CA}"/>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4" name="Footer Placeholder 3">
            <a:extLst>
              <a:ext uri="{FF2B5EF4-FFF2-40B4-BE49-F238E27FC236}">
                <a16:creationId xmlns:a16="http://schemas.microsoft.com/office/drawing/2014/main" id="{60946792-F61F-945D-8C96-55AABBFF53A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2C105B2-6602-87BE-AE42-19CA52C7652F}"/>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3562517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66E396-9D3B-9085-C21D-2041CF44D3BC}"/>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3" name="Footer Placeholder 2">
            <a:extLst>
              <a:ext uri="{FF2B5EF4-FFF2-40B4-BE49-F238E27FC236}">
                <a16:creationId xmlns:a16="http://schemas.microsoft.com/office/drawing/2014/main" id="{E7DF1C99-6769-BCFA-A5F9-901FC24F72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FCE1B12-1B54-C823-3CE7-697A8130D013}"/>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1887966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ED3D6-B5B5-54FD-A61A-A8C9DD837E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BD470BA-3418-D618-0240-B440B33EA4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E99715-F408-774F-F5E6-B3F615A8DF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592316-30D6-BA3F-0064-E09791176FDF}"/>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6" name="Footer Placeholder 5">
            <a:extLst>
              <a:ext uri="{FF2B5EF4-FFF2-40B4-BE49-F238E27FC236}">
                <a16:creationId xmlns:a16="http://schemas.microsoft.com/office/drawing/2014/main" id="{3FAA4324-8A1D-A67C-DD57-EB33A436B5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559957-4DC1-4D91-BD41-7300108C5671}"/>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2877986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B9BC1-4CE2-B566-977E-15D111D657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D681C4-B72E-BFA1-A752-DE8ACB26D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E20CE6F-5417-E41F-8C83-31BD80253E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D78F96-074C-5726-D6EE-CBA51A1F187B}"/>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6" name="Footer Placeholder 5">
            <a:extLst>
              <a:ext uri="{FF2B5EF4-FFF2-40B4-BE49-F238E27FC236}">
                <a16:creationId xmlns:a16="http://schemas.microsoft.com/office/drawing/2014/main" id="{068F530D-89D4-98FC-540F-A281F84866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E0A689-A88C-9D20-89E8-7AC2489F633E}"/>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361395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F5D1-D950-ABF1-9F96-2F46ED2C4E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D8CE46-A783-499D-1C21-4D95ACD276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FC7E6F-B88E-F135-BABB-2741AAED17D0}"/>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5" name="Footer Placeholder 4">
            <a:extLst>
              <a:ext uri="{FF2B5EF4-FFF2-40B4-BE49-F238E27FC236}">
                <a16:creationId xmlns:a16="http://schemas.microsoft.com/office/drawing/2014/main" id="{C9831B52-EB69-C620-C6EC-F622E0A02B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F10C1A-2405-BBDA-8212-34E5EB99808F}"/>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3949683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F7744D-F04A-7E0A-FD60-4CEF7BE7DC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AAF684-EF4E-184D-8DC5-0F39F18551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32A940-3D66-82E1-9B1C-946AD581A21F}"/>
              </a:ext>
            </a:extLst>
          </p:cNvPr>
          <p:cNvSpPr>
            <a:spLocks noGrp="1"/>
          </p:cNvSpPr>
          <p:nvPr>
            <p:ph type="dt" sz="half" idx="10"/>
          </p:nvPr>
        </p:nvSpPr>
        <p:spPr/>
        <p:txBody>
          <a:bodyPr/>
          <a:lstStyle/>
          <a:p>
            <a:fld id="{7A23CC0E-E6F2-440A-8ABC-E5F5963C5BD9}" type="datetimeFigureOut">
              <a:rPr lang="en-IN" smtClean="0"/>
              <a:t>25-09-2026</a:t>
            </a:fld>
            <a:endParaRPr lang="en-IN"/>
          </a:p>
        </p:txBody>
      </p:sp>
      <p:sp>
        <p:nvSpPr>
          <p:cNvPr id="5" name="Footer Placeholder 4">
            <a:extLst>
              <a:ext uri="{FF2B5EF4-FFF2-40B4-BE49-F238E27FC236}">
                <a16:creationId xmlns:a16="http://schemas.microsoft.com/office/drawing/2014/main" id="{CDE333B3-4621-A8A8-4CFC-E6339E58F6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DDA632-6BE9-144E-F918-A6BA6D982AD8}"/>
              </a:ext>
            </a:extLst>
          </p:cNvPr>
          <p:cNvSpPr>
            <a:spLocks noGrp="1"/>
          </p:cNvSpPr>
          <p:nvPr>
            <p:ph type="sldNum" sz="quarter" idx="12"/>
          </p:nvPr>
        </p:nvSpPr>
        <p:spPr/>
        <p:txBody>
          <a:bodyPr/>
          <a:lstStyle/>
          <a:p>
            <a:fld id="{BC72C637-4F95-4B82-81E4-54C4261B3B68}" type="slidenum">
              <a:rPr lang="en-IN" smtClean="0"/>
              <a:t>‹#›</a:t>
            </a:fld>
            <a:endParaRPr lang="en-IN"/>
          </a:p>
        </p:txBody>
      </p:sp>
    </p:spTree>
    <p:extLst>
      <p:ext uri="{BB962C8B-B14F-4D97-AF65-F5344CB8AC3E}">
        <p14:creationId xmlns:p14="http://schemas.microsoft.com/office/powerpoint/2010/main" val="699964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C98A3E-5D98-DD68-691D-C6CBC88B9C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E3536D-9066-E365-D485-76C6B5EEB0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C18FF5-4382-BB0F-6FE6-3C38A799AA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23CC0E-E6F2-440A-8ABC-E5F5963C5BD9}" type="datetimeFigureOut">
              <a:rPr lang="en-IN" smtClean="0"/>
              <a:t>25-09-2026</a:t>
            </a:fld>
            <a:endParaRPr lang="en-IN"/>
          </a:p>
        </p:txBody>
      </p:sp>
      <p:sp>
        <p:nvSpPr>
          <p:cNvPr id="5" name="Footer Placeholder 4">
            <a:extLst>
              <a:ext uri="{FF2B5EF4-FFF2-40B4-BE49-F238E27FC236}">
                <a16:creationId xmlns:a16="http://schemas.microsoft.com/office/drawing/2014/main" id="{A00C1390-418D-1C6C-AFA2-9BCDDE31A7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2D42A99-D70F-1FA8-43CA-EF711619F7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72C637-4F95-4B82-81E4-54C4261B3B68}" type="slidenum">
              <a:rPr lang="en-IN" smtClean="0"/>
              <a:t>‹#›</a:t>
            </a:fld>
            <a:endParaRPr lang="en-IN"/>
          </a:p>
        </p:txBody>
      </p:sp>
    </p:spTree>
    <p:extLst>
      <p:ext uri="{BB962C8B-B14F-4D97-AF65-F5344CB8AC3E}">
        <p14:creationId xmlns:p14="http://schemas.microsoft.com/office/powerpoint/2010/main" val="7528420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53B4FD-1ADC-866F-B2D4-F5F5029DE12D}"/>
              </a:ext>
            </a:extLst>
          </p:cNvPr>
          <p:cNvSpPr>
            <a:spLocks noGrp="1"/>
          </p:cNvSpPr>
          <p:nvPr>
            <p:ph type="ctrTitle"/>
          </p:nvPr>
        </p:nvSpPr>
        <p:spPr>
          <a:xfrm>
            <a:off x="2197101" y="735283"/>
            <a:ext cx="4978399" cy="3165045"/>
          </a:xfrm>
        </p:spPr>
        <p:txBody>
          <a:bodyPr anchor="b">
            <a:normAutofit/>
          </a:bodyPr>
          <a:lstStyle/>
          <a:p>
            <a:pPr algn="l"/>
            <a:r>
              <a:rPr lang="en-IN" sz="3600" b="1" dirty="0"/>
              <a:t>AWS Vector Storage Choices: S3 Vectors, Amazon Aurora, and DynamoDB</a:t>
            </a:r>
            <a:br>
              <a:rPr lang="en-IN" sz="2900" dirty="0"/>
            </a:br>
            <a:r>
              <a:rPr lang="en-IN" sz="2400" dirty="0"/>
              <a:t>Understanding Different Ways to Store Embeddings, Operational Data, and AI Context on AWS</a:t>
            </a:r>
            <a:endParaRPr lang="en-IN" sz="2900" dirty="0"/>
          </a:p>
        </p:txBody>
      </p:sp>
      <p:sp>
        <p:nvSpPr>
          <p:cNvPr id="3" name="Subtitle 2">
            <a:extLst>
              <a:ext uri="{FF2B5EF4-FFF2-40B4-BE49-F238E27FC236}">
                <a16:creationId xmlns:a16="http://schemas.microsoft.com/office/drawing/2014/main" id="{935EE1B4-C810-F6E5-B135-708F2C2408DC}"/>
              </a:ext>
            </a:extLst>
          </p:cNvPr>
          <p:cNvSpPr>
            <a:spLocks noGrp="1"/>
          </p:cNvSpPr>
          <p:nvPr>
            <p:ph type="subTitle" idx="1"/>
          </p:nvPr>
        </p:nvSpPr>
        <p:spPr>
          <a:xfrm>
            <a:off x="2197101" y="4078423"/>
            <a:ext cx="4978399" cy="2058657"/>
          </a:xfrm>
        </p:spPr>
        <p:txBody>
          <a:bodyPr>
            <a:normAutofit/>
          </a:bodyPr>
          <a:lstStyle/>
          <a:p>
            <a:pPr algn="l"/>
            <a:r>
              <a:rPr lang="en-IN" b="1" dirty="0"/>
              <a:t>Presented by: Akash Patel</a:t>
            </a:r>
            <a:br>
              <a:rPr lang="en-IN" dirty="0"/>
            </a:br>
            <a:r>
              <a:rPr lang="en-IN" b="1" dirty="0"/>
              <a:t>Professor: Victor </a:t>
            </a:r>
            <a:r>
              <a:rPr lang="en-IN" b="1" dirty="0" err="1"/>
              <a:t>Govindaswamy</a:t>
            </a:r>
            <a:br>
              <a:rPr lang="en-IN" dirty="0"/>
            </a:br>
            <a:r>
              <a:rPr lang="en-IN" b="1" dirty="0"/>
              <a:t>Concordia University Chicago</a:t>
            </a:r>
            <a:endParaRPr lang="en-IN" dirty="0"/>
          </a:p>
        </p:txBody>
      </p:sp>
      <p:pic>
        <p:nvPicPr>
          <p:cNvPr id="20" name="Graphic 19" descr="Cloud Computing">
            <a:extLst>
              <a:ext uri="{FF2B5EF4-FFF2-40B4-BE49-F238E27FC236}">
                <a16:creationId xmlns:a16="http://schemas.microsoft.com/office/drawing/2014/main" id="{A0B41BC0-2645-FDD2-446E-95DCD67267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7549" y="2776619"/>
            <a:ext cx="1289051" cy="1289051"/>
          </a:xfrm>
          <a:prstGeom prst="rect">
            <a:avLst/>
          </a:prstGeom>
        </p:spPr>
      </p:pic>
      <p:pic>
        <p:nvPicPr>
          <p:cNvPr id="9" name="Graphic 8" descr="Cloud Computing">
            <a:extLst>
              <a:ext uri="{FF2B5EF4-FFF2-40B4-BE49-F238E27FC236}">
                <a16:creationId xmlns:a16="http://schemas.microsoft.com/office/drawing/2014/main" id="{611E001C-14AA-4DA1-9EAC-C0413A8FF5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2641088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D265D0-17A2-98C4-31D3-9B21D6F3BF77}"/>
              </a:ext>
            </a:extLst>
          </p:cNvPr>
          <p:cNvSpPr>
            <a:spLocks noGrp="1"/>
          </p:cNvSpPr>
          <p:nvPr>
            <p:ph type="title"/>
          </p:nvPr>
        </p:nvSpPr>
        <p:spPr>
          <a:xfrm>
            <a:off x="686834" y="1153572"/>
            <a:ext cx="3200400" cy="4461163"/>
          </a:xfrm>
        </p:spPr>
        <p:txBody>
          <a:bodyPr>
            <a:normAutofit/>
          </a:bodyPr>
          <a:lstStyle/>
          <a:p>
            <a:r>
              <a:rPr lang="en-IN">
                <a:solidFill>
                  <a:srgbClr val="FFFFFF"/>
                </a:solidFill>
              </a:rPr>
              <a:t>Why Do We Need Different Vector Storage Options?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0F6552E-0C3D-BB3C-FBE2-B1F70F830022}"/>
              </a:ext>
            </a:extLst>
          </p:cNvPr>
          <p:cNvSpPr>
            <a:spLocks noGrp="1"/>
          </p:cNvSpPr>
          <p:nvPr>
            <p:ph idx="1"/>
          </p:nvPr>
        </p:nvSpPr>
        <p:spPr>
          <a:xfrm>
            <a:off x="4447308" y="591344"/>
            <a:ext cx="6906491" cy="5585619"/>
          </a:xfrm>
        </p:spPr>
        <p:txBody>
          <a:bodyPr anchor="ctr">
            <a:normAutofit/>
          </a:bodyPr>
          <a:lstStyle/>
          <a:p>
            <a:pPr lvl="0"/>
            <a:r>
              <a:rPr lang="en-IN" sz="1500" b="1"/>
              <a:t>In previous Video, I learned how Amazon OpenSearch can store embeddings and perform semantic or hybrid search.</a:t>
            </a:r>
            <a:r>
              <a:rPr lang="en-IN" sz="1500"/>
              <a:t> But OpenSearch is not the only place where an AWS Generative AI application can keep vector data. </a:t>
            </a:r>
          </a:p>
          <a:p>
            <a:pPr lvl="0"/>
            <a:r>
              <a:rPr lang="en-IN" sz="1500"/>
              <a:t>Different applications already store their information in different systems. One company may keep documents in Amazon S3, another may depend heavily on a relational database, and another may store live application data and chat history in DynamoDB. </a:t>
            </a:r>
          </a:p>
          <a:p>
            <a:pPr lvl="0"/>
            <a:r>
              <a:rPr lang="en-IN" sz="1500"/>
              <a:t>Because of this, </a:t>
            </a:r>
            <a:r>
              <a:rPr lang="en-IN" sz="1500" b="1"/>
              <a:t>the best place for vectors often depends on where the original data already lives and how the application needs to use it</a:t>
            </a:r>
            <a:r>
              <a:rPr lang="en-IN" sz="1500"/>
              <a:t>. A vector store is not only about finding similar embeddings; cost, latency, filtering, transactions, operational data, and integration also matter. </a:t>
            </a:r>
          </a:p>
          <a:p>
            <a:pPr lvl="0"/>
            <a:r>
              <a:rPr lang="en-IN" sz="1500"/>
              <a:t>In this video, I will study three different approaches: </a:t>
            </a:r>
            <a:r>
              <a:rPr lang="en-IN" sz="1500" b="1"/>
              <a:t>Amazon S3 Vectors for large and cost-focused vector storage, Amazon Aurora with </a:t>
            </a:r>
            <a:r>
              <a:rPr lang="en-IN" sz="1500" b="1" err="1"/>
              <a:t>pgvector</a:t>
            </a:r>
            <a:r>
              <a:rPr lang="en-IN" sz="1500" b="1"/>
              <a:t> for relational data plus similarity search, and DynamoDB Vector Indexes for operational data and AI memory.</a:t>
            </a:r>
            <a:r>
              <a:rPr lang="en-IN" sz="1500"/>
              <a:t> </a:t>
            </a:r>
          </a:p>
          <a:p>
            <a:endParaRPr lang="en-IN" sz="1500" b="1"/>
          </a:p>
          <a:p>
            <a:r>
              <a:rPr lang="en-IN" sz="1500" b="1"/>
              <a:t>Main idea:</a:t>
            </a:r>
            <a:endParaRPr lang="en-IN" sz="1500"/>
          </a:p>
          <a:p>
            <a:r>
              <a:rPr lang="en-IN" sz="1500"/>
              <a:t>There is not one AWS storage design that fits every Generative AI application.</a:t>
            </a:r>
          </a:p>
        </p:txBody>
      </p:sp>
    </p:spTree>
    <p:extLst>
      <p:ext uri="{BB962C8B-B14F-4D97-AF65-F5344CB8AC3E}">
        <p14:creationId xmlns:p14="http://schemas.microsoft.com/office/powerpoint/2010/main" val="130663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64B9332-0C0F-28E1-7CA8-3978D3DA5A40}"/>
              </a:ext>
            </a:extLst>
          </p:cNvPr>
          <p:cNvSpPr>
            <a:spLocks noGrp="1"/>
          </p:cNvSpPr>
          <p:nvPr>
            <p:ph type="title"/>
          </p:nvPr>
        </p:nvSpPr>
        <p:spPr>
          <a:xfrm>
            <a:off x="621792" y="1161288"/>
            <a:ext cx="3602736" cy="4526280"/>
          </a:xfrm>
        </p:spPr>
        <p:txBody>
          <a:bodyPr>
            <a:normAutofit/>
          </a:bodyPr>
          <a:lstStyle/>
          <a:p>
            <a:r>
              <a:rPr lang="en-IN" sz="4000"/>
              <a:t>Amazon S3 Vectors: The Basic Idea</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009A00E-72AC-7ACA-4823-3EA7729035EC}"/>
              </a:ext>
            </a:extLst>
          </p:cNvPr>
          <p:cNvSpPr>
            <a:spLocks noGrp="1"/>
          </p:cNvSpPr>
          <p:nvPr>
            <p:ph idx="1"/>
          </p:nvPr>
        </p:nvSpPr>
        <p:spPr>
          <a:xfrm>
            <a:off x="5434149" y="932688"/>
            <a:ext cx="5916603" cy="4992624"/>
          </a:xfrm>
        </p:spPr>
        <p:txBody>
          <a:bodyPr anchor="ctr">
            <a:normAutofit/>
          </a:bodyPr>
          <a:lstStyle/>
          <a:p>
            <a:pPr lvl="0"/>
            <a:r>
              <a:rPr lang="en-IN" sz="1300" b="1"/>
              <a:t>Amazon S3 Vectors allows vector embeddings to be stored in a purpose-built vector structure connected with Amazon S3.</a:t>
            </a:r>
            <a:r>
              <a:rPr lang="en-IN" sz="1300"/>
              <a:t> Instead of creating and managing a full search cluster, the application can create a vector bucket and place vector indexes inside it. </a:t>
            </a:r>
          </a:p>
          <a:p>
            <a:pPr lvl="0"/>
            <a:r>
              <a:rPr lang="en-IN" sz="1300"/>
              <a:t>The course presents S3 Vectors as a </a:t>
            </a:r>
            <a:r>
              <a:rPr lang="en-IN" sz="1300" b="1"/>
              <a:t>simpler and lower-cost approach for storing large collections of embeddings</a:t>
            </a:r>
            <a:r>
              <a:rPr lang="en-IN" sz="1300"/>
              <a:t>, especially when every vector does not need extremely fast, high-frequency searching. </a:t>
            </a:r>
          </a:p>
          <a:p>
            <a:pPr lvl="0"/>
            <a:r>
              <a:rPr lang="en-IN" sz="1300"/>
              <a:t>To create the index, we define important properties such as the </a:t>
            </a:r>
            <a:r>
              <a:rPr lang="en-IN" sz="1300" b="1"/>
              <a:t>number of embedding dimensions and the distance metric</a:t>
            </a:r>
            <a:r>
              <a:rPr lang="en-IN" sz="1300"/>
              <a:t>. Those settings need to match how the embedding model represents and compares vectors. </a:t>
            </a:r>
          </a:p>
          <a:p>
            <a:pPr lvl="0"/>
            <a:r>
              <a:rPr lang="en-IN" sz="1300"/>
              <a:t>After the index exists, applications can store embeddings together with useful metadata and later send vector queries to find similar items. </a:t>
            </a:r>
          </a:p>
          <a:p>
            <a:r>
              <a:rPr lang="en-IN" sz="1300" b="1"/>
              <a:t>Basic Structure</a:t>
            </a:r>
          </a:p>
          <a:p>
            <a:r>
              <a:rPr lang="en-IN" sz="1300" b="1"/>
              <a:t>S3 Vector Bucket</a:t>
            </a:r>
            <a:br>
              <a:rPr lang="en-IN" sz="1300"/>
            </a:br>
            <a:r>
              <a:rPr lang="en-IN" sz="1300"/>
              <a:t>↓</a:t>
            </a:r>
            <a:br>
              <a:rPr lang="en-IN" sz="1300"/>
            </a:br>
            <a:r>
              <a:rPr lang="en-IN" sz="1300" b="1"/>
              <a:t>Vector Index</a:t>
            </a:r>
            <a:br>
              <a:rPr lang="en-IN" sz="1300"/>
            </a:br>
            <a:r>
              <a:rPr lang="en-IN" sz="1300"/>
              <a:t>↓</a:t>
            </a:r>
            <a:br>
              <a:rPr lang="en-IN" sz="1300"/>
            </a:br>
            <a:r>
              <a:rPr lang="en-IN" sz="1300" b="1"/>
              <a:t>Vectors + Metadata</a:t>
            </a:r>
            <a:endParaRPr lang="en-IN" sz="1300"/>
          </a:p>
          <a:p>
            <a:r>
              <a:rPr lang="en-IN" sz="1300"/>
              <a:t>So S3 Vectors gives us vector-storage capability without requiring us to operate the same type of search infrastructure we discussed with OpenSearch.</a:t>
            </a:r>
          </a:p>
        </p:txBody>
      </p:sp>
    </p:spTree>
    <p:extLst>
      <p:ext uri="{BB962C8B-B14F-4D97-AF65-F5344CB8AC3E}">
        <p14:creationId xmlns:p14="http://schemas.microsoft.com/office/powerpoint/2010/main" val="3805288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AC3603-53B8-F116-E7D0-192284A41B0A}"/>
              </a:ext>
            </a:extLst>
          </p:cNvPr>
          <p:cNvSpPr>
            <a:spLocks noGrp="1"/>
          </p:cNvSpPr>
          <p:nvPr>
            <p:ph type="title"/>
          </p:nvPr>
        </p:nvSpPr>
        <p:spPr>
          <a:xfrm>
            <a:off x="1153618" y="1239927"/>
            <a:ext cx="4008586" cy="4680583"/>
          </a:xfrm>
        </p:spPr>
        <p:txBody>
          <a:bodyPr anchor="ctr">
            <a:normAutofit/>
          </a:bodyPr>
          <a:lstStyle/>
          <a:p>
            <a:r>
              <a:rPr lang="en-IN" sz="5200"/>
              <a:t>What Is Stored Inside an S3 Vector Index?</a:t>
            </a:r>
          </a:p>
        </p:txBody>
      </p:sp>
      <p:sp>
        <p:nvSpPr>
          <p:cNvPr id="3" name="Content Placeholder 2">
            <a:extLst>
              <a:ext uri="{FF2B5EF4-FFF2-40B4-BE49-F238E27FC236}">
                <a16:creationId xmlns:a16="http://schemas.microsoft.com/office/drawing/2014/main" id="{BFA85F6A-B776-F34B-9BCA-D698D67726D4}"/>
              </a:ext>
            </a:extLst>
          </p:cNvPr>
          <p:cNvSpPr>
            <a:spLocks noGrp="1"/>
          </p:cNvSpPr>
          <p:nvPr>
            <p:ph idx="1"/>
          </p:nvPr>
        </p:nvSpPr>
        <p:spPr>
          <a:xfrm>
            <a:off x="6291923" y="1239927"/>
            <a:ext cx="4971824" cy="4680583"/>
          </a:xfrm>
        </p:spPr>
        <p:txBody>
          <a:bodyPr anchor="ctr">
            <a:normAutofit/>
          </a:bodyPr>
          <a:lstStyle/>
          <a:p>
            <a:r>
              <a:rPr lang="en-IN" sz="1100"/>
              <a:t>A vector record contains more than only a long list of numbers.</a:t>
            </a:r>
          </a:p>
          <a:p>
            <a:pPr lvl="0"/>
            <a:r>
              <a:rPr lang="en-IN" sz="1100" b="1"/>
              <a:t>The key identifies the item represented by the vector.</a:t>
            </a:r>
            <a:r>
              <a:rPr lang="en-IN" sz="1100"/>
              <a:t> For example, the key might represent a movie, product, document section, image, or another object. </a:t>
            </a:r>
          </a:p>
          <a:p>
            <a:pPr lvl="0"/>
            <a:r>
              <a:rPr lang="en-IN" sz="1100" b="1"/>
              <a:t>The vector data contains the embedding itself.</a:t>
            </a:r>
            <a:r>
              <a:rPr lang="en-IN" sz="1100"/>
              <a:t> In the course example, the embeddings are stored as floating-point values. Those numbers represent the meaning or characteristics learned by the embedding model. </a:t>
            </a:r>
          </a:p>
          <a:p>
            <a:pPr lvl="0"/>
            <a:r>
              <a:rPr lang="en-IN" sz="1100" b="1"/>
              <a:t>Metadata provides extra information about the item.</a:t>
            </a:r>
            <a:r>
              <a:rPr lang="en-IN" sz="1100"/>
              <a:t> For a movie embedding, metadata might include the original text and the genre. For a company document, metadata could instead contain the department, document type, year, or topic. </a:t>
            </a:r>
          </a:p>
          <a:p>
            <a:r>
              <a:rPr lang="en-IN" sz="1100" b="1"/>
              <a:t>Simple Example</a:t>
            </a:r>
          </a:p>
          <a:p>
            <a:r>
              <a:rPr lang="en-IN" sz="1100"/>
              <a:t>Imagine we store an embedding for:</a:t>
            </a:r>
          </a:p>
          <a:p>
            <a:r>
              <a:rPr lang="en-IN" sz="1100" b="1"/>
              <a:t>Key:</a:t>
            </a:r>
            <a:r>
              <a:rPr lang="en-IN" sz="1100"/>
              <a:t> Employee-Remote-Work-Policy</a:t>
            </a:r>
          </a:p>
          <a:p>
            <a:r>
              <a:rPr lang="en-IN" sz="1100" b="1"/>
              <a:t>Vector:</a:t>
            </a:r>
            <a:r>
              <a:rPr lang="en-IN" sz="1100"/>
              <a:t> Numerical embedding created by a Bedrock embedding model</a:t>
            </a:r>
          </a:p>
          <a:p>
            <a:r>
              <a:rPr lang="en-IN" sz="1100" b="1"/>
              <a:t>Metadata:</a:t>
            </a:r>
            <a:r>
              <a:rPr lang="en-IN" sz="1100"/>
              <a:t> Department = HR, Year = 2026, Topic = Remote Work</a:t>
            </a:r>
          </a:p>
          <a:p>
            <a:r>
              <a:rPr lang="en-IN" sz="1100"/>
              <a:t>This means the application can store semantic information and descriptive information together instead of keeping only the embedding.</a:t>
            </a:r>
          </a:p>
        </p:txBody>
      </p:sp>
    </p:spTree>
    <p:extLst>
      <p:ext uri="{BB962C8B-B14F-4D97-AF65-F5344CB8AC3E}">
        <p14:creationId xmlns:p14="http://schemas.microsoft.com/office/powerpoint/2010/main" val="2997965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339EE9-5436-4860-BBFC-7CD7C90D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5" y="0"/>
            <a:ext cx="7537705"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BEF3E0-2E53-4F6F-62C4-7D2367876238}"/>
              </a:ext>
            </a:extLst>
          </p:cNvPr>
          <p:cNvSpPr>
            <a:spLocks noGrp="1"/>
          </p:cNvSpPr>
          <p:nvPr>
            <p:ph type="title"/>
          </p:nvPr>
        </p:nvSpPr>
        <p:spPr>
          <a:xfrm>
            <a:off x="905484" y="1065749"/>
            <a:ext cx="3748810" cy="4726502"/>
          </a:xfrm>
        </p:spPr>
        <p:txBody>
          <a:bodyPr>
            <a:normAutofit/>
          </a:bodyPr>
          <a:lstStyle/>
          <a:p>
            <a:r>
              <a:rPr lang="en-IN"/>
              <a:t>Storing and Querying Vectors</a:t>
            </a:r>
            <a:endParaRPr lang="en-IN" dirty="0"/>
          </a:p>
        </p:txBody>
      </p:sp>
      <p:sp>
        <p:nvSpPr>
          <p:cNvPr id="3" name="Content Placeholder 2">
            <a:extLst>
              <a:ext uri="{FF2B5EF4-FFF2-40B4-BE49-F238E27FC236}">
                <a16:creationId xmlns:a16="http://schemas.microsoft.com/office/drawing/2014/main" id="{E4DC41B6-4977-98DC-44AA-8566A3AD7568}"/>
              </a:ext>
            </a:extLst>
          </p:cNvPr>
          <p:cNvSpPr>
            <a:spLocks noGrp="1"/>
          </p:cNvSpPr>
          <p:nvPr>
            <p:ph idx="1"/>
          </p:nvPr>
        </p:nvSpPr>
        <p:spPr>
          <a:xfrm>
            <a:off x="6400800" y="713313"/>
            <a:ext cx="4953000" cy="5431376"/>
          </a:xfrm>
        </p:spPr>
        <p:txBody>
          <a:bodyPr anchor="ctr">
            <a:normAutofit/>
          </a:bodyPr>
          <a:lstStyle/>
          <a:p>
            <a:r>
              <a:rPr lang="en-IN" sz="1000"/>
              <a:t>The course introduces two important operations.</a:t>
            </a:r>
          </a:p>
          <a:p>
            <a:endParaRPr lang="en-IN" sz="1000" b="1"/>
          </a:p>
          <a:p>
            <a:r>
              <a:rPr lang="en-IN" sz="1000" b="1"/>
              <a:t>put_vectors:</a:t>
            </a:r>
          </a:p>
          <a:p>
            <a:pPr lvl="0"/>
            <a:r>
              <a:rPr lang="en-IN" sz="1000" b="1"/>
              <a:t>put_vectors is used to add vector records into the index.</a:t>
            </a:r>
            <a:r>
              <a:rPr lang="en-IN" sz="1000"/>
              <a:t> Each record can contain the vector, a key, and metadata that describes what that vector represents. </a:t>
            </a:r>
          </a:p>
          <a:p>
            <a:pPr lvl="0"/>
            <a:r>
              <a:rPr lang="en-IN" sz="1000"/>
              <a:t>Several vectors can be inserted together instead of making a separate request for every item. This becomes more efficient when an application is loading a large set of embeddings. </a:t>
            </a:r>
          </a:p>
          <a:p>
            <a:endParaRPr lang="en-IN" sz="1000" b="1"/>
          </a:p>
          <a:p>
            <a:r>
              <a:rPr lang="en-IN" sz="1000" b="1"/>
              <a:t>query_vectors:</a:t>
            </a:r>
          </a:p>
          <a:p>
            <a:pPr lvl="0"/>
            <a:r>
              <a:rPr lang="en-IN" sz="1000" b="1"/>
              <a:t>query_vectors searches the index using another vector.</a:t>
            </a:r>
            <a:r>
              <a:rPr lang="en-IN" sz="1000"/>
              <a:t> Usually the application first converts the user's text, image, or other input into an embedding and then compares that query embedding with the stored vectors. </a:t>
            </a:r>
          </a:p>
          <a:p>
            <a:endParaRPr lang="en-IN" sz="1000" b="1"/>
          </a:p>
          <a:p>
            <a:r>
              <a:rPr lang="en-IN" sz="1000" b="1"/>
              <a:t>Simple Flow</a:t>
            </a:r>
          </a:p>
          <a:p>
            <a:r>
              <a:rPr lang="en-IN" sz="1000" b="1"/>
              <a:t>User Question</a:t>
            </a:r>
            <a:br>
              <a:rPr lang="en-IN" sz="1000"/>
            </a:br>
            <a:r>
              <a:rPr lang="en-IN" sz="1000"/>
              <a:t>→ Create Embedding</a:t>
            </a:r>
            <a:br>
              <a:rPr lang="en-IN" sz="1000"/>
            </a:br>
            <a:r>
              <a:rPr lang="en-IN" sz="1000"/>
              <a:t>→ query_vectors</a:t>
            </a:r>
            <a:br>
              <a:rPr lang="en-IN" sz="1000"/>
            </a:br>
            <a:r>
              <a:rPr lang="en-IN" sz="1000"/>
              <a:t>→ Find Similar Stored Vectors</a:t>
            </a:r>
            <a:br>
              <a:rPr lang="en-IN" sz="1000"/>
            </a:br>
            <a:r>
              <a:rPr lang="en-IN" sz="1000"/>
              <a:t>→ Return Relevant Information</a:t>
            </a:r>
          </a:p>
          <a:p>
            <a:endParaRPr lang="en-IN" sz="1000"/>
          </a:p>
          <a:p>
            <a:r>
              <a:rPr lang="en-IN" sz="1000"/>
              <a:t>The vector database does not answer the user's question itself. Its job is to </a:t>
            </a:r>
            <a:r>
              <a:rPr lang="en-IN" sz="1000" b="1"/>
              <a:t>find information with similar meaning</a:t>
            </a:r>
            <a:r>
              <a:rPr lang="en-IN" sz="1000"/>
              <a:t> so another system, such as a Foundation Model, can use that information.</a:t>
            </a:r>
          </a:p>
        </p:txBody>
      </p:sp>
    </p:spTree>
    <p:extLst>
      <p:ext uri="{BB962C8B-B14F-4D97-AF65-F5344CB8AC3E}">
        <p14:creationId xmlns:p14="http://schemas.microsoft.com/office/powerpoint/2010/main" val="1261297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FCCA96-9E18-F356-8021-630969E5D082}"/>
              </a:ext>
            </a:extLst>
          </p:cNvPr>
          <p:cNvSpPr>
            <a:spLocks noGrp="1"/>
          </p:cNvSpPr>
          <p:nvPr>
            <p:ph type="title"/>
          </p:nvPr>
        </p:nvSpPr>
        <p:spPr>
          <a:xfrm>
            <a:off x="1043631" y="809898"/>
            <a:ext cx="9942716" cy="1554480"/>
          </a:xfrm>
        </p:spPr>
        <p:txBody>
          <a:bodyPr anchor="ctr">
            <a:normAutofit/>
          </a:bodyPr>
          <a:lstStyle/>
          <a:p>
            <a:r>
              <a:rPr lang="en-IN" sz="4800"/>
              <a:t>S3 Vectors and Amazon Bedrock Knowledge Bases</a:t>
            </a:r>
          </a:p>
        </p:txBody>
      </p:sp>
      <p:sp>
        <p:nvSpPr>
          <p:cNvPr id="3" name="Content Placeholder 2">
            <a:extLst>
              <a:ext uri="{FF2B5EF4-FFF2-40B4-BE49-F238E27FC236}">
                <a16:creationId xmlns:a16="http://schemas.microsoft.com/office/drawing/2014/main" id="{EC30689E-ED0D-E173-69E8-9D1E01A39681}"/>
              </a:ext>
            </a:extLst>
          </p:cNvPr>
          <p:cNvSpPr>
            <a:spLocks noGrp="1"/>
          </p:cNvSpPr>
          <p:nvPr>
            <p:ph idx="1"/>
          </p:nvPr>
        </p:nvSpPr>
        <p:spPr>
          <a:xfrm>
            <a:off x="1045028" y="3017522"/>
            <a:ext cx="9941319" cy="3124658"/>
          </a:xfrm>
        </p:spPr>
        <p:txBody>
          <a:bodyPr anchor="ctr">
            <a:normAutofit/>
          </a:bodyPr>
          <a:lstStyle/>
          <a:p>
            <a:pPr lvl="0"/>
            <a:r>
              <a:rPr lang="en-IN" sz="1300" b="1"/>
              <a:t>Developers can create embeddings themselves and store them in S3 Vectors</a:t>
            </a:r>
            <a:r>
              <a:rPr lang="en-IN" sz="1300"/>
              <a:t>, but the course also explains that S3 Vectors integrates with Amazon Bedrock Knowledge Bases. </a:t>
            </a:r>
          </a:p>
          <a:p>
            <a:pPr lvl="0"/>
            <a:r>
              <a:rPr lang="en-IN" sz="1300"/>
              <a:t>With Knowledge Base integration, some of the vector-management process can be handled as part of the Bedrock workflow instead of the developer manually controlling every vector operation. </a:t>
            </a:r>
          </a:p>
          <a:p>
            <a:pPr lvl="0"/>
            <a:r>
              <a:rPr lang="en-IN" sz="1300"/>
              <a:t>This connects with what I studied earlier about RAG: source information is prepared, embeddings are created, those vectors are stored, and relevant information is retrieved when the user asks a question. </a:t>
            </a:r>
          </a:p>
          <a:p>
            <a:pPr lvl="0"/>
            <a:r>
              <a:rPr lang="en-IN" sz="1300"/>
              <a:t>The important difference in this video is the storage choice. Earlier I focused on </a:t>
            </a:r>
            <a:r>
              <a:rPr lang="en-IN" sz="1300" b="1"/>
              <a:t>OpenSearch as the vector store</a:t>
            </a:r>
            <a:r>
              <a:rPr lang="en-IN" sz="1300"/>
              <a:t>. Here the same general RAG requirement can use </a:t>
            </a:r>
            <a:r>
              <a:rPr lang="en-IN" sz="1300" b="1"/>
              <a:t>S3 Vectors as the place where the embeddings are stored</a:t>
            </a:r>
            <a:r>
              <a:rPr lang="en-IN" sz="1300"/>
              <a:t>. </a:t>
            </a:r>
          </a:p>
          <a:p>
            <a:endParaRPr lang="en-IN" sz="1300" b="1"/>
          </a:p>
          <a:p>
            <a:r>
              <a:rPr lang="en-IN" sz="1300" b="1"/>
              <a:t>Example:</a:t>
            </a:r>
            <a:endParaRPr lang="en-IN" sz="1300"/>
          </a:p>
          <a:p>
            <a:r>
              <a:rPr lang="en-IN" sz="1300"/>
              <a:t>A company may keep a very large archive of product manuals in S3. The manuals can be embedded and stored using S3 Vectors, and a Bedrock Knowledge Base can retrieve useful information when an employee asks a product-support question.</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065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2E70E5-F413-324F-DECE-4008AB5081C7}"/>
              </a:ext>
            </a:extLst>
          </p:cNvPr>
          <p:cNvSpPr>
            <a:spLocks noGrp="1"/>
          </p:cNvSpPr>
          <p:nvPr>
            <p:ph type="title"/>
          </p:nvPr>
        </p:nvSpPr>
        <p:spPr>
          <a:xfrm>
            <a:off x="1115568" y="548640"/>
            <a:ext cx="10168128" cy="1179576"/>
          </a:xfrm>
        </p:spPr>
        <p:txBody>
          <a:bodyPr>
            <a:normAutofit/>
          </a:bodyPr>
          <a:lstStyle/>
          <a:p>
            <a:r>
              <a:rPr lang="en-IN" sz="4000"/>
              <a:t>Performance, Consistency, and Tiered Search</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7446A5E-8756-0E94-7B3B-2424A209AEBA}"/>
              </a:ext>
            </a:extLst>
          </p:cNvPr>
          <p:cNvSpPr>
            <a:spLocks noGrp="1"/>
          </p:cNvSpPr>
          <p:nvPr>
            <p:ph idx="1"/>
          </p:nvPr>
        </p:nvSpPr>
        <p:spPr>
          <a:xfrm>
            <a:off x="1115568" y="2481943"/>
            <a:ext cx="10168128" cy="3695020"/>
          </a:xfrm>
        </p:spPr>
        <p:txBody>
          <a:bodyPr>
            <a:normAutofit/>
          </a:bodyPr>
          <a:lstStyle/>
          <a:p>
            <a:r>
              <a:rPr lang="en-IN" sz="1400"/>
              <a:t>S3 Vectors is designed differently from OpenSearch, so the expected usage pattern is also different.</a:t>
            </a:r>
          </a:p>
          <a:p>
            <a:pPr lvl="0"/>
            <a:r>
              <a:rPr lang="en-IN" sz="1400" b="1"/>
              <a:t>The course states that S3 Vectors is strongly consistent</a:t>
            </a:r>
            <a:r>
              <a:rPr lang="en-IN" sz="1400"/>
              <a:t>, meaning newly added vector data becomes available for retrieval without waiting for a delayed consistency process. </a:t>
            </a:r>
          </a:p>
          <a:p>
            <a:pPr lvl="0"/>
            <a:r>
              <a:rPr lang="en-IN" sz="1400"/>
              <a:t>The vector data is also optimized over time for price and performance, but the course gives expected search performance in approximately the </a:t>
            </a:r>
            <a:r>
              <a:rPr lang="en-IN" sz="1400" b="1"/>
              <a:t>100 millisecond to 1 second range</a:t>
            </a:r>
            <a:r>
              <a:rPr lang="en-IN" sz="1400"/>
              <a:t> rather than positioning it as the fastest possible option. </a:t>
            </a:r>
          </a:p>
          <a:p>
            <a:pPr lvl="0"/>
            <a:r>
              <a:rPr lang="en-IN" sz="1400"/>
              <a:t>For applications where some searches are highly performance-sensitive, the course describes a </a:t>
            </a:r>
            <a:r>
              <a:rPr lang="en-IN" sz="1400" b="1"/>
              <a:t>tiered search strategy</a:t>
            </a:r>
            <a:r>
              <a:rPr lang="en-IN" sz="1400"/>
              <a:t>. Frequently searched vectors can use OpenSearch, while less frequently queried vectors can remain in S3 Vectors. </a:t>
            </a:r>
          </a:p>
          <a:p>
            <a:pPr lvl="0"/>
            <a:r>
              <a:rPr lang="en-IN" sz="1400"/>
              <a:t>S3 Vectors and OpenSearch can therefore be used together. However, the course warns that exporting data from S3 Vectors into OpenSearch can mean paying for storage in both places, so architecture and cost still need to be considered. </a:t>
            </a:r>
          </a:p>
          <a:p>
            <a:r>
              <a:rPr lang="en-IN" sz="1400" b="1"/>
              <a:t>Easy Way to Remember</a:t>
            </a:r>
          </a:p>
          <a:p>
            <a:r>
              <a:rPr lang="en-IN" sz="1400" b="1"/>
              <a:t>S3 Vectors:</a:t>
            </a:r>
            <a:r>
              <a:rPr lang="en-IN" sz="1400"/>
              <a:t> large-scale, simpler, cost-focused storage</a:t>
            </a:r>
            <a:br>
              <a:rPr lang="en-IN" sz="1400"/>
            </a:br>
            <a:r>
              <a:rPr lang="en-IN" sz="1400" b="1"/>
              <a:t>OpenSearch:</a:t>
            </a:r>
            <a:r>
              <a:rPr lang="en-IN" sz="1400"/>
              <a:t> richer and more performance-focused search features</a:t>
            </a:r>
          </a:p>
          <a:p>
            <a:r>
              <a:rPr lang="en-IN" sz="1400"/>
              <a:t>This is not about one service always being better. They are designed for different requirements.</a:t>
            </a:r>
          </a:p>
        </p:txBody>
      </p:sp>
    </p:spTree>
    <p:extLst>
      <p:ext uri="{BB962C8B-B14F-4D97-AF65-F5344CB8AC3E}">
        <p14:creationId xmlns:p14="http://schemas.microsoft.com/office/powerpoint/2010/main" val="2400510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40E93D9-F13F-4097-A159-E0A6CEBA8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1666FE2-2F70-E97C-83C4-CA42567DF0A0}"/>
              </a:ext>
            </a:extLst>
          </p:cNvPr>
          <p:cNvSpPr>
            <a:spLocks noGrp="1"/>
          </p:cNvSpPr>
          <p:nvPr>
            <p:ph type="title"/>
          </p:nvPr>
        </p:nvSpPr>
        <p:spPr>
          <a:xfrm>
            <a:off x="389916" y="444464"/>
            <a:ext cx="3420305" cy="1906317"/>
          </a:xfrm>
        </p:spPr>
        <p:txBody>
          <a:bodyPr>
            <a:normAutofit/>
          </a:bodyPr>
          <a:lstStyle/>
          <a:p>
            <a:pPr algn="ctr"/>
            <a:r>
              <a:rPr lang="en-IN" sz="2800"/>
              <a:t>Moving from Vector Storage to Relational Data</a:t>
            </a:r>
          </a:p>
        </p:txBody>
      </p:sp>
      <p:pic>
        <p:nvPicPr>
          <p:cNvPr id="5" name="Picture 4" descr="An abstract design with lines and financial symbols">
            <a:extLst>
              <a:ext uri="{FF2B5EF4-FFF2-40B4-BE49-F238E27FC236}">
                <a16:creationId xmlns:a16="http://schemas.microsoft.com/office/drawing/2014/main" id="{F8F15D82-AF56-B562-56C3-B65C4DFB17D5}"/>
              </a:ext>
            </a:extLst>
          </p:cNvPr>
          <p:cNvPicPr>
            <a:picLocks noChangeAspect="1"/>
          </p:cNvPicPr>
          <p:nvPr/>
        </p:nvPicPr>
        <p:blipFill>
          <a:blip r:embed="rId2"/>
          <a:srcRect l="14768" r="15658" b="-1"/>
          <a:stretch>
            <a:fillRect/>
          </a:stretch>
        </p:blipFill>
        <p:spPr>
          <a:xfrm>
            <a:off x="20" y="2768743"/>
            <a:ext cx="4278264" cy="4089258"/>
          </a:xfrm>
          <a:prstGeom prst="rect">
            <a:avLst/>
          </a:prstGeom>
        </p:spPr>
      </p:pic>
      <p:sp>
        <p:nvSpPr>
          <p:cNvPr id="11" name="Rectangle 10">
            <a:extLst>
              <a:ext uri="{FF2B5EF4-FFF2-40B4-BE49-F238E27FC236}">
                <a16:creationId xmlns:a16="http://schemas.microsoft.com/office/drawing/2014/main" id="{BA3D150B-ADB5-401D-8304-C7845A1095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68743"/>
            <a:ext cx="4310288"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Content Placeholder 2">
            <a:extLst>
              <a:ext uri="{FF2B5EF4-FFF2-40B4-BE49-F238E27FC236}">
                <a16:creationId xmlns:a16="http://schemas.microsoft.com/office/drawing/2014/main" id="{0ADC1FB0-E834-49EE-B003-05FCFE517717}"/>
              </a:ext>
            </a:extLst>
          </p:cNvPr>
          <p:cNvSpPr>
            <a:spLocks noGrp="1"/>
          </p:cNvSpPr>
          <p:nvPr>
            <p:ph idx="1"/>
          </p:nvPr>
        </p:nvSpPr>
        <p:spPr>
          <a:xfrm>
            <a:off x="5431646" y="678955"/>
            <a:ext cx="5586448" cy="5409743"/>
          </a:xfrm>
        </p:spPr>
        <p:txBody>
          <a:bodyPr anchor="ctr">
            <a:normAutofit/>
          </a:bodyPr>
          <a:lstStyle/>
          <a:p>
            <a:r>
              <a:rPr lang="en-IN" sz="1400"/>
              <a:t>Not every AI application works mainly with documents.</a:t>
            </a:r>
          </a:p>
          <a:p>
            <a:r>
              <a:rPr lang="en-IN" sz="1400"/>
              <a:t>Imagine an AI assistant for an online store.</a:t>
            </a:r>
          </a:p>
          <a:p>
            <a:endParaRPr lang="en-IN" sz="1400"/>
          </a:p>
          <a:p>
            <a:r>
              <a:rPr lang="en-IN" sz="1400"/>
              <a:t>The application may need to know:</a:t>
            </a:r>
          </a:p>
          <a:p>
            <a:pPr lvl="0"/>
            <a:r>
              <a:rPr lang="en-IN" sz="1400"/>
              <a:t>Customer ID </a:t>
            </a:r>
          </a:p>
          <a:p>
            <a:pPr lvl="0"/>
            <a:r>
              <a:rPr lang="en-IN" sz="1400"/>
              <a:t>Order number </a:t>
            </a:r>
          </a:p>
          <a:p>
            <a:pPr lvl="0"/>
            <a:r>
              <a:rPr lang="en-IN" sz="1400"/>
              <a:t>Product price </a:t>
            </a:r>
          </a:p>
          <a:p>
            <a:pPr lvl="0"/>
            <a:r>
              <a:rPr lang="en-IN" sz="1400"/>
              <a:t>Payment status </a:t>
            </a:r>
          </a:p>
          <a:p>
            <a:pPr lvl="0"/>
            <a:r>
              <a:rPr lang="en-IN" sz="1400"/>
              <a:t>Shipping date </a:t>
            </a:r>
          </a:p>
          <a:p>
            <a:pPr lvl="0"/>
            <a:r>
              <a:rPr lang="en-IN" sz="1400"/>
              <a:t>Inventory quantity </a:t>
            </a:r>
          </a:p>
          <a:p>
            <a:endParaRPr lang="en-IN" sz="1400"/>
          </a:p>
          <a:p>
            <a:r>
              <a:rPr lang="en-IN" sz="1400"/>
              <a:t>This is </a:t>
            </a:r>
            <a:r>
              <a:rPr lang="en-IN" sz="1400" b="1"/>
              <a:t>structured business data</a:t>
            </a:r>
            <a:r>
              <a:rPr lang="en-IN" sz="1400"/>
              <a:t>, and companies often already store this kind of information in relational databases.</a:t>
            </a:r>
          </a:p>
          <a:p>
            <a:r>
              <a:rPr lang="en-IN" sz="1400"/>
              <a:t>That creates another question:</a:t>
            </a:r>
          </a:p>
          <a:p>
            <a:r>
              <a:rPr lang="en-IN" sz="1400" b="1"/>
              <a:t>What if we need normal SQL data and vector similarity in the same application?</a:t>
            </a:r>
            <a:endParaRPr lang="en-IN" sz="1400"/>
          </a:p>
          <a:p>
            <a:r>
              <a:rPr lang="en-IN" sz="1400"/>
              <a:t>This is where services such as </a:t>
            </a:r>
            <a:r>
              <a:rPr lang="en-IN" sz="1400" b="1"/>
              <a:t>Amazon RDS and Amazon Aurora</a:t>
            </a:r>
            <a:r>
              <a:rPr lang="en-IN" sz="1400"/>
              <a:t> become important.</a:t>
            </a:r>
          </a:p>
        </p:txBody>
      </p:sp>
      <p:sp>
        <p:nvSpPr>
          <p:cNvPr id="13" name="Rectangle 12">
            <a:extLst>
              <a:ext uri="{FF2B5EF4-FFF2-40B4-BE49-F238E27FC236}">
                <a16:creationId xmlns:a16="http://schemas.microsoft.com/office/drawing/2014/main" id="{ACD3AB31-A71C-4414-BA05-CF667CBA3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5909"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Tree>
    <p:extLst>
      <p:ext uri="{BB962C8B-B14F-4D97-AF65-F5344CB8AC3E}">
        <p14:creationId xmlns:p14="http://schemas.microsoft.com/office/powerpoint/2010/main" val="2599309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F55EBE-9AF1-9D26-C054-C502968FFC75}"/>
              </a:ext>
            </a:extLst>
          </p:cNvPr>
          <p:cNvPicPr>
            <a:picLocks noChangeAspect="1"/>
          </p:cNvPicPr>
          <p:nvPr/>
        </p:nvPicPr>
        <p:blipFill>
          <a:blip r:embed="rId2">
            <a:duotone>
              <a:schemeClr val="bg2">
                <a:shade val="45000"/>
                <a:satMod val="135000"/>
              </a:schemeClr>
              <a:prstClr val="white"/>
            </a:duotone>
          </a:blip>
          <a:srcRect t="6932" b="8799"/>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8952AD-1DD4-F9F2-9B6B-905C9518530B}"/>
              </a:ext>
            </a:extLst>
          </p:cNvPr>
          <p:cNvSpPr>
            <a:spLocks noGrp="1"/>
          </p:cNvSpPr>
          <p:nvPr>
            <p:ph type="title"/>
          </p:nvPr>
        </p:nvSpPr>
        <p:spPr>
          <a:xfrm>
            <a:off x="838200" y="365125"/>
            <a:ext cx="10515600" cy="1325563"/>
          </a:xfrm>
        </p:spPr>
        <p:txBody>
          <a:bodyPr>
            <a:normAutofit/>
          </a:bodyPr>
          <a:lstStyle/>
          <a:p>
            <a:r>
              <a:rPr lang="en-IN" dirty="0"/>
              <a:t>What Is Amazon RDS?</a:t>
            </a:r>
          </a:p>
        </p:txBody>
      </p:sp>
      <p:graphicFrame>
        <p:nvGraphicFramePr>
          <p:cNvPr id="5" name="Content Placeholder 2">
            <a:extLst>
              <a:ext uri="{FF2B5EF4-FFF2-40B4-BE49-F238E27FC236}">
                <a16:creationId xmlns:a16="http://schemas.microsoft.com/office/drawing/2014/main" id="{E662B5B6-231A-39B9-743C-496A1C8F7BD0}"/>
              </a:ext>
            </a:extLst>
          </p:cNvPr>
          <p:cNvGraphicFramePr>
            <a:graphicFrameLocks noGrp="1"/>
          </p:cNvGraphicFramePr>
          <p:nvPr>
            <p:ph idx="1"/>
            <p:extLst>
              <p:ext uri="{D42A27DB-BD31-4B8C-83A1-F6EECF244321}">
                <p14:modId xmlns:p14="http://schemas.microsoft.com/office/powerpoint/2010/main" val="205773369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9133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F462D-00D6-14B6-DE7A-01F171087AFA}"/>
              </a:ext>
            </a:extLst>
          </p:cNvPr>
          <p:cNvSpPr>
            <a:spLocks noGrp="1"/>
          </p:cNvSpPr>
          <p:nvPr>
            <p:ph type="title"/>
          </p:nvPr>
        </p:nvSpPr>
        <p:spPr>
          <a:xfrm>
            <a:off x="838200" y="365125"/>
            <a:ext cx="10515600" cy="1325563"/>
          </a:xfrm>
        </p:spPr>
        <p:txBody>
          <a:bodyPr>
            <a:normAutofit/>
          </a:bodyPr>
          <a:lstStyle/>
          <a:p>
            <a:r>
              <a:rPr lang="en-IN" sz="5400"/>
              <a:t>Why Use a Managed Database?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B124824-3C95-CC80-6CD6-803C8D1A7B44}"/>
              </a:ext>
            </a:extLst>
          </p:cNvPr>
          <p:cNvSpPr>
            <a:spLocks noGrp="1"/>
          </p:cNvSpPr>
          <p:nvPr>
            <p:ph idx="1"/>
          </p:nvPr>
        </p:nvSpPr>
        <p:spPr>
          <a:xfrm>
            <a:off x="838200" y="1929384"/>
            <a:ext cx="10515600" cy="4251960"/>
          </a:xfrm>
        </p:spPr>
        <p:txBody>
          <a:bodyPr>
            <a:normAutofit/>
          </a:bodyPr>
          <a:lstStyle/>
          <a:p>
            <a:r>
              <a:rPr lang="en-IN" sz="1500"/>
              <a:t>Running a database manually means someone must also manage the infrastructure around that database.</a:t>
            </a:r>
          </a:p>
          <a:p>
            <a:r>
              <a:rPr lang="en-IN" sz="1500"/>
              <a:t>With RDS, AWS handles many operational tasks.</a:t>
            </a:r>
          </a:p>
          <a:p>
            <a:pPr lvl="0"/>
            <a:r>
              <a:rPr lang="en-IN" sz="1500"/>
              <a:t>The course covers managed capabilities such as </a:t>
            </a:r>
            <a:r>
              <a:rPr lang="en-IN" sz="1500" b="1"/>
              <a:t>database provisioning, operating-system patching, backups, monitoring, maintenance, read replicas, and Multi-AZ disaster-recovery configurations</a:t>
            </a:r>
            <a:r>
              <a:rPr lang="en-IN" sz="1500"/>
              <a:t>. </a:t>
            </a:r>
          </a:p>
          <a:p>
            <a:pPr lvl="0"/>
            <a:r>
              <a:rPr lang="en-IN" sz="1500"/>
              <a:t>This allows developers to focus more on the database and application instead of manually managing every part of the database server. </a:t>
            </a:r>
          </a:p>
          <a:p>
            <a:pPr lvl="0"/>
            <a:r>
              <a:rPr lang="en-IN" sz="1500" b="1"/>
              <a:t>RDS Storage Auto Scaling can automatically increase database storage when free space becomes too low.</a:t>
            </a:r>
            <a:r>
              <a:rPr lang="en-IN" sz="1500"/>
              <a:t> The user defines a maximum storage threshold so the database cannot grow without a defined limit. </a:t>
            </a:r>
          </a:p>
          <a:p>
            <a:pPr lvl="0"/>
            <a:r>
              <a:rPr lang="en-IN" sz="1500"/>
              <a:t>The course explains that automatic storage modification can occur when free storage remains below 10% for a period of time and other conditions are met. This is especially useful for applications where data growth is difficult to predict. </a:t>
            </a:r>
          </a:p>
          <a:p>
            <a:endParaRPr lang="en-IN" sz="1500" b="1"/>
          </a:p>
          <a:p>
            <a:r>
              <a:rPr lang="en-IN" sz="1500" b="1"/>
              <a:t>Main idea:</a:t>
            </a:r>
            <a:endParaRPr lang="en-IN" sz="1500"/>
          </a:p>
          <a:p>
            <a:r>
              <a:rPr lang="en-IN" sz="1500"/>
              <a:t>Managed does not mean the database needs no design. It means AWS takes responsibility for many infrastructure and maintenance tasks that would otherwise be handled manually.</a:t>
            </a:r>
          </a:p>
        </p:txBody>
      </p:sp>
    </p:spTree>
    <p:extLst>
      <p:ext uri="{BB962C8B-B14F-4D97-AF65-F5344CB8AC3E}">
        <p14:creationId xmlns:p14="http://schemas.microsoft.com/office/powerpoint/2010/main" val="1615804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C2F79E2-7402-D6F8-3066-13705EF13B3A}"/>
              </a:ext>
            </a:extLst>
          </p:cNvPr>
          <p:cNvSpPr>
            <a:spLocks noGrp="1"/>
          </p:cNvSpPr>
          <p:nvPr>
            <p:ph type="title"/>
          </p:nvPr>
        </p:nvSpPr>
        <p:spPr>
          <a:xfrm>
            <a:off x="1115568" y="548640"/>
            <a:ext cx="10168128" cy="1179576"/>
          </a:xfrm>
        </p:spPr>
        <p:txBody>
          <a:bodyPr>
            <a:normAutofit/>
          </a:bodyPr>
          <a:lstStyle/>
          <a:p>
            <a:r>
              <a:rPr lang="en-IN" sz="4000"/>
              <a:t>Amazon Aurora as a Vector Store</a:t>
            </a:r>
          </a:p>
        </p:txBody>
      </p:sp>
      <p:sp>
        <p:nvSpPr>
          <p:cNvPr id="19" name="Rectangle 1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1689EB9-0916-6E56-CAD5-E6396D37C1FD}"/>
              </a:ext>
            </a:extLst>
          </p:cNvPr>
          <p:cNvSpPr>
            <a:spLocks noGrp="1"/>
          </p:cNvSpPr>
          <p:nvPr>
            <p:ph idx="1"/>
          </p:nvPr>
        </p:nvSpPr>
        <p:spPr>
          <a:xfrm>
            <a:off x="1115568" y="2481943"/>
            <a:ext cx="10168128" cy="3695020"/>
          </a:xfrm>
        </p:spPr>
        <p:txBody>
          <a:bodyPr>
            <a:normAutofit/>
          </a:bodyPr>
          <a:lstStyle/>
          <a:p>
            <a:r>
              <a:rPr lang="en-IN" sz="1200"/>
              <a:t>Amazon Aurora becomes especially interesting for Generative AI when using </a:t>
            </a:r>
            <a:r>
              <a:rPr lang="en-IN" sz="1200" b="1"/>
              <a:t>Aurora PostgreSQL with the pgvector extension</a:t>
            </a:r>
            <a:r>
              <a:rPr lang="en-IN" sz="1200"/>
              <a:t>.</a:t>
            </a:r>
          </a:p>
          <a:p>
            <a:pPr lvl="0"/>
            <a:r>
              <a:rPr lang="en-IN" sz="1200" b="1"/>
              <a:t>pgvector adds a vector data type to PostgreSQL.</a:t>
            </a:r>
            <a:r>
              <a:rPr lang="en-IN" sz="1200"/>
              <a:t> This allows embeddings to be stored in database columns alongside normal relational information. </a:t>
            </a:r>
          </a:p>
          <a:p>
            <a:pPr lvl="0"/>
            <a:r>
              <a:rPr lang="en-IN" sz="1200"/>
              <a:t>The database can calculate vector similarity using methods such as </a:t>
            </a:r>
            <a:r>
              <a:rPr lang="en-IN" sz="1200" b="1"/>
              <a:t>cosine distance, L2 distance, and inner product</a:t>
            </a:r>
            <a:r>
              <a:rPr lang="en-IN" sz="1200"/>
              <a:t>. </a:t>
            </a:r>
          </a:p>
          <a:p>
            <a:pPr lvl="0"/>
            <a:r>
              <a:rPr lang="en-IN" sz="1200"/>
              <a:t>It can also perform similarity searches using vector indexing methods while still supporting normal SQL operations. </a:t>
            </a:r>
          </a:p>
          <a:p>
            <a:pPr lvl="0"/>
            <a:r>
              <a:rPr lang="en-IN" sz="1200"/>
              <a:t>The main advantage is that </a:t>
            </a:r>
            <a:r>
              <a:rPr lang="en-IN" sz="1200" b="1"/>
              <a:t>structured data and vector data can stay in the same database</a:t>
            </a:r>
            <a:r>
              <a:rPr lang="en-IN" sz="1200"/>
              <a:t>. </a:t>
            </a:r>
          </a:p>
          <a:p>
            <a:r>
              <a:rPr lang="en-IN" sz="1200" b="1"/>
              <a:t>Example</a:t>
            </a:r>
          </a:p>
          <a:p>
            <a:r>
              <a:rPr lang="en-IN" sz="1200"/>
              <a:t>A product table could contain:</a:t>
            </a:r>
          </a:p>
          <a:p>
            <a:r>
              <a:rPr lang="en-IN" sz="1200" b="1"/>
              <a:t>Product_ID</a:t>
            </a:r>
            <a:r>
              <a:rPr lang="en-IN" sz="1200"/>
              <a:t> | </a:t>
            </a:r>
            <a:r>
              <a:rPr lang="en-IN" sz="1200" b="1"/>
              <a:t>Name</a:t>
            </a:r>
            <a:r>
              <a:rPr lang="en-IN" sz="1200"/>
              <a:t> | </a:t>
            </a:r>
            <a:r>
              <a:rPr lang="en-IN" sz="1200" b="1"/>
              <a:t>Price</a:t>
            </a:r>
            <a:r>
              <a:rPr lang="en-IN" sz="1200"/>
              <a:t> | </a:t>
            </a:r>
            <a:r>
              <a:rPr lang="en-IN" sz="1200" b="1"/>
              <a:t>Category</a:t>
            </a:r>
            <a:r>
              <a:rPr lang="en-IN" sz="1200"/>
              <a:t> | </a:t>
            </a:r>
            <a:r>
              <a:rPr lang="en-IN" sz="1200" b="1"/>
              <a:t>Description_Vector</a:t>
            </a:r>
            <a:endParaRPr lang="en-IN" sz="1200"/>
          </a:p>
          <a:p>
            <a:r>
              <a:rPr lang="en-IN" sz="1200"/>
              <a:t>Now one system can use SQL to filter by category or price and also use the vector column to search for semantically similar product descriptions.</a:t>
            </a:r>
          </a:p>
          <a:p>
            <a:r>
              <a:rPr lang="en-IN" sz="1200"/>
              <a:t>The course describes Aurora as potentially appropriate for </a:t>
            </a:r>
            <a:r>
              <a:rPr lang="en-IN" sz="1200" b="1"/>
              <a:t>small or medium RAG systems where much of the information is already structured</a:t>
            </a:r>
            <a:r>
              <a:rPr lang="en-IN" sz="1200"/>
              <a:t>.</a:t>
            </a:r>
          </a:p>
        </p:txBody>
      </p:sp>
    </p:spTree>
    <p:extLst>
      <p:ext uri="{BB962C8B-B14F-4D97-AF65-F5344CB8AC3E}">
        <p14:creationId xmlns:p14="http://schemas.microsoft.com/office/powerpoint/2010/main" val="326299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2328FB-966E-1E17-0A65-6EC44176B976}"/>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Why Combine SQL Filtering with Vector Search?</a:t>
            </a:r>
          </a:p>
        </p:txBody>
      </p:sp>
      <p:sp>
        <p:nvSpPr>
          <p:cNvPr id="3" name="Content Placeholder 2">
            <a:extLst>
              <a:ext uri="{FF2B5EF4-FFF2-40B4-BE49-F238E27FC236}">
                <a16:creationId xmlns:a16="http://schemas.microsoft.com/office/drawing/2014/main" id="{C1C73669-E9EA-8BB5-BE73-2217A25501E3}"/>
              </a:ext>
            </a:extLst>
          </p:cNvPr>
          <p:cNvSpPr>
            <a:spLocks noGrp="1"/>
          </p:cNvSpPr>
          <p:nvPr>
            <p:ph idx="1"/>
          </p:nvPr>
        </p:nvSpPr>
        <p:spPr>
          <a:xfrm>
            <a:off x="4810259" y="649480"/>
            <a:ext cx="6555347" cy="5546047"/>
          </a:xfrm>
        </p:spPr>
        <p:txBody>
          <a:bodyPr anchor="ctr">
            <a:normAutofit/>
          </a:bodyPr>
          <a:lstStyle/>
          <a:p>
            <a:r>
              <a:rPr lang="en-IN" sz="1400"/>
              <a:t>A vector search may find items with similar meaning, but sometimes similarity alone is not enough.</a:t>
            </a:r>
          </a:p>
          <a:p>
            <a:r>
              <a:rPr lang="en-IN" sz="1400"/>
              <a:t>Imagine a customer asks:</a:t>
            </a:r>
          </a:p>
          <a:p>
            <a:r>
              <a:rPr lang="en-IN" sz="1400" b="1"/>
              <a:t>“Show me a lightweight laptop for programming under $1,000.”</a:t>
            </a:r>
            <a:endParaRPr lang="en-IN" sz="1400"/>
          </a:p>
          <a:p>
            <a:r>
              <a:rPr lang="en-IN" sz="1400"/>
              <a:t>The application may need two different types of search.</a:t>
            </a:r>
          </a:p>
          <a:p>
            <a:r>
              <a:rPr lang="en-IN" sz="1400" b="1"/>
              <a:t>Semantic Requirement</a:t>
            </a:r>
          </a:p>
          <a:p>
            <a:r>
              <a:rPr lang="en-IN" sz="1400" b="1"/>
              <a:t>“Lightweight laptop for programming”</a:t>
            </a:r>
            <a:endParaRPr lang="en-IN" sz="1400"/>
          </a:p>
          <a:p>
            <a:r>
              <a:rPr lang="en-IN" sz="1400"/>
              <a:t>An embedding can help find products whose descriptions match this meaning.</a:t>
            </a:r>
          </a:p>
          <a:p>
            <a:r>
              <a:rPr lang="en-IN" sz="1400" b="1"/>
              <a:t>Structured Requirement</a:t>
            </a:r>
          </a:p>
          <a:p>
            <a:r>
              <a:rPr lang="en-IN" sz="1400" b="1"/>
              <a:t>Price &lt; $1,000</a:t>
            </a:r>
            <a:endParaRPr lang="en-IN" sz="1400"/>
          </a:p>
          <a:p>
            <a:r>
              <a:rPr lang="en-IN" sz="1400"/>
              <a:t>SQL can apply an exact numerical condition.</a:t>
            </a:r>
          </a:p>
          <a:p>
            <a:r>
              <a:rPr lang="en-IN" sz="1400"/>
              <a:t>This is why Aurora with pgvector can be useful.</a:t>
            </a:r>
          </a:p>
          <a:p>
            <a:pPr lvl="0"/>
            <a:r>
              <a:rPr lang="en-IN" sz="1400"/>
              <a:t>Vector similarity handles the </a:t>
            </a:r>
            <a:r>
              <a:rPr lang="en-IN" sz="1400" b="1"/>
              <a:t>meaning-based part</a:t>
            </a:r>
            <a:r>
              <a:rPr lang="en-IN" sz="1400"/>
              <a:t> of the request. </a:t>
            </a:r>
          </a:p>
          <a:p>
            <a:pPr lvl="0"/>
            <a:r>
              <a:rPr lang="en-IN" sz="1400"/>
              <a:t>SQL handles the </a:t>
            </a:r>
            <a:r>
              <a:rPr lang="en-IN" sz="1400" b="1"/>
              <a:t>exact structured rules</a:t>
            </a:r>
            <a:r>
              <a:rPr lang="en-IN" sz="1400"/>
              <a:t>. </a:t>
            </a:r>
          </a:p>
          <a:p>
            <a:pPr lvl="0"/>
            <a:r>
              <a:rPr lang="en-IN" sz="1400"/>
              <a:t>The result can combine both instead of keeping relational data in one place and embeddings in an entirely separate system. </a:t>
            </a:r>
          </a:p>
          <a:p>
            <a:r>
              <a:rPr lang="en-IN" sz="1400"/>
              <a:t>This type of design is especially useful when the application already depends heavily on PostgreSQL and needs vector capability without creating a completely separate data architecture.</a:t>
            </a:r>
          </a:p>
        </p:txBody>
      </p:sp>
    </p:spTree>
    <p:extLst>
      <p:ext uri="{BB962C8B-B14F-4D97-AF65-F5344CB8AC3E}">
        <p14:creationId xmlns:p14="http://schemas.microsoft.com/office/powerpoint/2010/main" val="3734672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D580587-80B3-2FF4-105C-374845BC2C39}"/>
              </a:ext>
            </a:extLst>
          </p:cNvPr>
          <p:cNvSpPr>
            <a:spLocks noGrp="1"/>
          </p:cNvSpPr>
          <p:nvPr>
            <p:ph type="title"/>
          </p:nvPr>
        </p:nvSpPr>
        <p:spPr>
          <a:xfrm>
            <a:off x="1115568" y="548640"/>
            <a:ext cx="10168128" cy="1179576"/>
          </a:xfrm>
        </p:spPr>
        <p:txBody>
          <a:bodyPr>
            <a:normAutofit/>
          </a:bodyPr>
          <a:lstStyle/>
          <a:p>
            <a:r>
              <a:rPr lang="en-IN" sz="4000"/>
              <a:t>What Is Amazon DynamoDB?</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5128AA9-901A-529D-79E8-30143A8EC3A0}"/>
              </a:ext>
            </a:extLst>
          </p:cNvPr>
          <p:cNvSpPr>
            <a:spLocks noGrp="1"/>
          </p:cNvSpPr>
          <p:nvPr>
            <p:ph idx="1"/>
          </p:nvPr>
        </p:nvSpPr>
        <p:spPr>
          <a:xfrm>
            <a:off x="1115568" y="2481943"/>
            <a:ext cx="10168128" cy="3695020"/>
          </a:xfrm>
        </p:spPr>
        <p:txBody>
          <a:bodyPr>
            <a:normAutofit/>
          </a:bodyPr>
          <a:lstStyle/>
          <a:p>
            <a:r>
              <a:rPr lang="en-IN" sz="1200"/>
              <a:t>Now we move from relational databases to a different type of database.</a:t>
            </a:r>
          </a:p>
          <a:p>
            <a:pPr lvl="0"/>
            <a:r>
              <a:rPr lang="en-IN" sz="1200" b="1"/>
              <a:t>Amazon DynamoDB is a fully managed NoSQL database.</a:t>
            </a:r>
            <a:r>
              <a:rPr lang="en-IN" sz="1200"/>
              <a:t> Unlike RDS, it is not based on the traditional relational table-and-join model. </a:t>
            </a:r>
          </a:p>
          <a:p>
            <a:pPr lvl="0"/>
            <a:r>
              <a:rPr lang="en-IN" sz="1200"/>
              <a:t>The course describes DynamoDB as a highly available distributed database that replicates data across multiple Availability Zones and can scale to very large workloads. </a:t>
            </a:r>
          </a:p>
          <a:p>
            <a:pPr lvl="0"/>
            <a:r>
              <a:rPr lang="en-IN" sz="1200"/>
              <a:t>It is designed for </a:t>
            </a:r>
            <a:r>
              <a:rPr lang="en-IN" sz="1200" b="1"/>
              <a:t>fast and consistent low-latency access</a:t>
            </a:r>
            <a:r>
              <a:rPr lang="en-IN" sz="1200"/>
              <a:t> and integrates with AWS IAM for security and access management. </a:t>
            </a:r>
          </a:p>
          <a:p>
            <a:pPr lvl="0"/>
            <a:r>
              <a:rPr lang="en-IN" sz="1200"/>
              <a:t>DynamoDB can also support event-driven architectures through </a:t>
            </a:r>
            <a:r>
              <a:rPr lang="en-IN" sz="1200" b="1"/>
              <a:t>DynamoDB Streams</a:t>
            </a:r>
            <a:r>
              <a:rPr lang="en-IN" sz="1200"/>
              <a:t>, which can react when information inside a table changes. </a:t>
            </a:r>
          </a:p>
          <a:p>
            <a:pPr lvl="0"/>
            <a:r>
              <a:rPr lang="en-IN" sz="1200"/>
              <a:t>Because DynamoDB is designed for operational application data, it is commonly useful when the application needs information to be read and updated very quickly at scale. </a:t>
            </a:r>
          </a:p>
          <a:p>
            <a:endParaRPr lang="en-IN" sz="1200" b="1"/>
          </a:p>
          <a:p>
            <a:r>
              <a:rPr lang="en-IN" sz="1200" b="1"/>
              <a:t>Easy Difference</a:t>
            </a:r>
          </a:p>
          <a:p>
            <a:r>
              <a:rPr lang="en-IN" sz="1200" b="1"/>
              <a:t>RDS / Aurora:</a:t>
            </a:r>
            <a:r>
              <a:rPr lang="en-IN" sz="1200"/>
              <a:t> relational + SQL</a:t>
            </a:r>
          </a:p>
          <a:p>
            <a:r>
              <a:rPr lang="en-IN" sz="1200" b="1"/>
              <a:t>DynamoDB:</a:t>
            </a:r>
            <a:r>
              <a:rPr lang="en-IN" sz="1200"/>
              <a:t> NoSQL + high-scale key-based operational access</a:t>
            </a:r>
          </a:p>
        </p:txBody>
      </p:sp>
    </p:spTree>
    <p:extLst>
      <p:ext uri="{BB962C8B-B14F-4D97-AF65-F5344CB8AC3E}">
        <p14:creationId xmlns:p14="http://schemas.microsoft.com/office/powerpoint/2010/main" val="335316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22D03A-B66A-0ADA-EEEE-40F3B9854009}"/>
              </a:ext>
            </a:extLst>
          </p:cNvPr>
          <p:cNvSpPr>
            <a:spLocks noGrp="1"/>
          </p:cNvSpPr>
          <p:nvPr>
            <p:ph type="title"/>
          </p:nvPr>
        </p:nvSpPr>
        <p:spPr>
          <a:xfrm>
            <a:off x="1371599" y="294538"/>
            <a:ext cx="9895951" cy="1033669"/>
          </a:xfrm>
        </p:spPr>
        <p:txBody>
          <a:bodyPr>
            <a:normAutofit/>
          </a:bodyPr>
          <a:lstStyle/>
          <a:p>
            <a:r>
              <a:rPr lang="en-IN" sz="4000">
                <a:solidFill>
                  <a:srgbClr val="FFFFFF"/>
                </a:solidFill>
              </a:rPr>
              <a:t>DynamoDB in Generative AI Applications</a:t>
            </a:r>
          </a:p>
        </p:txBody>
      </p:sp>
      <p:sp>
        <p:nvSpPr>
          <p:cNvPr id="3" name="Content Placeholder 2">
            <a:extLst>
              <a:ext uri="{FF2B5EF4-FFF2-40B4-BE49-F238E27FC236}">
                <a16:creationId xmlns:a16="http://schemas.microsoft.com/office/drawing/2014/main" id="{CB22291C-5DB6-4932-B8D0-42C422E0F035}"/>
              </a:ext>
            </a:extLst>
          </p:cNvPr>
          <p:cNvSpPr>
            <a:spLocks noGrp="1"/>
          </p:cNvSpPr>
          <p:nvPr>
            <p:ph idx="1"/>
          </p:nvPr>
        </p:nvSpPr>
        <p:spPr>
          <a:xfrm>
            <a:off x="1371599" y="2318197"/>
            <a:ext cx="9724031" cy="3683358"/>
          </a:xfrm>
        </p:spPr>
        <p:txBody>
          <a:bodyPr anchor="ctr">
            <a:normAutofit/>
          </a:bodyPr>
          <a:lstStyle/>
          <a:p>
            <a:r>
              <a:rPr lang="en-IN" sz="1400"/>
              <a:t>The course connects DynamoDB directly with several GenAI use cases.</a:t>
            </a:r>
          </a:p>
          <a:p>
            <a:pPr lvl="0"/>
            <a:r>
              <a:rPr lang="en-IN" sz="1400" b="1"/>
              <a:t>DynamoDB can provide near-real-time application information to an AI system.</a:t>
            </a:r>
            <a:r>
              <a:rPr lang="en-IN" sz="1400"/>
              <a:t> For example, a chatbot may need access to the user's current account settings or recent application activity. </a:t>
            </a:r>
          </a:p>
          <a:p>
            <a:pPr lvl="0"/>
            <a:r>
              <a:rPr lang="en-IN" sz="1400"/>
              <a:t>It can also be used to </a:t>
            </a:r>
            <a:r>
              <a:rPr lang="en-IN" sz="1400" b="1"/>
              <a:t>store and retrieve chat histories</a:t>
            </a:r>
            <a:r>
              <a:rPr lang="en-IN" sz="1400"/>
              <a:t>. A chatbot can save previous messages so the application has a record of earlier conversations. </a:t>
            </a:r>
          </a:p>
          <a:p>
            <a:pPr lvl="0"/>
            <a:r>
              <a:rPr lang="en-IN" sz="1400"/>
              <a:t>The course describes this type of stored information as possible </a:t>
            </a:r>
            <a:r>
              <a:rPr lang="en-IN" sz="1400" b="1"/>
              <a:t>long-term memory for AI agents</a:t>
            </a:r>
            <a:r>
              <a:rPr lang="en-IN" sz="1400"/>
              <a:t>. Instead of remembering only the current message, an application can retrieve useful information from earlier interactions. </a:t>
            </a:r>
          </a:p>
          <a:p>
            <a:pPr lvl="0"/>
            <a:r>
              <a:rPr lang="en-IN" sz="1400"/>
              <a:t>This becomes important for </a:t>
            </a:r>
            <a:r>
              <a:rPr lang="en-IN" sz="1400" b="1"/>
              <a:t>context awareness</a:t>
            </a:r>
            <a:r>
              <a:rPr lang="en-IN" sz="1400"/>
              <a:t>. For example, if a customer previously told an assistant what product they own, the application may retrieve that stored information later instead of asking the same question again. </a:t>
            </a:r>
          </a:p>
          <a:p>
            <a:endParaRPr lang="en-IN" sz="1400" b="1"/>
          </a:p>
          <a:p>
            <a:r>
              <a:rPr lang="en-IN" sz="1400" b="1"/>
              <a:t>Example</a:t>
            </a:r>
          </a:p>
          <a:p>
            <a:r>
              <a:rPr lang="en-IN" sz="1400" b="1"/>
              <a:t>User ID → Previous Conversations → Saved Preferences → Current Request</a:t>
            </a:r>
            <a:endParaRPr lang="en-IN" sz="1400"/>
          </a:p>
          <a:p>
            <a:r>
              <a:rPr lang="en-IN" sz="1400"/>
              <a:t>DynamoDB can keep this operational context available so the AI experience does not always start from zero.</a:t>
            </a:r>
          </a:p>
        </p:txBody>
      </p:sp>
    </p:spTree>
    <p:extLst>
      <p:ext uri="{BB962C8B-B14F-4D97-AF65-F5344CB8AC3E}">
        <p14:creationId xmlns:p14="http://schemas.microsoft.com/office/powerpoint/2010/main" val="610030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6FFEE2-8445-1E31-3B09-9E8C7E6C2CC9}"/>
              </a:ext>
            </a:extLst>
          </p:cNvPr>
          <p:cNvSpPr>
            <a:spLocks noGrp="1"/>
          </p:cNvSpPr>
          <p:nvPr>
            <p:ph type="title"/>
          </p:nvPr>
        </p:nvSpPr>
        <p:spPr>
          <a:xfrm>
            <a:off x="838200" y="557189"/>
            <a:ext cx="4155825" cy="5571898"/>
          </a:xfrm>
        </p:spPr>
        <p:txBody>
          <a:bodyPr>
            <a:normAutofit/>
          </a:bodyPr>
          <a:lstStyle/>
          <a:p>
            <a:r>
              <a:rPr lang="en-IN"/>
              <a:t>DynamoDB Vector Indexes</a:t>
            </a:r>
            <a:endParaRPr lang="en-IN" dirty="0"/>
          </a:p>
        </p:txBody>
      </p:sp>
      <p:sp>
        <p:nvSpPr>
          <p:cNvPr id="3" name="Content Placeholder 2">
            <a:extLst>
              <a:ext uri="{FF2B5EF4-FFF2-40B4-BE49-F238E27FC236}">
                <a16:creationId xmlns:a16="http://schemas.microsoft.com/office/drawing/2014/main" id="{7780EC9B-906A-3FD4-5446-2EF63A8B8FCC}"/>
              </a:ext>
            </a:extLst>
          </p:cNvPr>
          <p:cNvSpPr>
            <a:spLocks noGrp="1"/>
          </p:cNvSpPr>
          <p:nvPr>
            <p:ph idx="1"/>
          </p:nvPr>
        </p:nvSpPr>
        <p:spPr>
          <a:xfrm>
            <a:off x="5186552" y="557189"/>
            <a:ext cx="6167246" cy="5571898"/>
          </a:xfrm>
        </p:spPr>
        <p:txBody>
          <a:bodyPr anchor="ctr">
            <a:normAutofit/>
          </a:bodyPr>
          <a:lstStyle/>
          <a:p>
            <a:r>
              <a:rPr lang="en-IN" sz="1400"/>
              <a:t>DynamoDB can now go beyond storing normal application records.</a:t>
            </a:r>
          </a:p>
          <a:p>
            <a:pPr lvl="0"/>
            <a:r>
              <a:rPr lang="en-IN" sz="1400" b="1"/>
              <a:t>Vector Indexes allow embeddings to be stored alongside the operational data already inside the DynamoDB table.</a:t>
            </a:r>
            <a:r>
              <a:rPr lang="en-IN" sz="1400"/>
              <a:t> </a:t>
            </a:r>
          </a:p>
          <a:p>
            <a:pPr lvl="0"/>
            <a:r>
              <a:rPr lang="en-IN" sz="1400"/>
              <a:t>This means an application may not need to copy the same information into a completely separate vector database just to perform semantic similarity search. </a:t>
            </a:r>
          </a:p>
          <a:p>
            <a:pPr lvl="0"/>
            <a:r>
              <a:rPr lang="en-IN" sz="1400"/>
              <a:t>DynamoDB uses the </a:t>
            </a:r>
            <a:r>
              <a:rPr lang="en-IN" sz="1400" b="1"/>
              <a:t>SearchVectors API</a:t>
            </a:r>
            <a:r>
              <a:rPr lang="en-IN" sz="1400"/>
              <a:t> to perform Approximate Nearest Neighbor, or ANN, searches over the stored embeddings. </a:t>
            </a:r>
          </a:p>
          <a:p>
            <a:pPr lvl="0"/>
            <a:r>
              <a:rPr lang="en-IN" sz="1400"/>
              <a:t>The course lists three supported distance functions:</a:t>
            </a:r>
          </a:p>
          <a:p>
            <a:pPr lvl="0"/>
            <a:r>
              <a:rPr lang="en-IN" sz="1400" b="1"/>
              <a:t>COSINE</a:t>
            </a:r>
            <a:r>
              <a:rPr lang="en-IN" sz="1400"/>
              <a:t> – commonly appropriate for text embeddings</a:t>
            </a:r>
          </a:p>
          <a:p>
            <a:pPr lvl="0"/>
            <a:r>
              <a:rPr lang="en-IN" sz="1400" b="1"/>
              <a:t>EUCLIDEAN</a:t>
            </a:r>
            <a:r>
              <a:rPr lang="en-IN" sz="1400"/>
              <a:t> – compares straight-line distance between vectors</a:t>
            </a:r>
          </a:p>
          <a:p>
            <a:pPr lvl="0"/>
            <a:r>
              <a:rPr lang="en-IN" sz="1400" b="1"/>
              <a:t>DOT_PRODUCT</a:t>
            </a:r>
            <a:r>
              <a:rPr lang="en-IN" sz="1400"/>
              <a:t> – compares vectors using their mathematical dot product</a:t>
            </a:r>
          </a:p>
          <a:p>
            <a:pPr lvl="0"/>
            <a:r>
              <a:rPr lang="en-IN" sz="1400"/>
              <a:t>A vector index can also use a partition key and inline filters to narrow the search scope. </a:t>
            </a:r>
          </a:p>
          <a:p>
            <a:pPr lvl="0"/>
            <a:r>
              <a:rPr lang="en-IN" sz="1400" b="1"/>
              <a:t>Projections control which table attributes are returned with the vector-search result</a:t>
            </a:r>
            <a:r>
              <a:rPr lang="en-IN" sz="1400"/>
              <a:t>, similar in concept to selecting specific information that the application actually needs. </a:t>
            </a:r>
          </a:p>
          <a:p>
            <a:r>
              <a:rPr lang="en-IN" sz="1400"/>
              <a:t>Use cases mentioned in the course include </a:t>
            </a:r>
            <a:r>
              <a:rPr lang="en-IN" sz="1400" b="1"/>
              <a:t>RAG, semantic search, AI-agent memory, and recommendation systems</a:t>
            </a:r>
            <a:r>
              <a:rPr lang="en-IN" sz="1400"/>
              <a:t>.</a:t>
            </a:r>
          </a:p>
        </p:txBody>
      </p:sp>
    </p:spTree>
    <p:extLst>
      <p:ext uri="{BB962C8B-B14F-4D97-AF65-F5344CB8AC3E}">
        <p14:creationId xmlns:p14="http://schemas.microsoft.com/office/powerpoint/2010/main" val="3260316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182E6-9549-13C7-7B53-A83AD314E5E9}"/>
              </a:ext>
            </a:extLst>
          </p:cNvPr>
          <p:cNvSpPr>
            <a:spLocks noGrp="1"/>
          </p:cNvSpPr>
          <p:nvPr>
            <p:ph type="title"/>
          </p:nvPr>
        </p:nvSpPr>
        <p:spPr>
          <a:xfrm>
            <a:off x="686834" y="591344"/>
            <a:ext cx="3200400" cy="5585619"/>
          </a:xfrm>
        </p:spPr>
        <p:txBody>
          <a:bodyPr>
            <a:normAutofit/>
          </a:bodyPr>
          <a:lstStyle/>
          <a:p>
            <a:r>
              <a:rPr lang="en-IN">
                <a:solidFill>
                  <a:srgbClr val="FFFFFF"/>
                </a:solidFill>
              </a:rPr>
              <a:t>Example: DynamoDB Vector Search for AI Memory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315B07F-8C43-E74A-9BBC-29C5B875550C}"/>
              </a:ext>
            </a:extLst>
          </p:cNvPr>
          <p:cNvSpPr>
            <a:spLocks noGrp="1"/>
          </p:cNvSpPr>
          <p:nvPr>
            <p:ph idx="1"/>
          </p:nvPr>
        </p:nvSpPr>
        <p:spPr>
          <a:xfrm>
            <a:off x="4447308" y="591344"/>
            <a:ext cx="6906491" cy="5585619"/>
          </a:xfrm>
        </p:spPr>
        <p:txBody>
          <a:bodyPr anchor="ctr">
            <a:normAutofit/>
          </a:bodyPr>
          <a:lstStyle/>
          <a:p>
            <a:r>
              <a:rPr lang="en-IN" sz="1300"/>
              <a:t>Imagine an AI study assistant that talks with the same student many times.</a:t>
            </a:r>
          </a:p>
          <a:p>
            <a:r>
              <a:rPr lang="en-IN" sz="1300"/>
              <a:t>The DynamoDB table could store:</a:t>
            </a:r>
          </a:p>
          <a:p>
            <a:r>
              <a:rPr lang="en-IN" sz="1300" b="1"/>
              <a:t>Student ID</a:t>
            </a:r>
            <a:endParaRPr lang="en-IN" sz="1300"/>
          </a:p>
          <a:p>
            <a:r>
              <a:rPr lang="en-IN" sz="1300" b="1"/>
              <a:t>Conversation text</a:t>
            </a:r>
            <a:endParaRPr lang="en-IN" sz="1300"/>
          </a:p>
          <a:p>
            <a:r>
              <a:rPr lang="en-IN" sz="1300" b="1"/>
              <a:t>Topic</a:t>
            </a:r>
            <a:endParaRPr lang="en-IN" sz="1300"/>
          </a:p>
          <a:p>
            <a:r>
              <a:rPr lang="en-IN" sz="1300" b="1"/>
              <a:t>Timestamp</a:t>
            </a:r>
            <a:endParaRPr lang="en-IN" sz="1300"/>
          </a:p>
          <a:p>
            <a:r>
              <a:rPr lang="en-IN" sz="1300" b="1"/>
              <a:t>Embedding</a:t>
            </a:r>
            <a:endParaRPr lang="en-IN" sz="1300"/>
          </a:p>
          <a:p>
            <a:r>
              <a:rPr lang="en-IN" sz="1300"/>
              <a:t>Now suppose the student asks:</a:t>
            </a:r>
          </a:p>
          <a:p>
            <a:r>
              <a:rPr lang="en-IN" sz="1300" b="1"/>
              <a:t>“What was that AWS database topic I was confused about last week?”</a:t>
            </a:r>
            <a:endParaRPr lang="en-IN" sz="1300"/>
          </a:p>
          <a:p>
            <a:r>
              <a:rPr lang="en-IN" sz="1300" b="1"/>
              <a:t>What Happens?</a:t>
            </a:r>
          </a:p>
          <a:p>
            <a:pPr marL="514350" indent="-514350">
              <a:buFont typeface="+mj-lt"/>
              <a:buAutoNum type="arabicPeriod"/>
            </a:pPr>
            <a:r>
              <a:rPr lang="en-IN" sz="1300"/>
              <a:t>The new question is converted into an embedding.</a:t>
            </a:r>
          </a:p>
          <a:p>
            <a:pPr marL="514350" indent="-514350">
              <a:buFont typeface="+mj-lt"/>
              <a:buAutoNum type="arabicPeriod"/>
            </a:pPr>
            <a:r>
              <a:rPr lang="en-IN" sz="1300"/>
              <a:t>The application calls </a:t>
            </a:r>
            <a:r>
              <a:rPr lang="en-IN" sz="1300" b="1" err="1"/>
              <a:t>SearchVectors</a:t>
            </a:r>
            <a:r>
              <a:rPr lang="en-IN" sz="1300"/>
              <a:t>.</a:t>
            </a:r>
          </a:p>
          <a:p>
            <a:pPr marL="514350" indent="-514350">
              <a:buFont typeface="+mj-lt"/>
              <a:buAutoNum type="arabicPeriod"/>
            </a:pPr>
            <a:r>
              <a:rPr lang="en-IN" sz="1300"/>
              <a:t>DynamoDB finds previous conversation items with similar meaning.</a:t>
            </a:r>
          </a:p>
          <a:p>
            <a:pPr marL="514350" indent="-514350">
              <a:buFont typeface="+mj-lt"/>
              <a:buAutoNum type="arabicPeriod"/>
            </a:pPr>
            <a:r>
              <a:rPr lang="en-IN" sz="1300"/>
              <a:t>The relevant messages are returned to the AI application.</a:t>
            </a:r>
          </a:p>
          <a:p>
            <a:pPr marL="514350" indent="-514350">
              <a:buFont typeface="+mj-lt"/>
              <a:buAutoNum type="arabicPeriod"/>
            </a:pPr>
            <a:r>
              <a:rPr lang="en-IN" sz="1300"/>
              <a:t>The Foundation Model receives those previous messages as context and can answer based on the student's earlier conversation.</a:t>
            </a:r>
          </a:p>
          <a:p>
            <a:r>
              <a:rPr lang="en-IN" sz="1300"/>
              <a:t>This shows why keeping the vector and the application data together can be useful for </a:t>
            </a:r>
            <a:r>
              <a:rPr lang="en-IN" sz="1300" b="1"/>
              <a:t>agent memory and context-aware assistants</a:t>
            </a:r>
            <a:r>
              <a:rPr lang="en-IN" sz="1300"/>
              <a:t>.</a:t>
            </a:r>
          </a:p>
        </p:txBody>
      </p:sp>
    </p:spTree>
    <p:extLst>
      <p:ext uri="{BB962C8B-B14F-4D97-AF65-F5344CB8AC3E}">
        <p14:creationId xmlns:p14="http://schemas.microsoft.com/office/powerpoint/2010/main" val="260182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6A3310-EC57-EBA3-E29D-F9695DBF2526}"/>
              </a:ext>
            </a:extLst>
          </p:cNvPr>
          <p:cNvSpPr>
            <a:spLocks noGrp="1"/>
          </p:cNvSpPr>
          <p:nvPr>
            <p:ph type="title"/>
          </p:nvPr>
        </p:nvSpPr>
        <p:spPr>
          <a:xfrm>
            <a:off x="686834" y="1153572"/>
            <a:ext cx="3200400" cy="4461163"/>
          </a:xfrm>
        </p:spPr>
        <p:txBody>
          <a:bodyPr>
            <a:normAutofit/>
          </a:bodyPr>
          <a:lstStyle/>
          <a:p>
            <a:r>
              <a:rPr lang="en-IN">
                <a:solidFill>
                  <a:srgbClr val="FFFFFF"/>
                </a:solidFill>
              </a:rPr>
              <a:t>DynamoDB Vector Indexes: Important Limitations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2C1AEA8-2F47-FBAB-E59E-359A3586AEC2}"/>
              </a:ext>
            </a:extLst>
          </p:cNvPr>
          <p:cNvSpPr>
            <a:spLocks noGrp="1"/>
          </p:cNvSpPr>
          <p:nvPr>
            <p:ph idx="1"/>
          </p:nvPr>
        </p:nvSpPr>
        <p:spPr>
          <a:xfrm>
            <a:off x="4447308" y="591344"/>
            <a:ext cx="6906491" cy="5585619"/>
          </a:xfrm>
        </p:spPr>
        <p:txBody>
          <a:bodyPr anchor="ctr">
            <a:normAutofit/>
          </a:bodyPr>
          <a:lstStyle/>
          <a:p>
            <a:r>
              <a:rPr lang="en-IN" sz="1300"/>
              <a:t>Vector support does not mean DynamoDB suddenly replaces every vector database.</a:t>
            </a:r>
          </a:p>
          <a:p>
            <a:pPr lvl="0"/>
            <a:r>
              <a:rPr lang="en-IN" sz="1300" b="1"/>
              <a:t>The course states that vector indexes require on-demand capacity mode and use approximate ANN results.</a:t>
            </a:r>
            <a:r>
              <a:rPr lang="en-IN" sz="1300"/>
              <a:t> </a:t>
            </a:r>
          </a:p>
          <a:p>
            <a:pPr lvl="0"/>
            <a:r>
              <a:rPr lang="en-IN" sz="1300"/>
              <a:t>Vector search is accessed through </a:t>
            </a:r>
            <a:r>
              <a:rPr lang="en-IN" sz="1300" b="1" err="1"/>
              <a:t>SearchVectors</a:t>
            </a:r>
            <a:r>
              <a:rPr lang="en-IN" sz="1300" b="1"/>
              <a:t> rather than normal Query, Scan, </a:t>
            </a:r>
            <a:r>
              <a:rPr lang="en-IN" sz="1300" b="1" err="1"/>
              <a:t>PartiQL</a:t>
            </a:r>
            <a:r>
              <a:rPr lang="en-IN" sz="1300" b="1"/>
              <a:t>, or DAX operations</a:t>
            </a:r>
            <a:r>
              <a:rPr lang="en-IN" sz="1300"/>
              <a:t>. </a:t>
            </a:r>
          </a:p>
          <a:p>
            <a:pPr lvl="0"/>
            <a:r>
              <a:rPr lang="en-IN" sz="1300"/>
              <a:t>Inline filters are more limited than the complex search and filtering capabilities available in a dedicated search platform. </a:t>
            </a:r>
          </a:p>
          <a:p>
            <a:pPr lvl="0"/>
            <a:r>
              <a:rPr lang="en-IN" sz="1300"/>
              <a:t>The response has size restrictions, and important choices such as the distance function and projection are fixed when the vector index is created. </a:t>
            </a:r>
          </a:p>
          <a:p>
            <a:endParaRPr lang="en-IN" sz="1300" b="1"/>
          </a:p>
          <a:p>
            <a:r>
              <a:rPr lang="en-IN" sz="1300" b="1"/>
              <a:t>Why Use It Anyway?</a:t>
            </a:r>
          </a:p>
          <a:p>
            <a:r>
              <a:rPr lang="en-IN" sz="1300"/>
              <a:t>The major advantage is simplicity when </a:t>
            </a:r>
            <a:r>
              <a:rPr lang="en-IN" sz="1300" b="1"/>
              <a:t>the operational data or chat history is already stored in DynamoDB</a:t>
            </a:r>
            <a:r>
              <a:rPr lang="en-IN" sz="1300"/>
              <a:t>.</a:t>
            </a:r>
          </a:p>
          <a:p>
            <a:endParaRPr lang="en-IN" sz="1300"/>
          </a:p>
          <a:p>
            <a:r>
              <a:rPr lang="en-IN" sz="1300"/>
              <a:t>Instead of maintaining:</a:t>
            </a:r>
          </a:p>
          <a:p>
            <a:r>
              <a:rPr lang="en-IN" sz="1300" b="1"/>
              <a:t>DynamoDB → Synchronization Pipeline → Separate Vector Database</a:t>
            </a:r>
            <a:endParaRPr lang="en-IN" sz="1300"/>
          </a:p>
          <a:p>
            <a:endParaRPr lang="en-IN" sz="1300"/>
          </a:p>
          <a:p>
            <a:r>
              <a:rPr lang="en-IN" sz="1300"/>
              <a:t>the application may be able to keep:</a:t>
            </a:r>
          </a:p>
          <a:p>
            <a:r>
              <a:rPr lang="en-IN" sz="1300" b="1"/>
              <a:t>Operational Data + Embeddings → DynamoDB</a:t>
            </a:r>
            <a:endParaRPr lang="en-IN" sz="1300"/>
          </a:p>
          <a:p>
            <a:r>
              <a:rPr lang="en-IN" sz="1300"/>
              <a:t>This can reduce the need to maintain another copy of the same application information.</a:t>
            </a:r>
          </a:p>
        </p:txBody>
      </p:sp>
    </p:spTree>
    <p:extLst>
      <p:ext uri="{BB962C8B-B14F-4D97-AF65-F5344CB8AC3E}">
        <p14:creationId xmlns:p14="http://schemas.microsoft.com/office/powerpoint/2010/main" val="2824292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E8C039-485D-441C-A2E0-D706676A3E1B}"/>
              </a:ext>
            </a:extLst>
          </p:cNvPr>
          <p:cNvSpPr>
            <a:spLocks noGrp="1"/>
          </p:cNvSpPr>
          <p:nvPr>
            <p:ph type="title"/>
          </p:nvPr>
        </p:nvSpPr>
        <p:spPr>
          <a:xfrm>
            <a:off x="4572001" y="601744"/>
            <a:ext cx="6781800" cy="1338696"/>
          </a:xfrm>
        </p:spPr>
        <p:txBody>
          <a:bodyPr>
            <a:normAutofit/>
          </a:bodyPr>
          <a:lstStyle/>
          <a:p>
            <a:r>
              <a:rPr lang="en-IN"/>
              <a:t>How the Storage Choices Fit Different Applications</a:t>
            </a:r>
            <a:endParaRPr lang="en-IN" dirty="0"/>
          </a:p>
        </p:txBody>
      </p:sp>
      <p:pic>
        <p:nvPicPr>
          <p:cNvPr id="5" name="Picture 4">
            <a:extLst>
              <a:ext uri="{FF2B5EF4-FFF2-40B4-BE49-F238E27FC236}">
                <a16:creationId xmlns:a16="http://schemas.microsoft.com/office/drawing/2014/main" id="{7F4D9969-45EA-1441-449B-193C962B2295}"/>
              </a:ext>
            </a:extLst>
          </p:cNvPr>
          <p:cNvPicPr>
            <a:picLocks noChangeAspect="1"/>
          </p:cNvPicPr>
          <p:nvPr/>
        </p:nvPicPr>
        <p:blipFill>
          <a:blip r:embed="rId2"/>
          <a:srcRect l="33712" r="27552" b="-1"/>
          <a:stretch>
            <a:fillRect/>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269110B6-5C3E-0737-B7FD-901CE2E58E39}"/>
              </a:ext>
            </a:extLst>
          </p:cNvPr>
          <p:cNvSpPr>
            <a:spLocks noGrp="1"/>
          </p:cNvSpPr>
          <p:nvPr>
            <p:ph idx="1"/>
          </p:nvPr>
        </p:nvSpPr>
        <p:spPr>
          <a:xfrm>
            <a:off x="4572001" y="2201958"/>
            <a:ext cx="6781800" cy="3900730"/>
          </a:xfrm>
        </p:spPr>
        <p:txBody>
          <a:bodyPr anchor="t">
            <a:normAutofit/>
          </a:bodyPr>
          <a:lstStyle/>
          <a:p>
            <a:r>
              <a:rPr lang="en-IN" sz="1100"/>
              <a:t>These services overlap in some capabilities, but their designs are different.</a:t>
            </a:r>
          </a:p>
          <a:p>
            <a:r>
              <a:rPr lang="en-IN" sz="1100" b="1"/>
              <a:t>Amazon S3 Vectors</a:t>
            </a:r>
          </a:p>
          <a:p>
            <a:r>
              <a:rPr lang="en-IN" sz="1100"/>
              <a:t>Useful when the application needs to store </a:t>
            </a:r>
            <a:r>
              <a:rPr lang="en-IN" sz="1100" b="1"/>
              <a:t>very large vector collections</a:t>
            </a:r>
            <a:r>
              <a:rPr lang="en-IN" sz="1100"/>
              <a:t> and cost is an important concern, especially when the vectors are not searched constantly.</a:t>
            </a:r>
          </a:p>
          <a:p>
            <a:r>
              <a:rPr lang="en-IN" sz="1100" b="1"/>
              <a:t>Amazon Aurora + pgvector</a:t>
            </a:r>
          </a:p>
          <a:p>
            <a:r>
              <a:rPr lang="en-IN" sz="1100"/>
              <a:t>Useful when the application already works with </a:t>
            </a:r>
            <a:r>
              <a:rPr lang="en-IN" sz="1100" b="1"/>
              <a:t>relational PostgreSQL data</a:t>
            </a:r>
            <a:r>
              <a:rPr lang="en-IN" sz="1100"/>
              <a:t> and needs SQL filtering, structured business information, and vector similarity in the same database.</a:t>
            </a:r>
          </a:p>
          <a:p>
            <a:r>
              <a:rPr lang="en-IN" sz="1100" b="1"/>
              <a:t>Amazon DynamoDB Vector Indexes</a:t>
            </a:r>
          </a:p>
          <a:p>
            <a:r>
              <a:rPr lang="en-IN" sz="1100"/>
              <a:t>Useful when </a:t>
            </a:r>
            <a:r>
              <a:rPr lang="en-IN" sz="1100" b="1"/>
              <a:t>operational data, chat histories, or AI-agent memory already live in DynamoDB</a:t>
            </a:r>
            <a:r>
              <a:rPr lang="en-IN" sz="1100"/>
              <a:t> and the application also needs semantic recall without copying the information into another vector store.</a:t>
            </a:r>
          </a:p>
          <a:p>
            <a:r>
              <a:rPr lang="en-IN" sz="1100" b="1"/>
              <a:t>Amazon OpenSearch</a:t>
            </a:r>
          </a:p>
          <a:p>
            <a:r>
              <a:rPr lang="en-IN" sz="1100"/>
              <a:t>From previous Video, OpenSearch remains useful when the application needs a richer </a:t>
            </a:r>
            <a:r>
              <a:rPr lang="en-IN" sz="1100" b="1"/>
              <a:t>search platform</a:t>
            </a:r>
            <a:r>
              <a:rPr lang="en-IN" sz="1100"/>
              <a:t>, including vector search, keyword search, hybrid retrieval, and more search-oriented control.</a:t>
            </a:r>
          </a:p>
          <a:p>
            <a:r>
              <a:rPr lang="en-IN" sz="1100" b="1"/>
              <a:t>The important lesson is to start with the application's data and access pattern instead of choosing a service only because it supports vectors.</a:t>
            </a:r>
            <a:r>
              <a:rPr lang="en-IN" sz="1100"/>
              <a:t> The course itself contrasts DynamoDB with S3 Vectors and OpenSearch based on where the data lives, latency, cost, and richness of search. </a:t>
            </a:r>
          </a:p>
        </p:txBody>
      </p:sp>
    </p:spTree>
    <p:extLst>
      <p:ext uri="{BB962C8B-B14F-4D97-AF65-F5344CB8AC3E}">
        <p14:creationId xmlns:p14="http://schemas.microsoft.com/office/powerpoint/2010/main" val="3408938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10421B29-9B71-F6DB-510F-ED43B897E806}"/>
              </a:ext>
            </a:extLst>
          </p:cNvPr>
          <p:cNvSpPr>
            <a:spLocks noGrp="1"/>
          </p:cNvSpPr>
          <p:nvPr>
            <p:ph type="title"/>
          </p:nvPr>
        </p:nvSpPr>
        <p:spPr>
          <a:xfrm>
            <a:off x="640080" y="1243013"/>
            <a:ext cx="3855720" cy="4371974"/>
          </a:xfrm>
        </p:spPr>
        <p:txBody>
          <a:bodyPr>
            <a:normAutofit/>
          </a:bodyPr>
          <a:lstStyle/>
          <a:p>
            <a:r>
              <a:rPr lang="en-IN" sz="3600">
                <a:solidFill>
                  <a:schemeClr val="tx2"/>
                </a:solidFill>
              </a:rPr>
              <a:t>Key Takeaways &amp; Thank You</a:t>
            </a:r>
          </a:p>
        </p:txBody>
      </p:sp>
      <p:sp>
        <p:nvSpPr>
          <p:cNvPr id="3" name="Content Placeholder 2">
            <a:extLst>
              <a:ext uri="{FF2B5EF4-FFF2-40B4-BE49-F238E27FC236}">
                <a16:creationId xmlns:a16="http://schemas.microsoft.com/office/drawing/2014/main" id="{1B92806E-975E-68F0-4750-68849CB319E6}"/>
              </a:ext>
            </a:extLst>
          </p:cNvPr>
          <p:cNvSpPr>
            <a:spLocks noGrp="1"/>
          </p:cNvSpPr>
          <p:nvPr>
            <p:ph idx="1"/>
          </p:nvPr>
        </p:nvSpPr>
        <p:spPr>
          <a:xfrm>
            <a:off x="6172200" y="804672"/>
            <a:ext cx="5221224" cy="5230368"/>
          </a:xfrm>
        </p:spPr>
        <p:txBody>
          <a:bodyPr anchor="ctr">
            <a:normAutofit/>
          </a:bodyPr>
          <a:lstStyle/>
          <a:p>
            <a:r>
              <a:rPr lang="en-IN" sz="1000" b="1">
                <a:solidFill>
                  <a:schemeClr val="tx2"/>
                </a:solidFill>
              </a:rPr>
              <a:t>What I Learned</a:t>
            </a:r>
          </a:p>
          <a:p>
            <a:pPr lvl="0"/>
            <a:r>
              <a:rPr lang="en-IN" sz="1000" b="1">
                <a:solidFill>
                  <a:schemeClr val="tx2"/>
                </a:solidFill>
              </a:rPr>
              <a:t>S3 Vectors provides a simpler way to store large collections of embeddings</a:t>
            </a:r>
            <a:r>
              <a:rPr lang="en-IN" sz="1000">
                <a:solidFill>
                  <a:schemeClr val="tx2"/>
                </a:solidFill>
              </a:rPr>
              <a:t> using vector buckets and vector indexes, with metadata and integration with Bedrock Knowledge Bases. </a:t>
            </a:r>
          </a:p>
          <a:p>
            <a:pPr lvl="0"/>
            <a:r>
              <a:rPr lang="en-IN" sz="1000" b="1">
                <a:solidFill>
                  <a:schemeClr val="tx2"/>
                </a:solidFill>
              </a:rPr>
              <a:t>Amazon RDS provides managed relational databases</a:t>
            </a:r>
            <a:r>
              <a:rPr lang="en-IN" sz="1000">
                <a:solidFill>
                  <a:schemeClr val="tx2"/>
                </a:solidFill>
              </a:rPr>
              <a:t>, while Aurora PostgreSQL with pgvector allows normal relational records and vector embeddings to exist in the same database. </a:t>
            </a:r>
          </a:p>
          <a:p>
            <a:pPr lvl="0"/>
            <a:r>
              <a:rPr lang="en-IN" sz="1000" b="1">
                <a:solidFill>
                  <a:schemeClr val="tx2"/>
                </a:solidFill>
              </a:rPr>
              <a:t>DynamoDB is a scalable NoSQL database that can support near-real-time application data, chat history, and AI-agent memory.</a:t>
            </a:r>
            <a:r>
              <a:rPr lang="en-IN" sz="1000">
                <a:solidFill>
                  <a:schemeClr val="tx2"/>
                </a:solidFill>
              </a:rPr>
              <a:t> </a:t>
            </a:r>
          </a:p>
          <a:p>
            <a:pPr lvl="0"/>
            <a:r>
              <a:rPr lang="en-IN" sz="1000" b="1">
                <a:solidFill>
                  <a:schemeClr val="tx2"/>
                </a:solidFill>
              </a:rPr>
              <a:t>DynamoDB Vector Indexes bring semantic similarity search closer to operational data</a:t>
            </a:r>
            <a:r>
              <a:rPr lang="en-IN" sz="1000">
                <a:solidFill>
                  <a:schemeClr val="tx2"/>
                </a:solidFill>
              </a:rPr>
              <a:t>, which can reduce the need for a separate vector synchronization pipeline in some architectures. </a:t>
            </a:r>
          </a:p>
          <a:p>
            <a:pPr lvl="0"/>
            <a:r>
              <a:rPr lang="en-IN" sz="1000">
                <a:solidFill>
                  <a:schemeClr val="tx2"/>
                </a:solidFill>
              </a:rPr>
              <a:t>OpenSearch, S3 Vectors, Aurora, and DynamoDB can all participate in Generative AI systems, but </a:t>
            </a:r>
            <a:r>
              <a:rPr lang="en-IN" sz="1000" b="1">
                <a:solidFill>
                  <a:schemeClr val="tx2"/>
                </a:solidFill>
              </a:rPr>
              <a:t>they solve different storage and retrieval problems</a:t>
            </a:r>
            <a:r>
              <a:rPr lang="en-IN" sz="1000">
                <a:solidFill>
                  <a:schemeClr val="tx2"/>
                </a:solidFill>
              </a:rPr>
              <a:t>. </a:t>
            </a:r>
          </a:p>
          <a:p>
            <a:pPr lvl="0"/>
            <a:r>
              <a:rPr lang="en-IN" sz="1000">
                <a:solidFill>
                  <a:schemeClr val="tx2"/>
                </a:solidFill>
              </a:rPr>
              <a:t>The biggest lesson from this video is that </a:t>
            </a:r>
            <a:r>
              <a:rPr lang="en-IN" sz="1000" b="1">
                <a:solidFill>
                  <a:schemeClr val="tx2"/>
                </a:solidFill>
              </a:rPr>
              <a:t>vector storage should fit the application's existing data architecture instead of being treated as an isolated AI feature</a:t>
            </a:r>
            <a:r>
              <a:rPr lang="en-IN" sz="1000">
                <a:solidFill>
                  <a:schemeClr val="tx2"/>
                </a:solidFill>
              </a:rPr>
              <a:t>. </a:t>
            </a:r>
          </a:p>
          <a:p>
            <a:r>
              <a:rPr lang="en-IN" sz="1000" b="1">
                <a:solidFill>
                  <a:schemeClr val="tx2"/>
                </a:solidFill>
              </a:rPr>
              <a:t>Thank You</a:t>
            </a:r>
          </a:p>
          <a:p>
            <a:r>
              <a:rPr lang="en-IN" sz="1000" b="1">
                <a:solidFill>
                  <a:schemeClr val="tx2"/>
                </a:solidFill>
              </a:rPr>
              <a:t>Prepared by: Akash Patel</a:t>
            </a:r>
            <a:endParaRPr lang="en-IN" sz="1000">
              <a:solidFill>
                <a:schemeClr val="tx2"/>
              </a:solidFill>
            </a:endParaRPr>
          </a:p>
          <a:p>
            <a:r>
              <a:rPr lang="en-IN" sz="1000" b="1">
                <a:solidFill>
                  <a:schemeClr val="tx2"/>
                </a:solidFill>
              </a:rPr>
              <a:t>Concordia University Chicago</a:t>
            </a:r>
            <a:endParaRPr lang="en-IN" sz="1000">
              <a:solidFill>
                <a:schemeClr val="tx2"/>
              </a:solidFill>
            </a:endParaRPr>
          </a:p>
          <a:p>
            <a:r>
              <a:rPr lang="en-IN" sz="1000" b="1">
                <a:solidFill>
                  <a:schemeClr val="tx2"/>
                </a:solidFill>
              </a:rPr>
              <a:t>Special thanks to Professor Victor Govindaswamy for his guidance and support throughout this course. Studying these services together is helping me understand that Generative AI architecture is not only about choosing a Foundation Model. The way we store normal business data, embeddings, chat history, and application context also affects how reliable and practical the final AI system can be. I truly appreciate his guidance in helping us connect the AWS concepts with complete real-world application designs.</a:t>
            </a:r>
            <a:endParaRPr lang="en-IN" sz="1000">
              <a:solidFill>
                <a:schemeClr val="tx2"/>
              </a:solidFill>
            </a:endParaRPr>
          </a:p>
        </p:txBody>
      </p:sp>
    </p:spTree>
    <p:extLst>
      <p:ext uri="{BB962C8B-B14F-4D97-AF65-F5344CB8AC3E}">
        <p14:creationId xmlns:p14="http://schemas.microsoft.com/office/powerpoint/2010/main" val="2248007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3201</Words>
  <Application>Microsoft Office PowerPoint</Application>
  <PresentationFormat>Widescreen</PresentationFormat>
  <Paragraphs>211</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AWS Vector Storage Choices: S3 Vectors, Amazon Aurora, and DynamoDB Understanding Different Ways to Store Embeddings, Operational Data, and AI Context on AWS</vt:lpstr>
      <vt:lpstr>Why Do We Need Different Vector Storage Options?</vt:lpstr>
      <vt:lpstr>Amazon S3 Vectors: The Basic Idea</vt:lpstr>
      <vt:lpstr>What Is Stored Inside an S3 Vector Index?</vt:lpstr>
      <vt:lpstr>Storing and Querying Vectors</vt:lpstr>
      <vt:lpstr>S3 Vectors and Amazon Bedrock Knowledge Bases</vt:lpstr>
      <vt:lpstr>Performance, Consistency, and Tiered Search</vt:lpstr>
      <vt:lpstr>Moving from Vector Storage to Relational Data</vt:lpstr>
      <vt:lpstr>What Is Amazon RDS?</vt:lpstr>
      <vt:lpstr>Why Use a Managed Database?</vt:lpstr>
      <vt:lpstr>Amazon Aurora as a Vector Store</vt:lpstr>
      <vt:lpstr>Why Combine SQL Filtering with Vector Search?</vt:lpstr>
      <vt:lpstr>What Is Amazon DynamoDB?</vt:lpstr>
      <vt:lpstr>DynamoDB in Generative AI Applications</vt:lpstr>
      <vt:lpstr>DynamoDB Vector Indexes</vt:lpstr>
      <vt:lpstr>Example: DynamoDB Vector Search for AI Memory</vt:lpstr>
      <vt:lpstr>DynamoDB Vector Indexes: Important Limitations</vt:lpstr>
      <vt:lpstr>How the Storage Choices Fit Different Applications</vt:lpstr>
      <vt:lpstr>Key Takeaways &amp;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Patel</dc:creator>
  <cp:lastModifiedBy>Akash Patel</cp:lastModifiedBy>
  <cp:revision>3</cp:revision>
  <dcterms:created xsi:type="dcterms:W3CDTF">2026-09-24T20:58:57Z</dcterms:created>
  <dcterms:modified xsi:type="dcterms:W3CDTF">2026-09-25T20:31:23Z</dcterms:modified>
</cp:coreProperties>
</file>