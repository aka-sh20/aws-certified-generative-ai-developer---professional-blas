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svg"/><Relationship Id="rId1" Type="http://schemas.openxmlformats.org/officeDocument/2006/relationships/image" Target="../media/image8.svg"/><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svg"/><Relationship Id="rId1" Type="http://schemas.openxmlformats.org/officeDocument/2006/relationships/image" Target="../media/image8.svg"/><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9F19FE-10D5-4B0B-A1ED-5E2B61FFE3F0}" type="doc">
      <dgm:prSet loTypeId="urn:microsoft.com/office/officeart/2018/2/layout/IconCircleList" loCatId="icon" qsTypeId="urn:microsoft.com/office/officeart/2005/8/quickstyle/simple1#5" qsCatId="simple" csTypeId="urn:microsoft.com/office/officeart/2018/5/colors/Iconchunking_coloredtext_colorful1" csCatId="colorful" phldr="1"/>
      <dgm:spPr/>
      <dgm:t>
        <a:bodyPr/>
        <a:lstStyle/>
        <a:p>
          <a:endParaRPr lang="en-US"/>
        </a:p>
      </dgm:t>
    </dgm:pt>
    <dgm:pt modelId="{EAE1F861-AA58-4218-BCE5-7133BB6D6C43}">
      <dgm:prSet/>
      <dgm:spPr/>
      <dgm:t>
        <a:bodyPr/>
        <a:lstStyle/>
        <a:p>
          <a:r>
            <a:rPr lang="en-IN"/>
            <a:t>Agentic AI takes a Foundation Model beyond simply answering one prompt. Instead of only generating text, an agent can work through a request in multiple steps.</a:t>
          </a:r>
          <a:endParaRPr lang="en-US"/>
        </a:p>
      </dgm:t>
    </dgm:pt>
    <dgm:pt modelId="{E1CA6958-86F5-4766-99FB-F84866E5C7D5}" type="parTrans" cxnId="{DC173BB6-C59F-49C4-985D-324A87F114A8}">
      <dgm:prSet/>
      <dgm:spPr/>
      <dgm:t>
        <a:bodyPr/>
        <a:lstStyle/>
        <a:p>
          <a:endParaRPr lang="en-US"/>
        </a:p>
      </dgm:t>
    </dgm:pt>
    <dgm:pt modelId="{BCE61721-12C6-4964-B159-71FE741424C5}" type="sibTrans" cxnId="{DC173BB6-C59F-49C4-985D-324A87F114A8}">
      <dgm:prSet/>
      <dgm:spPr/>
      <dgm:t>
        <a:bodyPr/>
        <a:lstStyle/>
        <a:p>
          <a:endParaRPr lang="en-US"/>
        </a:p>
      </dgm:t>
    </dgm:pt>
    <dgm:pt modelId="{4238E6D7-68D9-48DC-AF30-D951684F004F}">
      <dgm:prSet/>
      <dgm:spPr/>
      <dgm:t>
        <a:bodyPr/>
        <a:lstStyle/>
        <a:p>
          <a:r>
            <a:rPr lang="en-IN"/>
            <a:t>A simple way to understand Agentic AI is </a:t>
          </a:r>
          <a:r>
            <a:rPr lang="en-IN" b="1"/>
            <a:t>giving useful tools to an LLM</a:t>
          </a:r>
          <a:r>
            <a:rPr lang="en-IN"/>
            <a:t>. The model can decide when an external tool or information source is needed before giving the final answer.</a:t>
          </a:r>
          <a:endParaRPr lang="en-US"/>
        </a:p>
      </dgm:t>
    </dgm:pt>
    <dgm:pt modelId="{B06D2893-1C21-417E-BB2C-2963C1E340AC}" type="parTrans" cxnId="{9FCE9EF5-7D43-4750-B1FF-02E1E0F0C570}">
      <dgm:prSet/>
      <dgm:spPr/>
      <dgm:t>
        <a:bodyPr/>
        <a:lstStyle/>
        <a:p>
          <a:endParaRPr lang="en-US"/>
        </a:p>
      </dgm:t>
    </dgm:pt>
    <dgm:pt modelId="{F8F8D8A1-D491-4C88-95BB-E3DF44AC625F}" type="sibTrans" cxnId="{9FCE9EF5-7D43-4750-B1FF-02E1E0F0C570}">
      <dgm:prSet/>
      <dgm:spPr/>
      <dgm:t>
        <a:bodyPr/>
        <a:lstStyle/>
        <a:p>
          <a:endParaRPr lang="en-US"/>
        </a:p>
      </dgm:t>
    </dgm:pt>
    <dgm:pt modelId="{BBA9247D-3A08-4F86-80B5-D7AC3D75369A}">
      <dgm:prSet/>
      <dgm:spPr/>
      <dgm:t>
        <a:bodyPr/>
        <a:lstStyle/>
        <a:p>
          <a:r>
            <a:rPr lang="en-IN"/>
            <a:t>An AI agent normally combines a </a:t>
          </a:r>
          <a:r>
            <a:rPr lang="en-IN" b="1"/>
            <a:t>Foundation Model, memory, planning, instructions, and tools</a:t>
          </a:r>
          <a:r>
            <a:rPr lang="en-IN"/>
            <a:t> so it can understand a goal and decide what should happen next.</a:t>
          </a:r>
          <a:endParaRPr lang="en-US"/>
        </a:p>
      </dgm:t>
    </dgm:pt>
    <dgm:pt modelId="{DFBAE309-51D6-4CE9-BAA3-B9B64655AF94}" type="parTrans" cxnId="{7FB72271-6DD5-477A-853C-42DBF4B49F5F}">
      <dgm:prSet/>
      <dgm:spPr/>
      <dgm:t>
        <a:bodyPr/>
        <a:lstStyle/>
        <a:p>
          <a:endParaRPr lang="en-US"/>
        </a:p>
      </dgm:t>
    </dgm:pt>
    <dgm:pt modelId="{75259411-69E7-47C8-B332-287D5A760401}" type="sibTrans" cxnId="{7FB72271-6DD5-477A-853C-42DBF4B49F5F}">
      <dgm:prSet/>
      <dgm:spPr/>
      <dgm:t>
        <a:bodyPr/>
        <a:lstStyle/>
        <a:p>
          <a:endParaRPr lang="en-US"/>
        </a:p>
      </dgm:t>
    </dgm:pt>
    <dgm:pt modelId="{A1462E29-4F16-45FD-8459-5DE7B645033A}">
      <dgm:prSet/>
      <dgm:spPr/>
      <dgm:t>
        <a:bodyPr/>
        <a:lstStyle/>
        <a:p>
          <a:r>
            <a:rPr lang="en-IN"/>
            <a:t>Agents are useful for tasks such as retrieving company information, checking a database, calling an API, performing calculations, or starting an automated workflow.</a:t>
          </a:r>
          <a:endParaRPr lang="en-US"/>
        </a:p>
      </dgm:t>
    </dgm:pt>
    <dgm:pt modelId="{7FE1FC40-C0C4-4D4D-AA0A-66903D3A319B}" type="parTrans" cxnId="{6F3740DD-049D-4EB0-95E8-D5E0FC888687}">
      <dgm:prSet/>
      <dgm:spPr/>
      <dgm:t>
        <a:bodyPr/>
        <a:lstStyle/>
        <a:p>
          <a:endParaRPr lang="en-US"/>
        </a:p>
      </dgm:t>
    </dgm:pt>
    <dgm:pt modelId="{83150229-F031-41DB-A089-C7EEF0E18432}" type="sibTrans" cxnId="{6F3740DD-049D-4EB0-95E8-D5E0FC888687}">
      <dgm:prSet/>
      <dgm:spPr/>
      <dgm:t>
        <a:bodyPr/>
        <a:lstStyle/>
        <a:p>
          <a:endParaRPr lang="en-US"/>
        </a:p>
      </dgm:t>
    </dgm:pt>
    <dgm:pt modelId="{AF32EC01-7240-49ED-85F2-1875EBA80D27}">
      <dgm:prSet/>
      <dgm:spPr/>
      <dgm:t>
        <a:bodyPr/>
        <a:lstStyle/>
        <a:p>
          <a:r>
            <a:rPr lang="en-IN" b="1"/>
            <a:t>Main Idea:</a:t>
          </a:r>
          <a:endParaRPr lang="en-US"/>
        </a:p>
      </dgm:t>
    </dgm:pt>
    <dgm:pt modelId="{89B3A202-DDF3-43CA-921F-B60EF530DBF1}" type="parTrans" cxnId="{A0F9522B-C946-4CEE-A193-AC4E8B96B7B0}">
      <dgm:prSet/>
      <dgm:spPr/>
      <dgm:t>
        <a:bodyPr/>
        <a:lstStyle/>
        <a:p>
          <a:endParaRPr lang="en-US"/>
        </a:p>
      </dgm:t>
    </dgm:pt>
    <dgm:pt modelId="{B1A7581E-A49D-4FE3-9CD6-4502F9928701}" type="sibTrans" cxnId="{A0F9522B-C946-4CEE-A193-AC4E8B96B7B0}">
      <dgm:prSet/>
      <dgm:spPr/>
      <dgm:t>
        <a:bodyPr/>
        <a:lstStyle/>
        <a:p>
          <a:endParaRPr lang="en-US"/>
        </a:p>
      </dgm:t>
    </dgm:pt>
    <dgm:pt modelId="{6028FB84-1030-4784-B718-1900412A0A13}">
      <dgm:prSet/>
      <dgm:spPr/>
      <dgm:t>
        <a:bodyPr/>
        <a:lstStyle/>
        <a:p>
          <a:r>
            <a:rPr lang="en-IN" b="1"/>
            <a:t>A chatbot mainly responds. An agent can decide, retrieve, use tools, and complete steps.</a:t>
          </a:r>
          <a:endParaRPr lang="en-US"/>
        </a:p>
      </dgm:t>
    </dgm:pt>
    <dgm:pt modelId="{BBD2A4CE-3831-4874-9270-A91458011FD9}" type="parTrans" cxnId="{1FE939FB-FFB6-4570-AB29-A411151AFA23}">
      <dgm:prSet/>
      <dgm:spPr/>
      <dgm:t>
        <a:bodyPr/>
        <a:lstStyle/>
        <a:p>
          <a:endParaRPr lang="en-US"/>
        </a:p>
      </dgm:t>
    </dgm:pt>
    <dgm:pt modelId="{FAEAE025-F957-4E38-8906-253E76E99E20}" type="sibTrans" cxnId="{1FE939FB-FFB6-4570-AB29-A411151AFA23}">
      <dgm:prSet/>
      <dgm:spPr/>
      <dgm:t>
        <a:bodyPr/>
        <a:lstStyle/>
        <a:p>
          <a:endParaRPr lang="en-US"/>
        </a:p>
      </dgm:t>
    </dgm:pt>
    <dgm:pt modelId="{0C5FF1F3-7E5E-4882-BFB6-ECA23A1EC28A}" type="pres">
      <dgm:prSet presAssocID="{4C9F19FE-10D5-4B0B-A1ED-5E2B61FFE3F0}" presName="root" presStyleCnt="0">
        <dgm:presLayoutVars>
          <dgm:dir/>
          <dgm:resizeHandles val="exact"/>
        </dgm:presLayoutVars>
      </dgm:prSet>
      <dgm:spPr/>
    </dgm:pt>
    <dgm:pt modelId="{6ADBE08C-15EA-4567-98F3-7E9C24B6F774}" type="pres">
      <dgm:prSet presAssocID="{4C9F19FE-10D5-4B0B-A1ED-5E2B61FFE3F0}" presName="container" presStyleCnt="0">
        <dgm:presLayoutVars>
          <dgm:dir/>
          <dgm:resizeHandles val="exact"/>
        </dgm:presLayoutVars>
      </dgm:prSet>
      <dgm:spPr/>
    </dgm:pt>
    <dgm:pt modelId="{CFCC3C86-C367-4E7F-8295-DDC9A13CCB11}" type="pres">
      <dgm:prSet presAssocID="{EAE1F861-AA58-4218-BCE5-7133BB6D6C43}" presName="compNode" presStyleCnt="0"/>
      <dgm:spPr/>
    </dgm:pt>
    <dgm:pt modelId="{7F762330-5BE6-4F2E-B034-A92FC283516D}" type="pres">
      <dgm:prSet presAssocID="{EAE1F861-AA58-4218-BCE5-7133BB6D6C43}" presName="iconBgRect" presStyleLbl="bgShp" presStyleIdx="0" presStyleCnt="6"/>
      <dgm:spPr/>
    </dgm:pt>
    <dgm:pt modelId="{0E18DC9E-B2DD-455C-921D-DDFEB777D16B}" type="pres">
      <dgm:prSet presAssocID="{EAE1F861-AA58-4218-BCE5-7133BB6D6C43}"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ead with Gears"/>
        </a:ext>
      </dgm:extLst>
    </dgm:pt>
    <dgm:pt modelId="{6B4DA871-A353-40C6-B089-DE7ADF0B948D}" type="pres">
      <dgm:prSet presAssocID="{EAE1F861-AA58-4218-BCE5-7133BB6D6C43}" presName="spaceRect" presStyleCnt="0"/>
      <dgm:spPr/>
    </dgm:pt>
    <dgm:pt modelId="{D1A84906-0A96-4206-80B0-EFBDA7B5C633}" type="pres">
      <dgm:prSet presAssocID="{EAE1F861-AA58-4218-BCE5-7133BB6D6C43}" presName="textRect" presStyleLbl="revTx" presStyleIdx="0" presStyleCnt="6">
        <dgm:presLayoutVars>
          <dgm:chMax val="1"/>
          <dgm:chPref val="1"/>
        </dgm:presLayoutVars>
      </dgm:prSet>
      <dgm:spPr/>
    </dgm:pt>
    <dgm:pt modelId="{A4EB231C-2374-479F-83A1-65523E9E8522}" type="pres">
      <dgm:prSet presAssocID="{BCE61721-12C6-4964-B159-71FE741424C5}" presName="sibTrans" presStyleLbl="sibTrans2D1" presStyleIdx="0" presStyleCnt="0"/>
      <dgm:spPr/>
    </dgm:pt>
    <dgm:pt modelId="{7887DF8C-94FF-4E88-B204-D08542FB3FB5}" type="pres">
      <dgm:prSet presAssocID="{4238E6D7-68D9-48DC-AF30-D951684F004F}" presName="compNode" presStyleCnt="0"/>
      <dgm:spPr/>
    </dgm:pt>
    <dgm:pt modelId="{D4064118-0E3C-4E1F-8418-850E8A688A79}" type="pres">
      <dgm:prSet presAssocID="{4238E6D7-68D9-48DC-AF30-D951684F004F}" presName="iconBgRect" presStyleLbl="bgShp" presStyleIdx="1" presStyleCnt="6"/>
      <dgm:spPr/>
    </dgm:pt>
    <dgm:pt modelId="{25B0986C-51B8-4C27-9986-588DA343A3B6}" type="pres">
      <dgm:prSet presAssocID="{4238E6D7-68D9-48DC-AF30-D951684F004F}"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 Bulb and Gear"/>
        </a:ext>
      </dgm:extLst>
    </dgm:pt>
    <dgm:pt modelId="{5B7D5A89-31C3-4C71-964B-80EFDEA0D43F}" type="pres">
      <dgm:prSet presAssocID="{4238E6D7-68D9-48DC-AF30-D951684F004F}" presName="spaceRect" presStyleCnt="0"/>
      <dgm:spPr/>
    </dgm:pt>
    <dgm:pt modelId="{48C934D4-C647-4D62-A781-482EE3310D56}" type="pres">
      <dgm:prSet presAssocID="{4238E6D7-68D9-48DC-AF30-D951684F004F}" presName="textRect" presStyleLbl="revTx" presStyleIdx="1" presStyleCnt="6">
        <dgm:presLayoutVars>
          <dgm:chMax val="1"/>
          <dgm:chPref val="1"/>
        </dgm:presLayoutVars>
      </dgm:prSet>
      <dgm:spPr/>
    </dgm:pt>
    <dgm:pt modelId="{369B76C3-F68B-4628-9712-1100A116B544}" type="pres">
      <dgm:prSet presAssocID="{F8F8D8A1-D491-4C88-95BB-E3DF44AC625F}" presName="sibTrans" presStyleLbl="sibTrans2D1" presStyleIdx="0" presStyleCnt="0"/>
      <dgm:spPr/>
    </dgm:pt>
    <dgm:pt modelId="{779D2D14-1879-43B7-806D-D635A8EB7856}" type="pres">
      <dgm:prSet presAssocID="{BBA9247D-3A08-4F86-80B5-D7AC3D75369A}" presName="compNode" presStyleCnt="0"/>
      <dgm:spPr/>
    </dgm:pt>
    <dgm:pt modelId="{E6762B79-B43E-41F6-BCF9-032BC9F9C466}" type="pres">
      <dgm:prSet presAssocID="{BBA9247D-3A08-4F86-80B5-D7AC3D75369A}" presName="iconBgRect" presStyleLbl="bgShp" presStyleIdx="2" presStyleCnt="6"/>
      <dgm:spPr/>
    </dgm:pt>
    <dgm:pt modelId="{59E5F543-3A70-4B23-B60E-54DCCEBC2123}" type="pres">
      <dgm:prSet presAssocID="{BBA9247D-3A08-4F86-80B5-D7AC3D75369A}"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obot"/>
        </a:ext>
      </dgm:extLst>
    </dgm:pt>
    <dgm:pt modelId="{3832558A-B7D1-41A9-963B-7DCB2E04F23E}" type="pres">
      <dgm:prSet presAssocID="{BBA9247D-3A08-4F86-80B5-D7AC3D75369A}" presName="spaceRect" presStyleCnt="0"/>
      <dgm:spPr/>
    </dgm:pt>
    <dgm:pt modelId="{BB1087D1-0A2C-4FFC-AD69-C40B2A20F718}" type="pres">
      <dgm:prSet presAssocID="{BBA9247D-3A08-4F86-80B5-D7AC3D75369A}" presName="textRect" presStyleLbl="revTx" presStyleIdx="2" presStyleCnt="6">
        <dgm:presLayoutVars>
          <dgm:chMax val="1"/>
          <dgm:chPref val="1"/>
        </dgm:presLayoutVars>
      </dgm:prSet>
      <dgm:spPr/>
    </dgm:pt>
    <dgm:pt modelId="{13E093A5-3234-47BA-A69D-3E21CF6000D8}" type="pres">
      <dgm:prSet presAssocID="{75259411-69E7-47C8-B332-287D5A760401}" presName="sibTrans" presStyleLbl="sibTrans2D1" presStyleIdx="0" presStyleCnt="0"/>
      <dgm:spPr/>
    </dgm:pt>
    <dgm:pt modelId="{FAD3962B-B7F3-4F25-89DB-DB28361C72A6}" type="pres">
      <dgm:prSet presAssocID="{A1462E29-4F16-45FD-8459-5DE7B645033A}" presName="compNode" presStyleCnt="0"/>
      <dgm:spPr/>
    </dgm:pt>
    <dgm:pt modelId="{8D3E408D-33D1-411D-896F-AF69B389B727}" type="pres">
      <dgm:prSet presAssocID="{A1462E29-4F16-45FD-8459-5DE7B645033A}" presName="iconBgRect" presStyleLbl="bgShp" presStyleIdx="3" presStyleCnt="6"/>
      <dgm:spPr/>
    </dgm:pt>
    <dgm:pt modelId="{C26EAB20-6609-4F63-9187-FB4DE3E56E59}" type="pres">
      <dgm:prSet presAssocID="{A1462E29-4F16-45FD-8459-5DE7B645033A}"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B1B8FD6A-4581-4A95-81AE-FA95C0FF42C9}" type="pres">
      <dgm:prSet presAssocID="{A1462E29-4F16-45FD-8459-5DE7B645033A}" presName="spaceRect" presStyleCnt="0"/>
      <dgm:spPr/>
    </dgm:pt>
    <dgm:pt modelId="{D8A25DDF-2DB1-4456-AF4A-2C41F2AF291D}" type="pres">
      <dgm:prSet presAssocID="{A1462E29-4F16-45FD-8459-5DE7B645033A}" presName="textRect" presStyleLbl="revTx" presStyleIdx="3" presStyleCnt="6">
        <dgm:presLayoutVars>
          <dgm:chMax val="1"/>
          <dgm:chPref val="1"/>
        </dgm:presLayoutVars>
      </dgm:prSet>
      <dgm:spPr/>
    </dgm:pt>
    <dgm:pt modelId="{6A315202-7816-42D5-81FE-95942A78F904}" type="pres">
      <dgm:prSet presAssocID="{83150229-F031-41DB-A089-C7EEF0E18432}" presName="sibTrans" presStyleLbl="sibTrans2D1" presStyleIdx="0" presStyleCnt="0"/>
      <dgm:spPr/>
    </dgm:pt>
    <dgm:pt modelId="{FFCD3165-F4B8-41AF-9B8F-3CFFDCE06D06}" type="pres">
      <dgm:prSet presAssocID="{AF32EC01-7240-49ED-85F2-1875EBA80D27}" presName="compNode" presStyleCnt="0"/>
      <dgm:spPr/>
    </dgm:pt>
    <dgm:pt modelId="{2A724410-EB0E-4A65-9B69-08CABADAEB2E}" type="pres">
      <dgm:prSet presAssocID="{AF32EC01-7240-49ED-85F2-1875EBA80D27}" presName="iconBgRect" presStyleLbl="bgShp" presStyleIdx="4" presStyleCnt="6"/>
      <dgm:spPr/>
    </dgm:pt>
    <dgm:pt modelId="{A4C94C8B-215C-4EF7-8C85-2787967711A3}" type="pres">
      <dgm:prSet presAssocID="{AF32EC01-7240-49ED-85F2-1875EBA80D27}"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Lightbulb"/>
        </a:ext>
      </dgm:extLst>
    </dgm:pt>
    <dgm:pt modelId="{692DCA3F-E2DC-404F-89C0-0A124FAF52EA}" type="pres">
      <dgm:prSet presAssocID="{AF32EC01-7240-49ED-85F2-1875EBA80D27}" presName="spaceRect" presStyleCnt="0"/>
      <dgm:spPr/>
    </dgm:pt>
    <dgm:pt modelId="{8F89BF87-CA8D-4E0A-A397-4EC4093A134E}" type="pres">
      <dgm:prSet presAssocID="{AF32EC01-7240-49ED-85F2-1875EBA80D27}" presName="textRect" presStyleLbl="revTx" presStyleIdx="4" presStyleCnt="6">
        <dgm:presLayoutVars>
          <dgm:chMax val="1"/>
          <dgm:chPref val="1"/>
        </dgm:presLayoutVars>
      </dgm:prSet>
      <dgm:spPr/>
    </dgm:pt>
    <dgm:pt modelId="{7E367222-73E5-4D0F-9D34-2489EEEB1B6C}" type="pres">
      <dgm:prSet presAssocID="{B1A7581E-A49D-4FE3-9CD6-4502F9928701}" presName="sibTrans" presStyleLbl="sibTrans2D1" presStyleIdx="0" presStyleCnt="0"/>
      <dgm:spPr/>
    </dgm:pt>
    <dgm:pt modelId="{75320079-299B-468A-9B0C-99189ECF81F0}" type="pres">
      <dgm:prSet presAssocID="{6028FB84-1030-4784-B718-1900412A0A13}" presName="compNode" presStyleCnt="0"/>
      <dgm:spPr/>
    </dgm:pt>
    <dgm:pt modelId="{8F0F27A6-99C3-4610-B03C-6262982321BD}" type="pres">
      <dgm:prSet presAssocID="{6028FB84-1030-4784-B718-1900412A0A13}" presName="iconBgRect" presStyleLbl="bgShp" presStyleIdx="5" presStyleCnt="6"/>
      <dgm:spPr/>
    </dgm:pt>
    <dgm:pt modelId="{037D04D1-C708-4EB2-B9D9-47DC317BC7AC}" type="pres">
      <dgm:prSet presAssocID="{6028FB84-1030-4784-B718-1900412A0A13}"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9760E581-1B34-48AD-B9A1-9F4556882621}" type="pres">
      <dgm:prSet presAssocID="{6028FB84-1030-4784-B718-1900412A0A13}" presName="spaceRect" presStyleCnt="0"/>
      <dgm:spPr/>
    </dgm:pt>
    <dgm:pt modelId="{F402091A-7BC0-498B-AD6B-E2B92C2EB182}" type="pres">
      <dgm:prSet presAssocID="{6028FB84-1030-4784-B718-1900412A0A13}" presName="textRect" presStyleLbl="revTx" presStyleIdx="5" presStyleCnt="6">
        <dgm:presLayoutVars>
          <dgm:chMax val="1"/>
          <dgm:chPref val="1"/>
        </dgm:presLayoutVars>
      </dgm:prSet>
      <dgm:spPr/>
    </dgm:pt>
  </dgm:ptLst>
  <dgm:cxnLst>
    <dgm:cxn modelId="{F1DEBE05-E0F5-4115-9796-0620182AF931}" type="presOf" srcId="{F8F8D8A1-D491-4C88-95BB-E3DF44AC625F}" destId="{369B76C3-F68B-4628-9712-1100A116B544}" srcOrd="0" destOrd="0" presId="urn:microsoft.com/office/officeart/2018/2/layout/IconCircleList"/>
    <dgm:cxn modelId="{227C6520-7A00-4101-91E1-E4C3F030BB9D}" type="presOf" srcId="{6028FB84-1030-4784-B718-1900412A0A13}" destId="{F402091A-7BC0-498B-AD6B-E2B92C2EB182}" srcOrd="0" destOrd="0" presId="urn:microsoft.com/office/officeart/2018/2/layout/IconCircleList"/>
    <dgm:cxn modelId="{271A1A25-18EE-485C-924E-0A6D44333E24}" type="presOf" srcId="{83150229-F031-41DB-A089-C7EEF0E18432}" destId="{6A315202-7816-42D5-81FE-95942A78F904}" srcOrd="0" destOrd="0" presId="urn:microsoft.com/office/officeart/2018/2/layout/IconCircleList"/>
    <dgm:cxn modelId="{4A8F4E28-30E5-41F9-BA4F-8039CF176A88}" type="presOf" srcId="{BCE61721-12C6-4964-B159-71FE741424C5}" destId="{A4EB231C-2374-479F-83A1-65523E9E8522}" srcOrd="0" destOrd="0" presId="urn:microsoft.com/office/officeart/2018/2/layout/IconCircleList"/>
    <dgm:cxn modelId="{A0F9522B-C946-4CEE-A193-AC4E8B96B7B0}" srcId="{4C9F19FE-10D5-4B0B-A1ED-5E2B61FFE3F0}" destId="{AF32EC01-7240-49ED-85F2-1875EBA80D27}" srcOrd="4" destOrd="0" parTransId="{89B3A202-DDF3-43CA-921F-B60EF530DBF1}" sibTransId="{B1A7581E-A49D-4FE3-9CD6-4502F9928701}"/>
    <dgm:cxn modelId="{6946A438-6015-4677-A4A1-2B9227F4F990}" type="presOf" srcId="{75259411-69E7-47C8-B332-287D5A760401}" destId="{13E093A5-3234-47BA-A69D-3E21CF6000D8}" srcOrd="0" destOrd="0" presId="urn:microsoft.com/office/officeart/2018/2/layout/IconCircleList"/>
    <dgm:cxn modelId="{569E8A4B-B817-4B07-B1D1-6311E52D68D9}" type="presOf" srcId="{EAE1F861-AA58-4218-BCE5-7133BB6D6C43}" destId="{D1A84906-0A96-4206-80B0-EFBDA7B5C633}" srcOrd="0" destOrd="0" presId="urn:microsoft.com/office/officeart/2018/2/layout/IconCircleList"/>
    <dgm:cxn modelId="{7FB72271-6DD5-477A-853C-42DBF4B49F5F}" srcId="{4C9F19FE-10D5-4B0B-A1ED-5E2B61FFE3F0}" destId="{BBA9247D-3A08-4F86-80B5-D7AC3D75369A}" srcOrd="2" destOrd="0" parTransId="{DFBAE309-51D6-4CE9-BAA3-B9B64655AF94}" sibTransId="{75259411-69E7-47C8-B332-287D5A760401}"/>
    <dgm:cxn modelId="{DC173BB6-C59F-49C4-985D-324A87F114A8}" srcId="{4C9F19FE-10D5-4B0B-A1ED-5E2B61FFE3F0}" destId="{EAE1F861-AA58-4218-BCE5-7133BB6D6C43}" srcOrd="0" destOrd="0" parTransId="{E1CA6958-86F5-4766-99FB-F84866E5C7D5}" sibTransId="{BCE61721-12C6-4964-B159-71FE741424C5}"/>
    <dgm:cxn modelId="{6430A7BF-B08F-49DA-AF21-033894D22F84}" type="presOf" srcId="{4C9F19FE-10D5-4B0B-A1ED-5E2B61FFE3F0}" destId="{0C5FF1F3-7E5E-4882-BFB6-ECA23A1EC28A}" srcOrd="0" destOrd="0" presId="urn:microsoft.com/office/officeart/2018/2/layout/IconCircleList"/>
    <dgm:cxn modelId="{3C5780D2-95AC-4D6C-89BB-83591B29CCAA}" type="presOf" srcId="{B1A7581E-A49D-4FE3-9CD6-4502F9928701}" destId="{7E367222-73E5-4D0F-9D34-2489EEEB1B6C}" srcOrd="0" destOrd="0" presId="urn:microsoft.com/office/officeart/2018/2/layout/IconCircleList"/>
    <dgm:cxn modelId="{715F42D7-F304-48A1-A661-E836AA88CB78}" type="presOf" srcId="{A1462E29-4F16-45FD-8459-5DE7B645033A}" destId="{D8A25DDF-2DB1-4456-AF4A-2C41F2AF291D}" srcOrd="0" destOrd="0" presId="urn:microsoft.com/office/officeart/2018/2/layout/IconCircleList"/>
    <dgm:cxn modelId="{6F3740DD-049D-4EB0-95E8-D5E0FC888687}" srcId="{4C9F19FE-10D5-4B0B-A1ED-5E2B61FFE3F0}" destId="{A1462E29-4F16-45FD-8459-5DE7B645033A}" srcOrd="3" destOrd="0" parTransId="{7FE1FC40-C0C4-4D4D-AA0A-66903D3A319B}" sibTransId="{83150229-F031-41DB-A089-C7EEF0E18432}"/>
    <dgm:cxn modelId="{4CB5CBEA-9137-4BBD-8356-63B1ED8C9BAC}" type="presOf" srcId="{4238E6D7-68D9-48DC-AF30-D951684F004F}" destId="{48C934D4-C647-4D62-A781-482EE3310D56}" srcOrd="0" destOrd="0" presId="urn:microsoft.com/office/officeart/2018/2/layout/IconCircleList"/>
    <dgm:cxn modelId="{22D49EF2-04EE-4FC4-83FB-F884BA394B4F}" type="presOf" srcId="{BBA9247D-3A08-4F86-80B5-D7AC3D75369A}" destId="{BB1087D1-0A2C-4FFC-AD69-C40B2A20F718}" srcOrd="0" destOrd="0" presId="urn:microsoft.com/office/officeart/2018/2/layout/IconCircleList"/>
    <dgm:cxn modelId="{9FCE9EF5-7D43-4750-B1FF-02E1E0F0C570}" srcId="{4C9F19FE-10D5-4B0B-A1ED-5E2B61FFE3F0}" destId="{4238E6D7-68D9-48DC-AF30-D951684F004F}" srcOrd="1" destOrd="0" parTransId="{B06D2893-1C21-417E-BB2C-2963C1E340AC}" sibTransId="{F8F8D8A1-D491-4C88-95BB-E3DF44AC625F}"/>
    <dgm:cxn modelId="{367610F6-74EC-4FB0-A1E4-0525090CFA7F}" type="presOf" srcId="{AF32EC01-7240-49ED-85F2-1875EBA80D27}" destId="{8F89BF87-CA8D-4E0A-A397-4EC4093A134E}" srcOrd="0" destOrd="0" presId="urn:microsoft.com/office/officeart/2018/2/layout/IconCircleList"/>
    <dgm:cxn modelId="{1FE939FB-FFB6-4570-AB29-A411151AFA23}" srcId="{4C9F19FE-10D5-4B0B-A1ED-5E2B61FFE3F0}" destId="{6028FB84-1030-4784-B718-1900412A0A13}" srcOrd="5" destOrd="0" parTransId="{BBD2A4CE-3831-4874-9270-A91458011FD9}" sibTransId="{FAEAE025-F957-4E38-8906-253E76E99E20}"/>
    <dgm:cxn modelId="{227E8A8A-B5E9-4536-B0C9-EBAD1DA0C960}" type="presParOf" srcId="{0C5FF1F3-7E5E-4882-BFB6-ECA23A1EC28A}" destId="{6ADBE08C-15EA-4567-98F3-7E9C24B6F774}" srcOrd="0" destOrd="0" presId="urn:microsoft.com/office/officeart/2018/2/layout/IconCircleList"/>
    <dgm:cxn modelId="{81DC18F7-ECD8-4413-AC38-1F36D39CEB13}" type="presParOf" srcId="{6ADBE08C-15EA-4567-98F3-7E9C24B6F774}" destId="{CFCC3C86-C367-4E7F-8295-DDC9A13CCB11}" srcOrd="0" destOrd="0" presId="urn:microsoft.com/office/officeart/2018/2/layout/IconCircleList"/>
    <dgm:cxn modelId="{58912905-F787-4020-B5F7-9B35D12F9893}" type="presParOf" srcId="{CFCC3C86-C367-4E7F-8295-DDC9A13CCB11}" destId="{7F762330-5BE6-4F2E-B034-A92FC283516D}" srcOrd="0" destOrd="0" presId="urn:microsoft.com/office/officeart/2018/2/layout/IconCircleList"/>
    <dgm:cxn modelId="{F0809399-267E-4113-B17B-87D5BA1BB2CA}" type="presParOf" srcId="{CFCC3C86-C367-4E7F-8295-DDC9A13CCB11}" destId="{0E18DC9E-B2DD-455C-921D-DDFEB777D16B}" srcOrd="1" destOrd="0" presId="urn:microsoft.com/office/officeart/2018/2/layout/IconCircleList"/>
    <dgm:cxn modelId="{4249F672-6032-4B37-B0BC-E124ADCE7915}" type="presParOf" srcId="{CFCC3C86-C367-4E7F-8295-DDC9A13CCB11}" destId="{6B4DA871-A353-40C6-B089-DE7ADF0B948D}" srcOrd="2" destOrd="0" presId="urn:microsoft.com/office/officeart/2018/2/layout/IconCircleList"/>
    <dgm:cxn modelId="{2ACB05FB-F59C-4AD2-AAD7-FF705C9C4B60}" type="presParOf" srcId="{CFCC3C86-C367-4E7F-8295-DDC9A13CCB11}" destId="{D1A84906-0A96-4206-80B0-EFBDA7B5C633}" srcOrd="3" destOrd="0" presId="urn:microsoft.com/office/officeart/2018/2/layout/IconCircleList"/>
    <dgm:cxn modelId="{0F8D310E-D51A-4680-9ED9-8F188D786721}" type="presParOf" srcId="{6ADBE08C-15EA-4567-98F3-7E9C24B6F774}" destId="{A4EB231C-2374-479F-83A1-65523E9E8522}" srcOrd="1" destOrd="0" presId="urn:microsoft.com/office/officeart/2018/2/layout/IconCircleList"/>
    <dgm:cxn modelId="{954FABD3-CD10-48D8-B976-753EF992FCBD}" type="presParOf" srcId="{6ADBE08C-15EA-4567-98F3-7E9C24B6F774}" destId="{7887DF8C-94FF-4E88-B204-D08542FB3FB5}" srcOrd="2" destOrd="0" presId="urn:microsoft.com/office/officeart/2018/2/layout/IconCircleList"/>
    <dgm:cxn modelId="{ABA88600-ED0E-4839-B950-2482FFD20317}" type="presParOf" srcId="{7887DF8C-94FF-4E88-B204-D08542FB3FB5}" destId="{D4064118-0E3C-4E1F-8418-850E8A688A79}" srcOrd="0" destOrd="0" presId="urn:microsoft.com/office/officeart/2018/2/layout/IconCircleList"/>
    <dgm:cxn modelId="{F682DFFB-6CD3-4022-9B16-7120F3F2FD7D}" type="presParOf" srcId="{7887DF8C-94FF-4E88-B204-D08542FB3FB5}" destId="{25B0986C-51B8-4C27-9986-588DA343A3B6}" srcOrd="1" destOrd="0" presId="urn:microsoft.com/office/officeart/2018/2/layout/IconCircleList"/>
    <dgm:cxn modelId="{64FADF6B-7904-4067-8267-6AF2AC5F7781}" type="presParOf" srcId="{7887DF8C-94FF-4E88-B204-D08542FB3FB5}" destId="{5B7D5A89-31C3-4C71-964B-80EFDEA0D43F}" srcOrd="2" destOrd="0" presId="urn:microsoft.com/office/officeart/2018/2/layout/IconCircleList"/>
    <dgm:cxn modelId="{FA747DA7-7E10-42D2-BC66-6B0488C9EC8B}" type="presParOf" srcId="{7887DF8C-94FF-4E88-B204-D08542FB3FB5}" destId="{48C934D4-C647-4D62-A781-482EE3310D56}" srcOrd="3" destOrd="0" presId="urn:microsoft.com/office/officeart/2018/2/layout/IconCircleList"/>
    <dgm:cxn modelId="{93E63765-7377-46B9-B3EC-48CE0AC7D2EE}" type="presParOf" srcId="{6ADBE08C-15EA-4567-98F3-7E9C24B6F774}" destId="{369B76C3-F68B-4628-9712-1100A116B544}" srcOrd="3" destOrd="0" presId="urn:microsoft.com/office/officeart/2018/2/layout/IconCircleList"/>
    <dgm:cxn modelId="{E48A97CF-0B66-4BAF-AA6F-69A1879985F4}" type="presParOf" srcId="{6ADBE08C-15EA-4567-98F3-7E9C24B6F774}" destId="{779D2D14-1879-43B7-806D-D635A8EB7856}" srcOrd="4" destOrd="0" presId="urn:microsoft.com/office/officeart/2018/2/layout/IconCircleList"/>
    <dgm:cxn modelId="{DF2111A6-8A92-4B80-9D23-318A43DB5ADD}" type="presParOf" srcId="{779D2D14-1879-43B7-806D-D635A8EB7856}" destId="{E6762B79-B43E-41F6-BCF9-032BC9F9C466}" srcOrd="0" destOrd="0" presId="urn:microsoft.com/office/officeart/2018/2/layout/IconCircleList"/>
    <dgm:cxn modelId="{9D75A7C3-FF54-4CE0-BCC1-22A61F049B7E}" type="presParOf" srcId="{779D2D14-1879-43B7-806D-D635A8EB7856}" destId="{59E5F543-3A70-4B23-B60E-54DCCEBC2123}" srcOrd="1" destOrd="0" presId="urn:microsoft.com/office/officeart/2018/2/layout/IconCircleList"/>
    <dgm:cxn modelId="{DBBF183B-FB2A-4336-8770-91E77FFAFCAE}" type="presParOf" srcId="{779D2D14-1879-43B7-806D-D635A8EB7856}" destId="{3832558A-B7D1-41A9-963B-7DCB2E04F23E}" srcOrd="2" destOrd="0" presId="urn:microsoft.com/office/officeart/2018/2/layout/IconCircleList"/>
    <dgm:cxn modelId="{FA784374-C480-4324-B6DF-C80ECF410DDD}" type="presParOf" srcId="{779D2D14-1879-43B7-806D-D635A8EB7856}" destId="{BB1087D1-0A2C-4FFC-AD69-C40B2A20F718}" srcOrd="3" destOrd="0" presId="urn:microsoft.com/office/officeart/2018/2/layout/IconCircleList"/>
    <dgm:cxn modelId="{5697958B-FEBD-48E0-9AB9-CB24ECE7E6CE}" type="presParOf" srcId="{6ADBE08C-15EA-4567-98F3-7E9C24B6F774}" destId="{13E093A5-3234-47BA-A69D-3E21CF6000D8}" srcOrd="5" destOrd="0" presId="urn:microsoft.com/office/officeart/2018/2/layout/IconCircleList"/>
    <dgm:cxn modelId="{60C66535-D9AE-4E10-B280-BD99C4948C3D}" type="presParOf" srcId="{6ADBE08C-15EA-4567-98F3-7E9C24B6F774}" destId="{FAD3962B-B7F3-4F25-89DB-DB28361C72A6}" srcOrd="6" destOrd="0" presId="urn:microsoft.com/office/officeart/2018/2/layout/IconCircleList"/>
    <dgm:cxn modelId="{AF5F199D-1D4C-4BC8-AF5D-2D1C4B96B3A8}" type="presParOf" srcId="{FAD3962B-B7F3-4F25-89DB-DB28361C72A6}" destId="{8D3E408D-33D1-411D-896F-AF69B389B727}" srcOrd="0" destOrd="0" presId="urn:microsoft.com/office/officeart/2018/2/layout/IconCircleList"/>
    <dgm:cxn modelId="{36CB6C54-C8A5-455B-B66A-806B43123189}" type="presParOf" srcId="{FAD3962B-B7F3-4F25-89DB-DB28361C72A6}" destId="{C26EAB20-6609-4F63-9187-FB4DE3E56E59}" srcOrd="1" destOrd="0" presId="urn:microsoft.com/office/officeart/2018/2/layout/IconCircleList"/>
    <dgm:cxn modelId="{6A685E4A-F76F-406F-82AF-9FB44679172A}" type="presParOf" srcId="{FAD3962B-B7F3-4F25-89DB-DB28361C72A6}" destId="{B1B8FD6A-4581-4A95-81AE-FA95C0FF42C9}" srcOrd="2" destOrd="0" presId="urn:microsoft.com/office/officeart/2018/2/layout/IconCircleList"/>
    <dgm:cxn modelId="{ABC1B7D6-F580-40DD-82E5-D9CBEC14356F}" type="presParOf" srcId="{FAD3962B-B7F3-4F25-89DB-DB28361C72A6}" destId="{D8A25DDF-2DB1-4456-AF4A-2C41F2AF291D}" srcOrd="3" destOrd="0" presId="urn:microsoft.com/office/officeart/2018/2/layout/IconCircleList"/>
    <dgm:cxn modelId="{3CA9EF56-33CD-4A4B-953B-529F857D2EF2}" type="presParOf" srcId="{6ADBE08C-15EA-4567-98F3-7E9C24B6F774}" destId="{6A315202-7816-42D5-81FE-95942A78F904}" srcOrd="7" destOrd="0" presId="urn:microsoft.com/office/officeart/2018/2/layout/IconCircleList"/>
    <dgm:cxn modelId="{3D8CB7A6-86D6-4AD6-97F9-2AE4370BDA91}" type="presParOf" srcId="{6ADBE08C-15EA-4567-98F3-7E9C24B6F774}" destId="{FFCD3165-F4B8-41AF-9B8F-3CFFDCE06D06}" srcOrd="8" destOrd="0" presId="urn:microsoft.com/office/officeart/2018/2/layout/IconCircleList"/>
    <dgm:cxn modelId="{F0A278A0-634C-469B-BF31-C5D86CF29C6C}" type="presParOf" srcId="{FFCD3165-F4B8-41AF-9B8F-3CFFDCE06D06}" destId="{2A724410-EB0E-4A65-9B69-08CABADAEB2E}" srcOrd="0" destOrd="0" presId="urn:microsoft.com/office/officeart/2018/2/layout/IconCircleList"/>
    <dgm:cxn modelId="{3F2A5883-87B0-4DE4-B97F-F6B020F700B2}" type="presParOf" srcId="{FFCD3165-F4B8-41AF-9B8F-3CFFDCE06D06}" destId="{A4C94C8B-215C-4EF7-8C85-2787967711A3}" srcOrd="1" destOrd="0" presId="urn:microsoft.com/office/officeart/2018/2/layout/IconCircleList"/>
    <dgm:cxn modelId="{3DF9B288-1EA2-488C-AC3A-64B23541F8A5}" type="presParOf" srcId="{FFCD3165-F4B8-41AF-9B8F-3CFFDCE06D06}" destId="{692DCA3F-E2DC-404F-89C0-0A124FAF52EA}" srcOrd="2" destOrd="0" presId="urn:microsoft.com/office/officeart/2018/2/layout/IconCircleList"/>
    <dgm:cxn modelId="{E2154779-6E07-4CFA-8ACE-2019945B9C3C}" type="presParOf" srcId="{FFCD3165-F4B8-41AF-9B8F-3CFFDCE06D06}" destId="{8F89BF87-CA8D-4E0A-A397-4EC4093A134E}" srcOrd="3" destOrd="0" presId="urn:microsoft.com/office/officeart/2018/2/layout/IconCircleList"/>
    <dgm:cxn modelId="{6CD60F2D-315C-413A-9F4E-1FA0B68E3593}" type="presParOf" srcId="{6ADBE08C-15EA-4567-98F3-7E9C24B6F774}" destId="{7E367222-73E5-4D0F-9D34-2489EEEB1B6C}" srcOrd="9" destOrd="0" presId="urn:microsoft.com/office/officeart/2018/2/layout/IconCircleList"/>
    <dgm:cxn modelId="{813B2A8A-A009-49AC-8587-080FE35C745F}" type="presParOf" srcId="{6ADBE08C-15EA-4567-98F3-7E9C24B6F774}" destId="{75320079-299B-468A-9B0C-99189ECF81F0}" srcOrd="10" destOrd="0" presId="urn:microsoft.com/office/officeart/2018/2/layout/IconCircleList"/>
    <dgm:cxn modelId="{4BF4F899-D683-42B6-8406-C22E711B81A4}" type="presParOf" srcId="{75320079-299B-468A-9B0C-99189ECF81F0}" destId="{8F0F27A6-99C3-4610-B03C-6262982321BD}" srcOrd="0" destOrd="0" presId="urn:microsoft.com/office/officeart/2018/2/layout/IconCircleList"/>
    <dgm:cxn modelId="{0DDE2BD0-D809-4272-B282-C9E233AA8719}" type="presParOf" srcId="{75320079-299B-468A-9B0C-99189ECF81F0}" destId="{037D04D1-C708-4EB2-B9D9-47DC317BC7AC}" srcOrd="1" destOrd="0" presId="urn:microsoft.com/office/officeart/2018/2/layout/IconCircleList"/>
    <dgm:cxn modelId="{8E91C78E-23F6-4238-BC89-9852CC4394C7}" type="presParOf" srcId="{75320079-299B-468A-9B0C-99189ECF81F0}" destId="{9760E581-1B34-48AD-B9A1-9F4556882621}" srcOrd="2" destOrd="0" presId="urn:microsoft.com/office/officeart/2018/2/layout/IconCircleList"/>
    <dgm:cxn modelId="{801BDFB4-B707-4B46-BE74-B677003B82B4}" type="presParOf" srcId="{75320079-299B-468A-9B0C-99189ECF81F0}" destId="{F402091A-7BC0-498B-AD6B-E2B92C2EB182}"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5F40DDE-1B33-4FEF-86BE-B902FB8F165B}" type="doc">
      <dgm:prSet loTypeId="urn:microsoft.com/office/officeart/2018/2/layout/IconLabelList" loCatId="icon" qsTypeId="urn:microsoft.com/office/officeart/2005/8/quickstyle/simple1#14" qsCatId="simple" csTypeId="urn:microsoft.com/office/officeart/2018/5/colors/Iconchunking_neutralbg_colorful1" csCatId="colorful" phldr="1"/>
      <dgm:spPr/>
      <dgm:t>
        <a:bodyPr/>
        <a:lstStyle/>
        <a:p>
          <a:endParaRPr lang="en-US"/>
        </a:p>
      </dgm:t>
    </dgm:pt>
    <dgm:pt modelId="{1E42826A-E2C0-4EFF-B599-9B7D746D4C02}">
      <dgm:prSet/>
      <dgm:spPr/>
      <dgm:t>
        <a:bodyPr/>
        <a:lstStyle/>
        <a:p>
          <a:r>
            <a:rPr lang="en-IN" b="1"/>
            <a:t>Memory:</a:t>
          </a:r>
          <a:r>
            <a:rPr lang="en-IN"/>
            <a:t> Keeps useful information from previous conversations or external data sources so the agent can use earlier context when needed.</a:t>
          </a:r>
          <a:endParaRPr lang="en-US"/>
        </a:p>
      </dgm:t>
    </dgm:pt>
    <dgm:pt modelId="{C1F8D476-E46D-4BDA-8442-A46A31C61675}" type="parTrans" cxnId="{E333463F-0E47-4848-A574-F375289F90FD}">
      <dgm:prSet/>
      <dgm:spPr/>
      <dgm:t>
        <a:bodyPr/>
        <a:lstStyle/>
        <a:p>
          <a:endParaRPr lang="en-US"/>
        </a:p>
      </dgm:t>
    </dgm:pt>
    <dgm:pt modelId="{62718FCD-6454-4B64-8179-BF95D81BD7E5}" type="sibTrans" cxnId="{E333463F-0E47-4848-A574-F375289F90FD}">
      <dgm:prSet/>
      <dgm:spPr/>
      <dgm:t>
        <a:bodyPr/>
        <a:lstStyle/>
        <a:p>
          <a:endParaRPr lang="en-US"/>
        </a:p>
      </dgm:t>
    </dgm:pt>
    <dgm:pt modelId="{67B50EF3-1FBF-41BA-A1E2-EC9527C31644}">
      <dgm:prSet/>
      <dgm:spPr/>
      <dgm:t>
        <a:bodyPr/>
        <a:lstStyle/>
        <a:p>
          <a:r>
            <a:rPr lang="en-IN"/>
            <a:t>Memory does not mean the Foundation Model permanently remembers everything. It may come from chat history, a database, or another external storage system.</a:t>
          </a:r>
          <a:endParaRPr lang="en-US"/>
        </a:p>
      </dgm:t>
    </dgm:pt>
    <dgm:pt modelId="{5514212E-7B0D-4481-8AF2-78BB69895378}" type="parTrans" cxnId="{16BCF3CF-6492-45BE-AED3-02DB5D65FF78}">
      <dgm:prSet/>
      <dgm:spPr/>
      <dgm:t>
        <a:bodyPr/>
        <a:lstStyle/>
        <a:p>
          <a:endParaRPr lang="en-US"/>
        </a:p>
      </dgm:t>
    </dgm:pt>
    <dgm:pt modelId="{A97FF372-5D07-42D3-BC3D-3F5DA7DD62ED}" type="sibTrans" cxnId="{16BCF3CF-6492-45BE-AED3-02DB5D65FF78}">
      <dgm:prSet/>
      <dgm:spPr/>
      <dgm:t>
        <a:bodyPr/>
        <a:lstStyle/>
        <a:p>
          <a:endParaRPr lang="en-US"/>
        </a:p>
      </dgm:t>
    </dgm:pt>
    <dgm:pt modelId="{8B0A83BC-7BDC-4CCA-9EE5-C0A9FD66C8A7}">
      <dgm:prSet/>
      <dgm:spPr/>
      <dgm:t>
        <a:bodyPr/>
        <a:lstStyle/>
        <a:p>
          <a:r>
            <a:rPr lang="en-IN" b="1"/>
            <a:t>Planning:</a:t>
          </a:r>
          <a:r>
            <a:rPr lang="en-IN"/>
            <a:t> Helps the model break a larger task into smaller steps and decide what information or action is needed next.</a:t>
          </a:r>
          <a:endParaRPr lang="en-US"/>
        </a:p>
      </dgm:t>
    </dgm:pt>
    <dgm:pt modelId="{5CEE51E5-1812-4D27-A6F7-D85632C73D53}" type="parTrans" cxnId="{3C553BCA-3526-4875-BCE9-0A46C5623A45}">
      <dgm:prSet/>
      <dgm:spPr/>
      <dgm:t>
        <a:bodyPr/>
        <a:lstStyle/>
        <a:p>
          <a:endParaRPr lang="en-US"/>
        </a:p>
      </dgm:t>
    </dgm:pt>
    <dgm:pt modelId="{EB3B1F83-E7F1-4DB7-BB5B-A4715CA1AF31}" type="sibTrans" cxnId="{3C553BCA-3526-4875-BCE9-0A46C5623A45}">
      <dgm:prSet/>
      <dgm:spPr/>
      <dgm:t>
        <a:bodyPr/>
        <a:lstStyle/>
        <a:p>
          <a:endParaRPr lang="en-US"/>
        </a:p>
      </dgm:t>
    </dgm:pt>
    <dgm:pt modelId="{2BDB0631-B241-4750-A78A-DC209046C585}">
      <dgm:prSet/>
      <dgm:spPr/>
      <dgm:t>
        <a:bodyPr/>
        <a:lstStyle/>
        <a:p>
          <a:r>
            <a:rPr lang="en-IN" b="1"/>
            <a:t>Tools:</a:t>
          </a:r>
          <a:r>
            <a:rPr lang="en-IN"/>
            <a:t> Give the agent access to capabilities outside the model, such as APIs, databases, Lambda functions, calculations, and other AWS services.</a:t>
          </a:r>
          <a:endParaRPr lang="en-US"/>
        </a:p>
      </dgm:t>
    </dgm:pt>
    <dgm:pt modelId="{40B60DF9-AE60-4267-96B5-FD00E1FF07C4}" type="parTrans" cxnId="{E3EB2AA8-BFC8-4F1C-8A98-8C711C26043F}">
      <dgm:prSet/>
      <dgm:spPr/>
      <dgm:t>
        <a:bodyPr/>
        <a:lstStyle/>
        <a:p>
          <a:endParaRPr lang="en-US"/>
        </a:p>
      </dgm:t>
    </dgm:pt>
    <dgm:pt modelId="{302A51CE-57C1-4503-9B3B-87602D1447EF}" type="sibTrans" cxnId="{E3EB2AA8-BFC8-4F1C-8A98-8C711C26043F}">
      <dgm:prSet/>
      <dgm:spPr/>
      <dgm:t>
        <a:bodyPr/>
        <a:lstStyle/>
        <a:p>
          <a:endParaRPr lang="en-US"/>
        </a:p>
      </dgm:t>
    </dgm:pt>
    <dgm:pt modelId="{A1D3FC57-72C2-4548-9C8B-2C56DF3FDBD2}">
      <dgm:prSet/>
      <dgm:spPr/>
      <dgm:t>
        <a:bodyPr/>
        <a:lstStyle/>
        <a:p>
          <a:r>
            <a:rPr lang="en-IN"/>
            <a:t>These components work together to help the agent move from understanding the request to completing the task.</a:t>
          </a:r>
          <a:endParaRPr lang="en-US"/>
        </a:p>
      </dgm:t>
    </dgm:pt>
    <dgm:pt modelId="{4F685EDB-FE34-4E42-814C-57A384CACBE5}" type="parTrans" cxnId="{0D2F42EB-31A4-43A0-BD46-818D569B5357}">
      <dgm:prSet/>
      <dgm:spPr/>
      <dgm:t>
        <a:bodyPr/>
        <a:lstStyle/>
        <a:p>
          <a:endParaRPr lang="en-US"/>
        </a:p>
      </dgm:t>
    </dgm:pt>
    <dgm:pt modelId="{06A930F7-4F12-4EF8-9ACE-443F3681A5FC}" type="sibTrans" cxnId="{0D2F42EB-31A4-43A0-BD46-818D569B5357}">
      <dgm:prSet/>
      <dgm:spPr/>
      <dgm:t>
        <a:bodyPr/>
        <a:lstStyle/>
        <a:p>
          <a:endParaRPr lang="en-US"/>
        </a:p>
      </dgm:t>
    </dgm:pt>
    <dgm:pt modelId="{1CAC3041-1043-4134-85B7-D478BD6FA528}">
      <dgm:prSet/>
      <dgm:spPr/>
      <dgm:t>
        <a:bodyPr/>
        <a:lstStyle/>
        <a:p>
          <a:r>
            <a:rPr lang="en-IN" b="1"/>
            <a:t>Simple Flow:</a:t>
          </a:r>
          <a:endParaRPr lang="en-US"/>
        </a:p>
      </dgm:t>
    </dgm:pt>
    <dgm:pt modelId="{0A03368D-2881-4C7F-AA2A-93CF6793B166}" type="parTrans" cxnId="{DDDF0DAF-D97B-444B-B3ED-B0556ED5F12C}">
      <dgm:prSet/>
      <dgm:spPr/>
      <dgm:t>
        <a:bodyPr/>
        <a:lstStyle/>
        <a:p>
          <a:endParaRPr lang="en-US"/>
        </a:p>
      </dgm:t>
    </dgm:pt>
    <dgm:pt modelId="{DB70E3A7-F33B-4262-B83E-2E78296C7083}" type="sibTrans" cxnId="{DDDF0DAF-D97B-444B-B3ED-B0556ED5F12C}">
      <dgm:prSet/>
      <dgm:spPr/>
      <dgm:t>
        <a:bodyPr/>
        <a:lstStyle/>
        <a:p>
          <a:endParaRPr lang="en-US"/>
        </a:p>
      </dgm:t>
    </dgm:pt>
    <dgm:pt modelId="{A54377EE-DC13-47B9-B256-B9454388D495}">
      <dgm:prSet/>
      <dgm:spPr/>
      <dgm:t>
        <a:bodyPr/>
        <a:lstStyle/>
        <a:p>
          <a:r>
            <a:rPr lang="en-IN" b="1"/>
            <a:t>User Request → Understand Goal → Plan Steps → Use Tools → Combine Results → Final Response</a:t>
          </a:r>
          <a:endParaRPr lang="en-US"/>
        </a:p>
      </dgm:t>
    </dgm:pt>
    <dgm:pt modelId="{52A3AC35-764F-423D-B5E3-705AB6E4F151}" type="parTrans" cxnId="{4E26A810-4715-4ECA-B3E6-35B63263322B}">
      <dgm:prSet/>
      <dgm:spPr/>
      <dgm:t>
        <a:bodyPr/>
        <a:lstStyle/>
        <a:p>
          <a:endParaRPr lang="en-US"/>
        </a:p>
      </dgm:t>
    </dgm:pt>
    <dgm:pt modelId="{405CDE53-3A74-4F51-99E4-CC5E34F16BD4}" type="sibTrans" cxnId="{4E26A810-4715-4ECA-B3E6-35B63263322B}">
      <dgm:prSet/>
      <dgm:spPr/>
      <dgm:t>
        <a:bodyPr/>
        <a:lstStyle/>
        <a:p>
          <a:endParaRPr lang="en-US"/>
        </a:p>
      </dgm:t>
    </dgm:pt>
    <dgm:pt modelId="{D2D9B2E0-88CF-4E4E-B942-8674431106B9}" type="pres">
      <dgm:prSet presAssocID="{35F40DDE-1B33-4FEF-86BE-B902FB8F165B}" presName="root" presStyleCnt="0">
        <dgm:presLayoutVars>
          <dgm:dir/>
          <dgm:resizeHandles val="exact"/>
        </dgm:presLayoutVars>
      </dgm:prSet>
      <dgm:spPr/>
    </dgm:pt>
    <dgm:pt modelId="{F359A540-E180-4E20-AC3A-469897FD16A3}" type="pres">
      <dgm:prSet presAssocID="{1E42826A-E2C0-4EFF-B599-9B7D746D4C02}" presName="compNode" presStyleCnt="0"/>
      <dgm:spPr/>
    </dgm:pt>
    <dgm:pt modelId="{2195F219-E373-4EEF-AF62-09AC6ED98228}" type="pres">
      <dgm:prSet presAssocID="{1E42826A-E2C0-4EFF-B599-9B7D746D4C02}"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atabase"/>
        </a:ext>
      </dgm:extLst>
    </dgm:pt>
    <dgm:pt modelId="{E3CE9E45-C51C-4227-8D4E-691EC2BB89B5}" type="pres">
      <dgm:prSet presAssocID="{1E42826A-E2C0-4EFF-B599-9B7D746D4C02}" presName="spaceRect" presStyleCnt="0"/>
      <dgm:spPr/>
    </dgm:pt>
    <dgm:pt modelId="{47CDF89B-B6A6-41AD-B176-7C5C3385D4BD}" type="pres">
      <dgm:prSet presAssocID="{1E42826A-E2C0-4EFF-B599-9B7D746D4C02}" presName="textRect" presStyleLbl="revTx" presStyleIdx="0" presStyleCnt="7">
        <dgm:presLayoutVars>
          <dgm:chMax val="1"/>
          <dgm:chPref val="1"/>
        </dgm:presLayoutVars>
      </dgm:prSet>
      <dgm:spPr/>
    </dgm:pt>
    <dgm:pt modelId="{C795FFB3-8ACE-4707-8B04-755710177E40}" type="pres">
      <dgm:prSet presAssocID="{62718FCD-6454-4B64-8179-BF95D81BD7E5}" presName="sibTrans" presStyleCnt="0"/>
      <dgm:spPr/>
    </dgm:pt>
    <dgm:pt modelId="{7499E841-F87B-4262-8504-4BDA23B27CD2}" type="pres">
      <dgm:prSet presAssocID="{67B50EF3-1FBF-41BA-A1E2-EC9527C31644}" presName="compNode" presStyleCnt="0"/>
      <dgm:spPr/>
    </dgm:pt>
    <dgm:pt modelId="{D7443860-2A6E-4E77-B8F3-DBC700685CAF}" type="pres">
      <dgm:prSet presAssocID="{67B50EF3-1FBF-41BA-A1E2-EC9527C31644}"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00F1A2A5-832E-4365-A6BB-7FE920E55590}" type="pres">
      <dgm:prSet presAssocID="{67B50EF3-1FBF-41BA-A1E2-EC9527C31644}" presName="spaceRect" presStyleCnt="0"/>
      <dgm:spPr/>
    </dgm:pt>
    <dgm:pt modelId="{7A5415CE-C3E3-43FE-930D-5A9989533055}" type="pres">
      <dgm:prSet presAssocID="{67B50EF3-1FBF-41BA-A1E2-EC9527C31644}" presName="textRect" presStyleLbl="revTx" presStyleIdx="1" presStyleCnt="7">
        <dgm:presLayoutVars>
          <dgm:chMax val="1"/>
          <dgm:chPref val="1"/>
        </dgm:presLayoutVars>
      </dgm:prSet>
      <dgm:spPr/>
    </dgm:pt>
    <dgm:pt modelId="{1B7E4ACD-23B1-4102-A5FA-468F099C6CAE}" type="pres">
      <dgm:prSet presAssocID="{A97FF372-5D07-42D3-BC3D-3F5DA7DD62ED}" presName="sibTrans" presStyleCnt="0"/>
      <dgm:spPr/>
    </dgm:pt>
    <dgm:pt modelId="{7524F50B-A5B3-4F2D-855F-837580E2A55D}" type="pres">
      <dgm:prSet presAssocID="{8B0A83BC-7BDC-4CCA-9EE5-C0A9FD66C8A7}" presName="compNode" presStyleCnt="0"/>
      <dgm:spPr/>
    </dgm:pt>
    <dgm:pt modelId="{C4936705-145B-4CB4-A526-C8A14A062598}" type="pres">
      <dgm:prSet presAssocID="{8B0A83BC-7BDC-4CCA-9EE5-C0A9FD66C8A7}"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Workflow"/>
        </a:ext>
      </dgm:extLst>
    </dgm:pt>
    <dgm:pt modelId="{1D4BEA0E-0403-450B-962E-A9C7EC542D55}" type="pres">
      <dgm:prSet presAssocID="{8B0A83BC-7BDC-4CCA-9EE5-C0A9FD66C8A7}" presName="spaceRect" presStyleCnt="0"/>
      <dgm:spPr/>
    </dgm:pt>
    <dgm:pt modelId="{BBF6209C-1D17-42A1-BB8B-EB45EC77B5CD}" type="pres">
      <dgm:prSet presAssocID="{8B0A83BC-7BDC-4CCA-9EE5-C0A9FD66C8A7}" presName="textRect" presStyleLbl="revTx" presStyleIdx="2" presStyleCnt="7">
        <dgm:presLayoutVars>
          <dgm:chMax val="1"/>
          <dgm:chPref val="1"/>
        </dgm:presLayoutVars>
      </dgm:prSet>
      <dgm:spPr/>
    </dgm:pt>
    <dgm:pt modelId="{224A774E-FB4E-45CE-BD70-EC76C07B73BC}" type="pres">
      <dgm:prSet presAssocID="{EB3B1F83-E7F1-4DB7-BB5B-A4715CA1AF31}" presName="sibTrans" presStyleCnt="0"/>
      <dgm:spPr/>
    </dgm:pt>
    <dgm:pt modelId="{5A51F282-476A-411D-8736-205E5323231B}" type="pres">
      <dgm:prSet presAssocID="{2BDB0631-B241-4750-A78A-DC209046C585}" presName="compNode" presStyleCnt="0"/>
      <dgm:spPr/>
    </dgm:pt>
    <dgm:pt modelId="{5F46AFFA-CD5F-4AB7-8305-858EF7E6692F}" type="pres">
      <dgm:prSet presAssocID="{2BDB0631-B241-4750-A78A-DC209046C585}"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4E6C968C-508E-4581-A1C7-17CF6221A6C6}" type="pres">
      <dgm:prSet presAssocID="{2BDB0631-B241-4750-A78A-DC209046C585}" presName="spaceRect" presStyleCnt="0"/>
      <dgm:spPr/>
    </dgm:pt>
    <dgm:pt modelId="{6AF281EC-2144-43CD-9B3F-B1094C933AD2}" type="pres">
      <dgm:prSet presAssocID="{2BDB0631-B241-4750-A78A-DC209046C585}" presName="textRect" presStyleLbl="revTx" presStyleIdx="3" presStyleCnt="7">
        <dgm:presLayoutVars>
          <dgm:chMax val="1"/>
          <dgm:chPref val="1"/>
        </dgm:presLayoutVars>
      </dgm:prSet>
      <dgm:spPr/>
    </dgm:pt>
    <dgm:pt modelId="{21CF08D8-6CEB-4817-9BF0-5EC1F576BCC0}" type="pres">
      <dgm:prSet presAssocID="{302A51CE-57C1-4503-9B3B-87602D1447EF}" presName="sibTrans" presStyleCnt="0"/>
      <dgm:spPr/>
    </dgm:pt>
    <dgm:pt modelId="{5ADE6673-EF93-42C4-8CEF-EF7736FDFEC8}" type="pres">
      <dgm:prSet presAssocID="{A1D3FC57-72C2-4548-9C8B-2C56DF3FDBD2}" presName="compNode" presStyleCnt="0"/>
      <dgm:spPr/>
    </dgm:pt>
    <dgm:pt modelId="{003836A1-44C1-40AF-BDC6-99FD166E9B38}" type="pres">
      <dgm:prSet presAssocID="{A1D3FC57-72C2-4548-9C8B-2C56DF3FDBD2}"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Gears"/>
        </a:ext>
      </dgm:extLst>
    </dgm:pt>
    <dgm:pt modelId="{8262190F-1F9E-4604-9B79-CC538DDE7770}" type="pres">
      <dgm:prSet presAssocID="{A1D3FC57-72C2-4548-9C8B-2C56DF3FDBD2}" presName="spaceRect" presStyleCnt="0"/>
      <dgm:spPr/>
    </dgm:pt>
    <dgm:pt modelId="{E7E8D1B6-EF28-4FE2-A603-84912E279622}" type="pres">
      <dgm:prSet presAssocID="{A1D3FC57-72C2-4548-9C8B-2C56DF3FDBD2}" presName="textRect" presStyleLbl="revTx" presStyleIdx="4" presStyleCnt="7">
        <dgm:presLayoutVars>
          <dgm:chMax val="1"/>
          <dgm:chPref val="1"/>
        </dgm:presLayoutVars>
      </dgm:prSet>
      <dgm:spPr/>
    </dgm:pt>
    <dgm:pt modelId="{83BC27F9-261E-4CA8-A1EB-BD8094964F0D}" type="pres">
      <dgm:prSet presAssocID="{06A930F7-4F12-4EF8-9ACE-443F3681A5FC}" presName="sibTrans" presStyleCnt="0"/>
      <dgm:spPr/>
    </dgm:pt>
    <dgm:pt modelId="{DE515DCD-B146-4D5D-8F2D-96991C6C14D4}" type="pres">
      <dgm:prSet presAssocID="{1CAC3041-1043-4134-85B7-D478BD6FA528}" presName="compNode" presStyleCnt="0"/>
      <dgm:spPr/>
    </dgm:pt>
    <dgm:pt modelId="{C9C3ED8D-8AB8-4874-80EC-46D624ECAF7B}" type="pres">
      <dgm:prSet presAssocID="{1CAC3041-1043-4134-85B7-D478BD6FA528}"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287DDEE7-0AEB-41CE-B8B2-7DBA95C617EF}" type="pres">
      <dgm:prSet presAssocID="{1CAC3041-1043-4134-85B7-D478BD6FA528}" presName="spaceRect" presStyleCnt="0"/>
      <dgm:spPr/>
    </dgm:pt>
    <dgm:pt modelId="{5A9ED87C-AB02-48F3-B365-3E0F87B3F491}" type="pres">
      <dgm:prSet presAssocID="{1CAC3041-1043-4134-85B7-D478BD6FA528}" presName="textRect" presStyleLbl="revTx" presStyleIdx="5" presStyleCnt="7">
        <dgm:presLayoutVars>
          <dgm:chMax val="1"/>
          <dgm:chPref val="1"/>
        </dgm:presLayoutVars>
      </dgm:prSet>
      <dgm:spPr/>
    </dgm:pt>
    <dgm:pt modelId="{236A9328-C374-4311-B5B5-2A0206A2A411}" type="pres">
      <dgm:prSet presAssocID="{DB70E3A7-F33B-4262-B83E-2E78296C7083}" presName="sibTrans" presStyleCnt="0"/>
      <dgm:spPr/>
    </dgm:pt>
    <dgm:pt modelId="{B1E0D121-CCC2-4A70-979A-FC9D347C2E05}" type="pres">
      <dgm:prSet presAssocID="{A54377EE-DC13-47B9-B256-B9454388D495}" presName="compNode" presStyleCnt="0"/>
      <dgm:spPr/>
    </dgm:pt>
    <dgm:pt modelId="{AADCFA01-82D6-40AB-844F-DD58A8B43A9E}" type="pres">
      <dgm:prSet presAssocID="{A54377EE-DC13-47B9-B256-B9454388D495}"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Checkmark"/>
        </a:ext>
      </dgm:extLst>
    </dgm:pt>
    <dgm:pt modelId="{AD1E5A9F-E8EE-455F-BA6E-E490C3294AAA}" type="pres">
      <dgm:prSet presAssocID="{A54377EE-DC13-47B9-B256-B9454388D495}" presName="spaceRect" presStyleCnt="0"/>
      <dgm:spPr/>
    </dgm:pt>
    <dgm:pt modelId="{D4F500D8-7B09-447D-8125-960F28306F4A}" type="pres">
      <dgm:prSet presAssocID="{A54377EE-DC13-47B9-B256-B9454388D495}" presName="textRect" presStyleLbl="revTx" presStyleIdx="6" presStyleCnt="7">
        <dgm:presLayoutVars>
          <dgm:chMax val="1"/>
          <dgm:chPref val="1"/>
        </dgm:presLayoutVars>
      </dgm:prSet>
      <dgm:spPr/>
    </dgm:pt>
  </dgm:ptLst>
  <dgm:cxnLst>
    <dgm:cxn modelId="{4E26A810-4715-4ECA-B3E6-35B63263322B}" srcId="{35F40DDE-1B33-4FEF-86BE-B902FB8F165B}" destId="{A54377EE-DC13-47B9-B256-B9454388D495}" srcOrd="6" destOrd="0" parTransId="{52A3AC35-764F-423D-B5E3-705AB6E4F151}" sibTransId="{405CDE53-3A74-4F51-99E4-CC5E34F16BD4}"/>
    <dgm:cxn modelId="{E333463F-0E47-4848-A574-F375289F90FD}" srcId="{35F40DDE-1B33-4FEF-86BE-B902FB8F165B}" destId="{1E42826A-E2C0-4EFF-B599-9B7D746D4C02}" srcOrd="0" destOrd="0" parTransId="{C1F8D476-E46D-4BDA-8442-A46A31C61675}" sibTransId="{62718FCD-6454-4B64-8179-BF95D81BD7E5}"/>
    <dgm:cxn modelId="{BB07F76A-CC3B-4EC4-9597-C8D35800BED3}" type="presOf" srcId="{1E42826A-E2C0-4EFF-B599-9B7D746D4C02}" destId="{47CDF89B-B6A6-41AD-B176-7C5C3385D4BD}" srcOrd="0" destOrd="0" presId="urn:microsoft.com/office/officeart/2018/2/layout/IconLabelList"/>
    <dgm:cxn modelId="{44468753-1B85-4B87-916D-3EE4FD654E29}" type="presOf" srcId="{1CAC3041-1043-4134-85B7-D478BD6FA528}" destId="{5A9ED87C-AB02-48F3-B365-3E0F87B3F491}" srcOrd="0" destOrd="0" presId="urn:microsoft.com/office/officeart/2018/2/layout/IconLabelList"/>
    <dgm:cxn modelId="{D0AA6258-D23B-4F93-B478-27DAEFFA629B}" type="presOf" srcId="{67B50EF3-1FBF-41BA-A1E2-EC9527C31644}" destId="{7A5415CE-C3E3-43FE-930D-5A9989533055}" srcOrd="0" destOrd="0" presId="urn:microsoft.com/office/officeart/2018/2/layout/IconLabelList"/>
    <dgm:cxn modelId="{01D3575A-9218-4FF9-BEC4-913E0AA8F750}" type="presOf" srcId="{35F40DDE-1B33-4FEF-86BE-B902FB8F165B}" destId="{D2D9B2E0-88CF-4E4E-B942-8674431106B9}" srcOrd="0" destOrd="0" presId="urn:microsoft.com/office/officeart/2018/2/layout/IconLabelList"/>
    <dgm:cxn modelId="{3414A390-1581-4CFE-88E6-6E47B50B9AD0}" type="presOf" srcId="{2BDB0631-B241-4750-A78A-DC209046C585}" destId="{6AF281EC-2144-43CD-9B3F-B1094C933AD2}" srcOrd="0" destOrd="0" presId="urn:microsoft.com/office/officeart/2018/2/layout/IconLabelList"/>
    <dgm:cxn modelId="{E3EB2AA8-BFC8-4F1C-8A98-8C711C26043F}" srcId="{35F40DDE-1B33-4FEF-86BE-B902FB8F165B}" destId="{2BDB0631-B241-4750-A78A-DC209046C585}" srcOrd="3" destOrd="0" parTransId="{40B60DF9-AE60-4267-96B5-FD00E1FF07C4}" sibTransId="{302A51CE-57C1-4503-9B3B-87602D1447EF}"/>
    <dgm:cxn modelId="{DDDF0DAF-D97B-444B-B3ED-B0556ED5F12C}" srcId="{35F40DDE-1B33-4FEF-86BE-B902FB8F165B}" destId="{1CAC3041-1043-4134-85B7-D478BD6FA528}" srcOrd="5" destOrd="0" parTransId="{0A03368D-2881-4C7F-AA2A-93CF6793B166}" sibTransId="{DB70E3A7-F33B-4262-B83E-2E78296C7083}"/>
    <dgm:cxn modelId="{652C79C9-A918-46EA-8494-713AFFFE9A92}" type="presOf" srcId="{8B0A83BC-7BDC-4CCA-9EE5-C0A9FD66C8A7}" destId="{BBF6209C-1D17-42A1-BB8B-EB45EC77B5CD}" srcOrd="0" destOrd="0" presId="urn:microsoft.com/office/officeart/2018/2/layout/IconLabelList"/>
    <dgm:cxn modelId="{3C553BCA-3526-4875-BCE9-0A46C5623A45}" srcId="{35F40DDE-1B33-4FEF-86BE-B902FB8F165B}" destId="{8B0A83BC-7BDC-4CCA-9EE5-C0A9FD66C8A7}" srcOrd="2" destOrd="0" parTransId="{5CEE51E5-1812-4D27-A6F7-D85632C73D53}" sibTransId="{EB3B1F83-E7F1-4DB7-BB5B-A4715CA1AF31}"/>
    <dgm:cxn modelId="{16BCF3CF-6492-45BE-AED3-02DB5D65FF78}" srcId="{35F40DDE-1B33-4FEF-86BE-B902FB8F165B}" destId="{67B50EF3-1FBF-41BA-A1E2-EC9527C31644}" srcOrd="1" destOrd="0" parTransId="{5514212E-7B0D-4481-8AF2-78BB69895378}" sibTransId="{A97FF372-5D07-42D3-BC3D-3F5DA7DD62ED}"/>
    <dgm:cxn modelId="{3A4CDBDA-B0BD-49EE-87D6-97F1B515EEA4}" type="presOf" srcId="{A1D3FC57-72C2-4548-9C8B-2C56DF3FDBD2}" destId="{E7E8D1B6-EF28-4FE2-A603-84912E279622}" srcOrd="0" destOrd="0" presId="urn:microsoft.com/office/officeart/2018/2/layout/IconLabelList"/>
    <dgm:cxn modelId="{4B81D4DD-2F31-45E6-AB0B-8FD03EBA9659}" type="presOf" srcId="{A54377EE-DC13-47B9-B256-B9454388D495}" destId="{D4F500D8-7B09-447D-8125-960F28306F4A}" srcOrd="0" destOrd="0" presId="urn:microsoft.com/office/officeart/2018/2/layout/IconLabelList"/>
    <dgm:cxn modelId="{0D2F42EB-31A4-43A0-BD46-818D569B5357}" srcId="{35F40DDE-1B33-4FEF-86BE-B902FB8F165B}" destId="{A1D3FC57-72C2-4548-9C8B-2C56DF3FDBD2}" srcOrd="4" destOrd="0" parTransId="{4F685EDB-FE34-4E42-814C-57A384CACBE5}" sibTransId="{06A930F7-4F12-4EF8-9ACE-443F3681A5FC}"/>
    <dgm:cxn modelId="{7515F663-862E-401B-BC11-10A248728975}" type="presParOf" srcId="{D2D9B2E0-88CF-4E4E-B942-8674431106B9}" destId="{F359A540-E180-4E20-AC3A-469897FD16A3}" srcOrd="0" destOrd="0" presId="urn:microsoft.com/office/officeart/2018/2/layout/IconLabelList"/>
    <dgm:cxn modelId="{DAFE1A9F-AC0F-4663-B0A5-C6C2339D0C41}" type="presParOf" srcId="{F359A540-E180-4E20-AC3A-469897FD16A3}" destId="{2195F219-E373-4EEF-AF62-09AC6ED98228}" srcOrd="0" destOrd="0" presId="urn:microsoft.com/office/officeart/2018/2/layout/IconLabelList"/>
    <dgm:cxn modelId="{5F54FE42-76A3-43B5-B715-5FA448374D71}" type="presParOf" srcId="{F359A540-E180-4E20-AC3A-469897FD16A3}" destId="{E3CE9E45-C51C-4227-8D4E-691EC2BB89B5}" srcOrd="1" destOrd="0" presId="urn:microsoft.com/office/officeart/2018/2/layout/IconLabelList"/>
    <dgm:cxn modelId="{AF89BF01-C8C9-461D-B640-9AAF8DACDEBE}" type="presParOf" srcId="{F359A540-E180-4E20-AC3A-469897FD16A3}" destId="{47CDF89B-B6A6-41AD-B176-7C5C3385D4BD}" srcOrd="2" destOrd="0" presId="urn:microsoft.com/office/officeart/2018/2/layout/IconLabelList"/>
    <dgm:cxn modelId="{7CB70555-D036-48BD-B6A6-C6372B6C14CF}" type="presParOf" srcId="{D2D9B2E0-88CF-4E4E-B942-8674431106B9}" destId="{C795FFB3-8ACE-4707-8B04-755710177E40}" srcOrd="1" destOrd="0" presId="urn:microsoft.com/office/officeart/2018/2/layout/IconLabelList"/>
    <dgm:cxn modelId="{D89FDACF-099D-4368-82DA-191DF0159EF4}" type="presParOf" srcId="{D2D9B2E0-88CF-4E4E-B942-8674431106B9}" destId="{7499E841-F87B-4262-8504-4BDA23B27CD2}" srcOrd="2" destOrd="0" presId="urn:microsoft.com/office/officeart/2018/2/layout/IconLabelList"/>
    <dgm:cxn modelId="{6BD076F0-5961-4EE2-B764-4A5DB9DA2EFA}" type="presParOf" srcId="{7499E841-F87B-4262-8504-4BDA23B27CD2}" destId="{D7443860-2A6E-4E77-B8F3-DBC700685CAF}" srcOrd="0" destOrd="0" presId="urn:microsoft.com/office/officeart/2018/2/layout/IconLabelList"/>
    <dgm:cxn modelId="{22B4A867-2140-481C-955F-F3474792E0E6}" type="presParOf" srcId="{7499E841-F87B-4262-8504-4BDA23B27CD2}" destId="{00F1A2A5-832E-4365-A6BB-7FE920E55590}" srcOrd="1" destOrd="0" presId="urn:microsoft.com/office/officeart/2018/2/layout/IconLabelList"/>
    <dgm:cxn modelId="{FAFFB5A2-3AD5-48B4-A4CC-B55B090A9165}" type="presParOf" srcId="{7499E841-F87B-4262-8504-4BDA23B27CD2}" destId="{7A5415CE-C3E3-43FE-930D-5A9989533055}" srcOrd="2" destOrd="0" presId="urn:microsoft.com/office/officeart/2018/2/layout/IconLabelList"/>
    <dgm:cxn modelId="{C703DE5B-8D83-4CD7-B962-18145763E1C1}" type="presParOf" srcId="{D2D9B2E0-88CF-4E4E-B942-8674431106B9}" destId="{1B7E4ACD-23B1-4102-A5FA-468F099C6CAE}" srcOrd="3" destOrd="0" presId="urn:microsoft.com/office/officeart/2018/2/layout/IconLabelList"/>
    <dgm:cxn modelId="{3AC0584F-7D7B-469B-B665-3E014CF92552}" type="presParOf" srcId="{D2D9B2E0-88CF-4E4E-B942-8674431106B9}" destId="{7524F50B-A5B3-4F2D-855F-837580E2A55D}" srcOrd="4" destOrd="0" presId="urn:microsoft.com/office/officeart/2018/2/layout/IconLabelList"/>
    <dgm:cxn modelId="{F98DF6A2-9DE2-4821-AF3D-49C4A0FE186E}" type="presParOf" srcId="{7524F50B-A5B3-4F2D-855F-837580E2A55D}" destId="{C4936705-145B-4CB4-A526-C8A14A062598}" srcOrd="0" destOrd="0" presId="urn:microsoft.com/office/officeart/2018/2/layout/IconLabelList"/>
    <dgm:cxn modelId="{C79B59C2-907D-446F-91B9-EBB50728583B}" type="presParOf" srcId="{7524F50B-A5B3-4F2D-855F-837580E2A55D}" destId="{1D4BEA0E-0403-450B-962E-A9C7EC542D55}" srcOrd="1" destOrd="0" presId="urn:microsoft.com/office/officeart/2018/2/layout/IconLabelList"/>
    <dgm:cxn modelId="{29EF9EE8-10A0-48ED-A9F1-837DABD8B17D}" type="presParOf" srcId="{7524F50B-A5B3-4F2D-855F-837580E2A55D}" destId="{BBF6209C-1D17-42A1-BB8B-EB45EC77B5CD}" srcOrd="2" destOrd="0" presId="urn:microsoft.com/office/officeart/2018/2/layout/IconLabelList"/>
    <dgm:cxn modelId="{174ED45E-BF7E-40D4-81D2-F579911240B0}" type="presParOf" srcId="{D2D9B2E0-88CF-4E4E-B942-8674431106B9}" destId="{224A774E-FB4E-45CE-BD70-EC76C07B73BC}" srcOrd="5" destOrd="0" presId="urn:microsoft.com/office/officeart/2018/2/layout/IconLabelList"/>
    <dgm:cxn modelId="{A4D7A7DA-D817-4CE7-BA3E-62529EB3FE26}" type="presParOf" srcId="{D2D9B2E0-88CF-4E4E-B942-8674431106B9}" destId="{5A51F282-476A-411D-8736-205E5323231B}" srcOrd="6" destOrd="0" presId="urn:microsoft.com/office/officeart/2018/2/layout/IconLabelList"/>
    <dgm:cxn modelId="{8C78F785-8E50-4898-8C7A-FC5CA9B7EA94}" type="presParOf" srcId="{5A51F282-476A-411D-8736-205E5323231B}" destId="{5F46AFFA-CD5F-4AB7-8305-858EF7E6692F}" srcOrd="0" destOrd="0" presId="urn:microsoft.com/office/officeart/2018/2/layout/IconLabelList"/>
    <dgm:cxn modelId="{CEE6F099-6D14-4696-936E-FA5C7E03C8D0}" type="presParOf" srcId="{5A51F282-476A-411D-8736-205E5323231B}" destId="{4E6C968C-508E-4581-A1C7-17CF6221A6C6}" srcOrd="1" destOrd="0" presId="urn:microsoft.com/office/officeart/2018/2/layout/IconLabelList"/>
    <dgm:cxn modelId="{B13908FB-C881-4E46-AF25-5E7316EB6076}" type="presParOf" srcId="{5A51F282-476A-411D-8736-205E5323231B}" destId="{6AF281EC-2144-43CD-9B3F-B1094C933AD2}" srcOrd="2" destOrd="0" presId="urn:microsoft.com/office/officeart/2018/2/layout/IconLabelList"/>
    <dgm:cxn modelId="{349C6758-E324-45DF-94CC-4A24A8F4C5CB}" type="presParOf" srcId="{D2D9B2E0-88CF-4E4E-B942-8674431106B9}" destId="{21CF08D8-6CEB-4817-9BF0-5EC1F576BCC0}" srcOrd="7" destOrd="0" presId="urn:microsoft.com/office/officeart/2018/2/layout/IconLabelList"/>
    <dgm:cxn modelId="{8130EB05-F0E4-4A11-AD9A-46FEB94D9ED7}" type="presParOf" srcId="{D2D9B2E0-88CF-4E4E-B942-8674431106B9}" destId="{5ADE6673-EF93-42C4-8CEF-EF7736FDFEC8}" srcOrd="8" destOrd="0" presId="urn:microsoft.com/office/officeart/2018/2/layout/IconLabelList"/>
    <dgm:cxn modelId="{EEB60F70-E827-4630-A3DE-839AB60C3CE6}" type="presParOf" srcId="{5ADE6673-EF93-42C4-8CEF-EF7736FDFEC8}" destId="{003836A1-44C1-40AF-BDC6-99FD166E9B38}" srcOrd="0" destOrd="0" presId="urn:microsoft.com/office/officeart/2018/2/layout/IconLabelList"/>
    <dgm:cxn modelId="{F89AAD84-A4B5-4A13-B601-C7AA6325FCBC}" type="presParOf" srcId="{5ADE6673-EF93-42C4-8CEF-EF7736FDFEC8}" destId="{8262190F-1F9E-4604-9B79-CC538DDE7770}" srcOrd="1" destOrd="0" presId="urn:microsoft.com/office/officeart/2018/2/layout/IconLabelList"/>
    <dgm:cxn modelId="{2E34DA38-6D86-4A73-9A92-69A59A319624}" type="presParOf" srcId="{5ADE6673-EF93-42C4-8CEF-EF7736FDFEC8}" destId="{E7E8D1B6-EF28-4FE2-A603-84912E279622}" srcOrd="2" destOrd="0" presId="urn:microsoft.com/office/officeart/2018/2/layout/IconLabelList"/>
    <dgm:cxn modelId="{5571032D-B948-4A2C-9730-694856BE599A}" type="presParOf" srcId="{D2D9B2E0-88CF-4E4E-B942-8674431106B9}" destId="{83BC27F9-261E-4CA8-A1EB-BD8094964F0D}" srcOrd="9" destOrd="0" presId="urn:microsoft.com/office/officeart/2018/2/layout/IconLabelList"/>
    <dgm:cxn modelId="{B27EEA2A-70A1-4C1E-870D-658090CDC9AD}" type="presParOf" srcId="{D2D9B2E0-88CF-4E4E-B942-8674431106B9}" destId="{DE515DCD-B146-4D5D-8F2D-96991C6C14D4}" srcOrd="10" destOrd="0" presId="urn:microsoft.com/office/officeart/2018/2/layout/IconLabelList"/>
    <dgm:cxn modelId="{99F10577-8F4E-4D19-816A-0260805687B7}" type="presParOf" srcId="{DE515DCD-B146-4D5D-8F2D-96991C6C14D4}" destId="{C9C3ED8D-8AB8-4874-80EC-46D624ECAF7B}" srcOrd="0" destOrd="0" presId="urn:microsoft.com/office/officeart/2018/2/layout/IconLabelList"/>
    <dgm:cxn modelId="{DB4B3C98-317F-4124-86CA-2285ED56637E}" type="presParOf" srcId="{DE515DCD-B146-4D5D-8F2D-96991C6C14D4}" destId="{287DDEE7-0AEB-41CE-B8B2-7DBA95C617EF}" srcOrd="1" destOrd="0" presId="urn:microsoft.com/office/officeart/2018/2/layout/IconLabelList"/>
    <dgm:cxn modelId="{A4098C60-4B13-45A4-A73F-7156BE10F516}" type="presParOf" srcId="{DE515DCD-B146-4D5D-8F2D-96991C6C14D4}" destId="{5A9ED87C-AB02-48F3-B365-3E0F87B3F491}" srcOrd="2" destOrd="0" presId="urn:microsoft.com/office/officeart/2018/2/layout/IconLabelList"/>
    <dgm:cxn modelId="{247DDFC2-30D4-46A0-B397-BCE0DB39B77D}" type="presParOf" srcId="{D2D9B2E0-88CF-4E4E-B942-8674431106B9}" destId="{236A9328-C374-4311-B5B5-2A0206A2A411}" srcOrd="11" destOrd="0" presId="urn:microsoft.com/office/officeart/2018/2/layout/IconLabelList"/>
    <dgm:cxn modelId="{C32CC552-ED22-4582-B013-7BB452D58410}" type="presParOf" srcId="{D2D9B2E0-88CF-4E4E-B942-8674431106B9}" destId="{B1E0D121-CCC2-4A70-979A-FC9D347C2E05}" srcOrd="12" destOrd="0" presId="urn:microsoft.com/office/officeart/2018/2/layout/IconLabelList"/>
    <dgm:cxn modelId="{64D4D988-16FF-48DC-8C8B-96A2D5CE0242}" type="presParOf" srcId="{B1E0D121-CCC2-4A70-979A-FC9D347C2E05}" destId="{AADCFA01-82D6-40AB-844F-DD58A8B43A9E}" srcOrd="0" destOrd="0" presId="urn:microsoft.com/office/officeart/2018/2/layout/IconLabelList"/>
    <dgm:cxn modelId="{207EFEA8-7E3F-44A2-9556-993B882BC3D0}" type="presParOf" srcId="{B1E0D121-CCC2-4A70-979A-FC9D347C2E05}" destId="{AD1E5A9F-E8EE-455F-BA6E-E490C3294AAA}" srcOrd="1" destOrd="0" presId="urn:microsoft.com/office/officeart/2018/2/layout/IconLabelList"/>
    <dgm:cxn modelId="{1A44AB84-2BB5-4931-82C8-9490162A751A}" type="presParOf" srcId="{B1E0D121-CCC2-4A70-979A-FC9D347C2E05}" destId="{D4F500D8-7B09-447D-8125-960F28306F4A}"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762330-5BE6-4F2E-B034-A92FC283516D}">
      <dsp:nvSpPr>
        <dsp:cNvPr id="0" name=""/>
        <dsp:cNvSpPr/>
      </dsp:nvSpPr>
      <dsp:spPr>
        <a:xfrm>
          <a:off x="205509" y="828340"/>
          <a:ext cx="911674" cy="91167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18DC9E-B2DD-455C-921D-DDFEB777D16B}">
      <dsp:nvSpPr>
        <dsp:cNvPr id="0" name=""/>
        <dsp:cNvSpPr/>
      </dsp:nvSpPr>
      <dsp:spPr>
        <a:xfrm>
          <a:off x="396960" y="1019791"/>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A84906-0A96-4206-80B0-EFBDA7B5C633}">
      <dsp:nvSpPr>
        <dsp:cNvPr id="0" name=""/>
        <dsp:cNvSpPr/>
      </dsp:nvSpPr>
      <dsp:spPr>
        <a:xfrm>
          <a:off x="1312541"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Agentic AI takes a Foundation Model beyond simply answering one prompt. Instead of only generating text, an agent can work through a request in multiple steps.</a:t>
          </a:r>
          <a:endParaRPr lang="en-US" sz="1100" kern="1200"/>
        </a:p>
      </dsp:txBody>
      <dsp:txXfrm>
        <a:off x="1312541" y="828340"/>
        <a:ext cx="2148945" cy="911674"/>
      </dsp:txXfrm>
    </dsp:sp>
    <dsp:sp modelId="{D4064118-0E3C-4E1F-8418-850E8A688A79}">
      <dsp:nvSpPr>
        <dsp:cNvPr id="0" name=""/>
        <dsp:cNvSpPr/>
      </dsp:nvSpPr>
      <dsp:spPr>
        <a:xfrm>
          <a:off x="3835925" y="828340"/>
          <a:ext cx="911674" cy="91167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B0986C-51B8-4C27-9986-588DA343A3B6}">
      <dsp:nvSpPr>
        <dsp:cNvPr id="0" name=""/>
        <dsp:cNvSpPr/>
      </dsp:nvSpPr>
      <dsp:spPr>
        <a:xfrm>
          <a:off x="4027376" y="1019791"/>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C934D4-C647-4D62-A781-482EE3310D56}">
      <dsp:nvSpPr>
        <dsp:cNvPr id="0" name=""/>
        <dsp:cNvSpPr/>
      </dsp:nvSpPr>
      <dsp:spPr>
        <a:xfrm>
          <a:off x="4942957"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A simple way to understand Agentic AI is </a:t>
          </a:r>
          <a:r>
            <a:rPr lang="en-IN" sz="1100" b="1" kern="1200"/>
            <a:t>giving useful tools to an LLM</a:t>
          </a:r>
          <a:r>
            <a:rPr lang="en-IN" sz="1100" kern="1200"/>
            <a:t>. The model can decide when an external tool or information source is needed before giving the final answer.</a:t>
          </a:r>
          <a:endParaRPr lang="en-US" sz="1100" kern="1200"/>
        </a:p>
      </dsp:txBody>
      <dsp:txXfrm>
        <a:off x="4942957" y="828340"/>
        <a:ext cx="2148945" cy="911674"/>
      </dsp:txXfrm>
    </dsp:sp>
    <dsp:sp modelId="{E6762B79-B43E-41F6-BCF9-032BC9F9C466}">
      <dsp:nvSpPr>
        <dsp:cNvPr id="0" name=""/>
        <dsp:cNvSpPr/>
      </dsp:nvSpPr>
      <dsp:spPr>
        <a:xfrm>
          <a:off x="7466341" y="828340"/>
          <a:ext cx="911674" cy="91167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E5F543-3A70-4B23-B60E-54DCCEBC2123}">
      <dsp:nvSpPr>
        <dsp:cNvPr id="0" name=""/>
        <dsp:cNvSpPr/>
      </dsp:nvSpPr>
      <dsp:spPr>
        <a:xfrm>
          <a:off x="7657792" y="1019791"/>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1087D1-0A2C-4FFC-AD69-C40B2A20F718}">
      <dsp:nvSpPr>
        <dsp:cNvPr id="0" name=""/>
        <dsp:cNvSpPr/>
      </dsp:nvSpPr>
      <dsp:spPr>
        <a:xfrm>
          <a:off x="8573374"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An AI agent normally combines a </a:t>
          </a:r>
          <a:r>
            <a:rPr lang="en-IN" sz="1100" b="1" kern="1200"/>
            <a:t>Foundation Model, memory, planning, instructions, and tools</a:t>
          </a:r>
          <a:r>
            <a:rPr lang="en-IN" sz="1100" kern="1200"/>
            <a:t> so it can understand a goal and decide what should happen next.</a:t>
          </a:r>
          <a:endParaRPr lang="en-US" sz="1100" kern="1200"/>
        </a:p>
      </dsp:txBody>
      <dsp:txXfrm>
        <a:off x="8573374" y="828340"/>
        <a:ext cx="2148945" cy="911674"/>
      </dsp:txXfrm>
    </dsp:sp>
    <dsp:sp modelId="{8D3E408D-33D1-411D-896F-AF69B389B727}">
      <dsp:nvSpPr>
        <dsp:cNvPr id="0" name=""/>
        <dsp:cNvSpPr/>
      </dsp:nvSpPr>
      <dsp:spPr>
        <a:xfrm>
          <a:off x="205509" y="2452790"/>
          <a:ext cx="911674" cy="91167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6EAB20-6609-4F63-9187-FB4DE3E56E59}">
      <dsp:nvSpPr>
        <dsp:cNvPr id="0" name=""/>
        <dsp:cNvSpPr/>
      </dsp:nvSpPr>
      <dsp:spPr>
        <a:xfrm>
          <a:off x="396960" y="2644242"/>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A25DDF-2DB1-4456-AF4A-2C41F2AF291D}">
      <dsp:nvSpPr>
        <dsp:cNvPr id="0" name=""/>
        <dsp:cNvSpPr/>
      </dsp:nvSpPr>
      <dsp:spPr>
        <a:xfrm>
          <a:off x="1312541" y="245279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Agents are useful for tasks such as retrieving company information, checking a database, calling an API, performing calculations, or starting an automated workflow.</a:t>
          </a:r>
          <a:endParaRPr lang="en-US" sz="1100" kern="1200"/>
        </a:p>
      </dsp:txBody>
      <dsp:txXfrm>
        <a:off x="1312541" y="2452790"/>
        <a:ext cx="2148945" cy="911674"/>
      </dsp:txXfrm>
    </dsp:sp>
    <dsp:sp modelId="{2A724410-EB0E-4A65-9B69-08CABADAEB2E}">
      <dsp:nvSpPr>
        <dsp:cNvPr id="0" name=""/>
        <dsp:cNvSpPr/>
      </dsp:nvSpPr>
      <dsp:spPr>
        <a:xfrm>
          <a:off x="3835925" y="2452790"/>
          <a:ext cx="911674" cy="911674"/>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C94C8B-215C-4EF7-8C85-2787967711A3}">
      <dsp:nvSpPr>
        <dsp:cNvPr id="0" name=""/>
        <dsp:cNvSpPr/>
      </dsp:nvSpPr>
      <dsp:spPr>
        <a:xfrm>
          <a:off x="4027376" y="2644242"/>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89BF87-CA8D-4E0A-A397-4EC4093A134E}">
      <dsp:nvSpPr>
        <dsp:cNvPr id="0" name=""/>
        <dsp:cNvSpPr/>
      </dsp:nvSpPr>
      <dsp:spPr>
        <a:xfrm>
          <a:off x="4942957" y="245279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b="1" kern="1200"/>
            <a:t>Main Idea:</a:t>
          </a:r>
          <a:endParaRPr lang="en-US" sz="1100" kern="1200"/>
        </a:p>
      </dsp:txBody>
      <dsp:txXfrm>
        <a:off x="4942957" y="2452790"/>
        <a:ext cx="2148945" cy="911674"/>
      </dsp:txXfrm>
    </dsp:sp>
    <dsp:sp modelId="{8F0F27A6-99C3-4610-B03C-6262982321BD}">
      <dsp:nvSpPr>
        <dsp:cNvPr id="0" name=""/>
        <dsp:cNvSpPr/>
      </dsp:nvSpPr>
      <dsp:spPr>
        <a:xfrm>
          <a:off x="7466341" y="2452790"/>
          <a:ext cx="911674" cy="91167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7D04D1-C708-4EB2-B9D9-47DC317BC7AC}">
      <dsp:nvSpPr>
        <dsp:cNvPr id="0" name=""/>
        <dsp:cNvSpPr/>
      </dsp:nvSpPr>
      <dsp:spPr>
        <a:xfrm>
          <a:off x="7657792" y="2644242"/>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02091A-7BC0-498B-AD6B-E2B92C2EB182}">
      <dsp:nvSpPr>
        <dsp:cNvPr id="0" name=""/>
        <dsp:cNvSpPr/>
      </dsp:nvSpPr>
      <dsp:spPr>
        <a:xfrm>
          <a:off x="8573374" y="245279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b="1" kern="1200"/>
            <a:t>A chatbot mainly responds. An agent can decide, retrieve, use tools, and complete steps.</a:t>
          </a:r>
          <a:endParaRPr lang="en-US" sz="1100" kern="1200"/>
        </a:p>
      </dsp:txBody>
      <dsp:txXfrm>
        <a:off x="8573374" y="2452790"/>
        <a:ext cx="2148945" cy="9116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95F219-E373-4EEF-AF62-09AC6ED98228}">
      <dsp:nvSpPr>
        <dsp:cNvPr id="0" name=""/>
        <dsp:cNvSpPr/>
      </dsp:nvSpPr>
      <dsp:spPr>
        <a:xfrm>
          <a:off x="375047" y="1251363"/>
          <a:ext cx="610664" cy="61066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7CDF89B-B6A6-41AD-B176-7C5C3385D4BD}">
      <dsp:nvSpPr>
        <dsp:cNvPr id="0" name=""/>
        <dsp:cNvSpPr/>
      </dsp:nvSpPr>
      <dsp:spPr>
        <a:xfrm>
          <a:off x="1863" y="2115561"/>
          <a:ext cx="1357031" cy="825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IN" sz="1100" b="1" kern="1200"/>
            <a:t>Memory:</a:t>
          </a:r>
          <a:r>
            <a:rPr lang="en-IN" sz="1100" kern="1200"/>
            <a:t> Keeps useful information from previous conversations or external data sources so the agent can use earlier context when needed.</a:t>
          </a:r>
          <a:endParaRPr lang="en-US" sz="1100" kern="1200"/>
        </a:p>
      </dsp:txBody>
      <dsp:txXfrm>
        <a:off x="1863" y="2115561"/>
        <a:ext cx="1357031" cy="825880"/>
      </dsp:txXfrm>
    </dsp:sp>
    <dsp:sp modelId="{D7443860-2A6E-4E77-B8F3-DBC700685CAF}">
      <dsp:nvSpPr>
        <dsp:cNvPr id="0" name=""/>
        <dsp:cNvSpPr/>
      </dsp:nvSpPr>
      <dsp:spPr>
        <a:xfrm>
          <a:off x="1969559" y="1251363"/>
          <a:ext cx="610664" cy="61066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5415CE-C3E3-43FE-930D-5A9989533055}">
      <dsp:nvSpPr>
        <dsp:cNvPr id="0" name=""/>
        <dsp:cNvSpPr/>
      </dsp:nvSpPr>
      <dsp:spPr>
        <a:xfrm>
          <a:off x="1596375" y="2115561"/>
          <a:ext cx="1357031" cy="825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IN" sz="1100" kern="1200"/>
            <a:t>Memory does not mean the Foundation Model permanently remembers everything. It may come from chat history, a database, or another external storage system.</a:t>
          </a:r>
          <a:endParaRPr lang="en-US" sz="1100" kern="1200"/>
        </a:p>
      </dsp:txBody>
      <dsp:txXfrm>
        <a:off x="1596375" y="2115561"/>
        <a:ext cx="1357031" cy="825880"/>
      </dsp:txXfrm>
    </dsp:sp>
    <dsp:sp modelId="{C4936705-145B-4CB4-A526-C8A14A062598}">
      <dsp:nvSpPr>
        <dsp:cNvPr id="0" name=""/>
        <dsp:cNvSpPr/>
      </dsp:nvSpPr>
      <dsp:spPr>
        <a:xfrm>
          <a:off x="3564070" y="1251363"/>
          <a:ext cx="610664" cy="61066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F6209C-1D17-42A1-BB8B-EB45EC77B5CD}">
      <dsp:nvSpPr>
        <dsp:cNvPr id="0" name=""/>
        <dsp:cNvSpPr/>
      </dsp:nvSpPr>
      <dsp:spPr>
        <a:xfrm>
          <a:off x="3190887" y="2115561"/>
          <a:ext cx="1357031" cy="825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IN" sz="1100" b="1" kern="1200"/>
            <a:t>Planning:</a:t>
          </a:r>
          <a:r>
            <a:rPr lang="en-IN" sz="1100" kern="1200"/>
            <a:t> Helps the model break a larger task into smaller steps and decide what information or action is needed next.</a:t>
          </a:r>
          <a:endParaRPr lang="en-US" sz="1100" kern="1200"/>
        </a:p>
      </dsp:txBody>
      <dsp:txXfrm>
        <a:off x="3190887" y="2115561"/>
        <a:ext cx="1357031" cy="825880"/>
      </dsp:txXfrm>
    </dsp:sp>
    <dsp:sp modelId="{5F46AFFA-CD5F-4AB7-8305-858EF7E6692F}">
      <dsp:nvSpPr>
        <dsp:cNvPr id="0" name=""/>
        <dsp:cNvSpPr/>
      </dsp:nvSpPr>
      <dsp:spPr>
        <a:xfrm>
          <a:off x="5158582" y="1251363"/>
          <a:ext cx="610664" cy="61066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F281EC-2144-43CD-9B3F-B1094C933AD2}">
      <dsp:nvSpPr>
        <dsp:cNvPr id="0" name=""/>
        <dsp:cNvSpPr/>
      </dsp:nvSpPr>
      <dsp:spPr>
        <a:xfrm>
          <a:off x="4785398" y="2115561"/>
          <a:ext cx="1357031" cy="825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IN" sz="1100" b="1" kern="1200"/>
            <a:t>Tools:</a:t>
          </a:r>
          <a:r>
            <a:rPr lang="en-IN" sz="1100" kern="1200"/>
            <a:t> Give the agent access to capabilities outside the model, such as APIs, databases, Lambda functions, calculations, and other AWS services.</a:t>
          </a:r>
          <a:endParaRPr lang="en-US" sz="1100" kern="1200"/>
        </a:p>
      </dsp:txBody>
      <dsp:txXfrm>
        <a:off x="4785398" y="2115561"/>
        <a:ext cx="1357031" cy="825880"/>
      </dsp:txXfrm>
    </dsp:sp>
    <dsp:sp modelId="{003836A1-44C1-40AF-BDC6-99FD166E9B38}">
      <dsp:nvSpPr>
        <dsp:cNvPr id="0" name=""/>
        <dsp:cNvSpPr/>
      </dsp:nvSpPr>
      <dsp:spPr>
        <a:xfrm>
          <a:off x="6753094" y="1251363"/>
          <a:ext cx="610664" cy="61066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E8D1B6-EF28-4FE2-A603-84912E279622}">
      <dsp:nvSpPr>
        <dsp:cNvPr id="0" name=""/>
        <dsp:cNvSpPr/>
      </dsp:nvSpPr>
      <dsp:spPr>
        <a:xfrm>
          <a:off x="6379910" y="2115561"/>
          <a:ext cx="1357031" cy="825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IN" sz="1100" kern="1200"/>
            <a:t>These components work together to help the agent move from understanding the request to completing the task.</a:t>
          </a:r>
          <a:endParaRPr lang="en-US" sz="1100" kern="1200"/>
        </a:p>
      </dsp:txBody>
      <dsp:txXfrm>
        <a:off x="6379910" y="2115561"/>
        <a:ext cx="1357031" cy="825880"/>
      </dsp:txXfrm>
    </dsp:sp>
    <dsp:sp modelId="{C9C3ED8D-8AB8-4874-80EC-46D624ECAF7B}">
      <dsp:nvSpPr>
        <dsp:cNvPr id="0" name=""/>
        <dsp:cNvSpPr/>
      </dsp:nvSpPr>
      <dsp:spPr>
        <a:xfrm>
          <a:off x="8347605" y="1251363"/>
          <a:ext cx="610664" cy="61066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9ED87C-AB02-48F3-B365-3E0F87B3F491}">
      <dsp:nvSpPr>
        <dsp:cNvPr id="0" name=""/>
        <dsp:cNvSpPr/>
      </dsp:nvSpPr>
      <dsp:spPr>
        <a:xfrm>
          <a:off x="7974422" y="2115561"/>
          <a:ext cx="1357031" cy="825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IN" sz="1100" b="1" kern="1200"/>
            <a:t>Simple Flow:</a:t>
          </a:r>
          <a:endParaRPr lang="en-US" sz="1100" kern="1200"/>
        </a:p>
      </dsp:txBody>
      <dsp:txXfrm>
        <a:off x="7974422" y="2115561"/>
        <a:ext cx="1357031" cy="825880"/>
      </dsp:txXfrm>
    </dsp:sp>
    <dsp:sp modelId="{AADCFA01-82D6-40AB-844F-DD58A8B43A9E}">
      <dsp:nvSpPr>
        <dsp:cNvPr id="0" name=""/>
        <dsp:cNvSpPr/>
      </dsp:nvSpPr>
      <dsp:spPr>
        <a:xfrm>
          <a:off x="9942117" y="1251363"/>
          <a:ext cx="610664" cy="61066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F500D8-7B09-447D-8125-960F28306F4A}">
      <dsp:nvSpPr>
        <dsp:cNvPr id="0" name=""/>
        <dsp:cNvSpPr/>
      </dsp:nvSpPr>
      <dsp:spPr>
        <a:xfrm>
          <a:off x="9568934" y="2115561"/>
          <a:ext cx="1357031" cy="825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IN" sz="1100" b="1" kern="1200"/>
            <a:t>User Request → Understand Goal → Plan Steps → Use Tools → Combine Results → Final Response</a:t>
          </a:r>
          <a:endParaRPr lang="en-US" sz="1100" kern="1200"/>
        </a:p>
      </dsp:txBody>
      <dsp:txXfrm>
        <a:off x="9568934" y="2115561"/>
        <a:ext cx="1357031" cy="825880"/>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13047-3C45-9DD8-6215-6BC11E35EA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672427F-0BDE-5A15-1113-5D41D81221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9A2F508-5B9C-E736-C9B0-A0F5AB5457DE}"/>
              </a:ext>
            </a:extLst>
          </p:cNvPr>
          <p:cNvSpPr>
            <a:spLocks noGrp="1"/>
          </p:cNvSpPr>
          <p:nvPr>
            <p:ph type="dt" sz="half" idx="10"/>
          </p:nvPr>
        </p:nvSpPr>
        <p:spPr/>
        <p:txBody>
          <a:bodyPr/>
          <a:lstStyle/>
          <a:p>
            <a:fld id="{7A4FD1DC-69FB-4122-82BB-E0C41F20E4A3}" type="datetimeFigureOut">
              <a:rPr lang="en-IN" smtClean="0"/>
              <a:t>12-10-2026</a:t>
            </a:fld>
            <a:endParaRPr lang="en-IN"/>
          </a:p>
        </p:txBody>
      </p:sp>
      <p:sp>
        <p:nvSpPr>
          <p:cNvPr id="5" name="Footer Placeholder 4">
            <a:extLst>
              <a:ext uri="{FF2B5EF4-FFF2-40B4-BE49-F238E27FC236}">
                <a16:creationId xmlns:a16="http://schemas.microsoft.com/office/drawing/2014/main" id="{F2702482-03AA-AA31-6C20-52972C7D36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175F61-AD71-E9F8-E17E-E2132EA40156}"/>
              </a:ext>
            </a:extLst>
          </p:cNvPr>
          <p:cNvSpPr>
            <a:spLocks noGrp="1"/>
          </p:cNvSpPr>
          <p:nvPr>
            <p:ph type="sldNum" sz="quarter" idx="12"/>
          </p:nvPr>
        </p:nvSpPr>
        <p:spPr/>
        <p:txBody>
          <a:bodyPr/>
          <a:lstStyle/>
          <a:p>
            <a:fld id="{F72905CF-DDA8-49BF-9DDD-26E9E2F01C2A}" type="slidenum">
              <a:rPr lang="en-IN" smtClean="0"/>
              <a:t>‹#›</a:t>
            </a:fld>
            <a:endParaRPr lang="en-IN"/>
          </a:p>
        </p:txBody>
      </p:sp>
    </p:spTree>
    <p:extLst>
      <p:ext uri="{BB962C8B-B14F-4D97-AF65-F5344CB8AC3E}">
        <p14:creationId xmlns:p14="http://schemas.microsoft.com/office/powerpoint/2010/main" val="3569404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5AA89-BD40-564A-1323-789F5435F2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1FA890D-58EC-F8CB-B7E1-EC66CCDEF5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C6046A-8AF3-5A1D-394B-4167082482AD}"/>
              </a:ext>
            </a:extLst>
          </p:cNvPr>
          <p:cNvSpPr>
            <a:spLocks noGrp="1"/>
          </p:cNvSpPr>
          <p:nvPr>
            <p:ph type="dt" sz="half" idx="10"/>
          </p:nvPr>
        </p:nvSpPr>
        <p:spPr/>
        <p:txBody>
          <a:bodyPr/>
          <a:lstStyle/>
          <a:p>
            <a:fld id="{7A4FD1DC-69FB-4122-82BB-E0C41F20E4A3}" type="datetimeFigureOut">
              <a:rPr lang="en-IN" smtClean="0"/>
              <a:t>12-10-2026</a:t>
            </a:fld>
            <a:endParaRPr lang="en-IN"/>
          </a:p>
        </p:txBody>
      </p:sp>
      <p:sp>
        <p:nvSpPr>
          <p:cNvPr id="5" name="Footer Placeholder 4">
            <a:extLst>
              <a:ext uri="{FF2B5EF4-FFF2-40B4-BE49-F238E27FC236}">
                <a16:creationId xmlns:a16="http://schemas.microsoft.com/office/drawing/2014/main" id="{40F789C6-E279-197B-E89D-263F4CC801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65D38E-6700-BCF4-C470-2DF1E1EDB94A}"/>
              </a:ext>
            </a:extLst>
          </p:cNvPr>
          <p:cNvSpPr>
            <a:spLocks noGrp="1"/>
          </p:cNvSpPr>
          <p:nvPr>
            <p:ph type="sldNum" sz="quarter" idx="12"/>
          </p:nvPr>
        </p:nvSpPr>
        <p:spPr/>
        <p:txBody>
          <a:bodyPr/>
          <a:lstStyle/>
          <a:p>
            <a:fld id="{F72905CF-DDA8-49BF-9DDD-26E9E2F01C2A}" type="slidenum">
              <a:rPr lang="en-IN" smtClean="0"/>
              <a:t>‹#›</a:t>
            </a:fld>
            <a:endParaRPr lang="en-IN"/>
          </a:p>
        </p:txBody>
      </p:sp>
    </p:spTree>
    <p:extLst>
      <p:ext uri="{BB962C8B-B14F-4D97-AF65-F5344CB8AC3E}">
        <p14:creationId xmlns:p14="http://schemas.microsoft.com/office/powerpoint/2010/main" val="1437672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87C31-C97B-7ABA-B6C9-E78607823E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ABE1A09-4533-255C-A301-4743616168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753C9A-C875-EC99-8CC1-4A2598B003D9}"/>
              </a:ext>
            </a:extLst>
          </p:cNvPr>
          <p:cNvSpPr>
            <a:spLocks noGrp="1"/>
          </p:cNvSpPr>
          <p:nvPr>
            <p:ph type="dt" sz="half" idx="10"/>
          </p:nvPr>
        </p:nvSpPr>
        <p:spPr/>
        <p:txBody>
          <a:bodyPr/>
          <a:lstStyle/>
          <a:p>
            <a:fld id="{7A4FD1DC-69FB-4122-82BB-E0C41F20E4A3}" type="datetimeFigureOut">
              <a:rPr lang="en-IN" smtClean="0"/>
              <a:t>12-10-2026</a:t>
            </a:fld>
            <a:endParaRPr lang="en-IN"/>
          </a:p>
        </p:txBody>
      </p:sp>
      <p:sp>
        <p:nvSpPr>
          <p:cNvPr id="5" name="Footer Placeholder 4">
            <a:extLst>
              <a:ext uri="{FF2B5EF4-FFF2-40B4-BE49-F238E27FC236}">
                <a16:creationId xmlns:a16="http://schemas.microsoft.com/office/drawing/2014/main" id="{DB74B2D9-3ED9-56F3-8B11-5E4EDEFE10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00F2C1-8AE7-7864-C66C-A3561C267E4B}"/>
              </a:ext>
            </a:extLst>
          </p:cNvPr>
          <p:cNvSpPr>
            <a:spLocks noGrp="1"/>
          </p:cNvSpPr>
          <p:nvPr>
            <p:ph type="sldNum" sz="quarter" idx="12"/>
          </p:nvPr>
        </p:nvSpPr>
        <p:spPr/>
        <p:txBody>
          <a:bodyPr/>
          <a:lstStyle/>
          <a:p>
            <a:fld id="{F72905CF-DDA8-49BF-9DDD-26E9E2F01C2A}" type="slidenum">
              <a:rPr lang="en-IN" smtClean="0"/>
              <a:t>‹#›</a:t>
            </a:fld>
            <a:endParaRPr lang="en-IN"/>
          </a:p>
        </p:txBody>
      </p:sp>
    </p:spTree>
    <p:extLst>
      <p:ext uri="{BB962C8B-B14F-4D97-AF65-F5344CB8AC3E}">
        <p14:creationId xmlns:p14="http://schemas.microsoft.com/office/powerpoint/2010/main" val="3235464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3FFB1-069A-3A45-EC16-CB5CD46BAB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CF8FFD-6498-72BF-52D2-5AF3E66149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2D2E3E9-0005-68E5-F619-BE3F89D669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EEFBA50-0DFF-1249-A3ED-D68004FF95F1}"/>
              </a:ext>
            </a:extLst>
          </p:cNvPr>
          <p:cNvSpPr>
            <a:spLocks noGrp="1"/>
          </p:cNvSpPr>
          <p:nvPr>
            <p:ph type="dt" sz="half" idx="10"/>
          </p:nvPr>
        </p:nvSpPr>
        <p:spPr/>
        <p:txBody>
          <a:bodyPr/>
          <a:lstStyle/>
          <a:p>
            <a:fld id="{7A4FD1DC-69FB-4122-82BB-E0C41F20E4A3}" type="datetimeFigureOut">
              <a:rPr lang="en-IN" smtClean="0"/>
              <a:t>12-10-2026</a:t>
            </a:fld>
            <a:endParaRPr lang="en-IN"/>
          </a:p>
        </p:txBody>
      </p:sp>
      <p:sp>
        <p:nvSpPr>
          <p:cNvPr id="6" name="Footer Placeholder 5">
            <a:extLst>
              <a:ext uri="{FF2B5EF4-FFF2-40B4-BE49-F238E27FC236}">
                <a16:creationId xmlns:a16="http://schemas.microsoft.com/office/drawing/2014/main" id="{F0EEE6DE-370A-E6A7-8D6F-020615F933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26628B-42DE-AF92-663F-E8048B5E44CA}"/>
              </a:ext>
            </a:extLst>
          </p:cNvPr>
          <p:cNvSpPr>
            <a:spLocks noGrp="1"/>
          </p:cNvSpPr>
          <p:nvPr>
            <p:ph type="sldNum" sz="quarter" idx="12"/>
          </p:nvPr>
        </p:nvSpPr>
        <p:spPr/>
        <p:txBody>
          <a:bodyPr/>
          <a:lstStyle/>
          <a:p>
            <a:fld id="{F72905CF-DDA8-49BF-9DDD-26E9E2F01C2A}" type="slidenum">
              <a:rPr lang="en-IN" smtClean="0"/>
              <a:t>‹#›</a:t>
            </a:fld>
            <a:endParaRPr lang="en-IN"/>
          </a:p>
        </p:txBody>
      </p:sp>
    </p:spTree>
    <p:extLst>
      <p:ext uri="{BB962C8B-B14F-4D97-AF65-F5344CB8AC3E}">
        <p14:creationId xmlns:p14="http://schemas.microsoft.com/office/powerpoint/2010/main" val="2297550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E85EB-5D26-5998-07E2-CE416F60A81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ABA19AC-59C7-5524-6D1F-D96C21C066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3F49E5-05EE-399E-0D01-479C5CE851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0D453AA-DE0F-1D17-F23A-49BE442300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E0A038-D079-CFAA-AA60-68AD5E5353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D14185C-3642-ADC2-CC88-B5CDEC065867}"/>
              </a:ext>
            </a:extLst>
          </p:cNvPr>
          <p:cNvSpPr>
            <a:spLocks noGrp="1"/>
          </p:cNvSpPr>
          <p:nvPr>
            <p:ph type="dt" sz="half" idx="10"/>
          </p:nvPr>
        </p:nvSpPr>
        <p:spPr/>
        <p:txBody>
          <a:bodyPr/>
          <a:lstStyle/>
          <a:p>
            <a:fld id="{7A4FD1DC-69FB-4122-82BB-E0C41F20E4A3}" type="datetimeFigureOut">
              <a:rPr lang="en-IN" smtClean="0"/>
              <a:t>12-10-2026</a:t>
            </a:fld>
            <a:endParaRPr lang="en-IN"/>
          </a:p>
        </p:txBody>
      </p:sp>
      <p:sp>
        <p:nvSpPr>
          <p:cNvPr id="8" name="Footer Placeholder 7">
            <a:extLst>
              <a:ext uri="{FF2B5EF4-FFF2-40B4-BE49-F238E27FC236}">
                <a16:creationId xmlns:a16="http://schemas.microsoft.com/office/drawing/2014/main" id="{4410745C-0D9F-2043-6361-9DEBFE0A100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31E77E3-5D86-5ADE-D1E7-8D96734F0009}"/>
              </a:ext>
            </a:extLst>
          </p:cNvPr>
          <p:cNvSpPr>
            <a:spLocks noGrp="1"/>
          </p:cNvSpPr>
          <p:nvPr>
            <p:ph type="sldNum" sz="quarter" idx="12"/>
          </p:nvPr>
        </p:nvSpPr>
        <p:spPr/>
        <p:txBody>
          <a:bodyPr/>
          <a:lstStyle/>
          <a:p>
            <a:fld id="{F72905CF-DDA8-49BF-9DDD-26E9E2F01C2A}" type="slidenum">
              <a:rPr lang="en-IN" smtClean="0"/>
              <a:t>‹#›</a:t>
            </a:fld>
            <a:endParaRPr lang="en-IN"/>
          </a:p>
        </p:txBody>
      </p:sp>
    </p:spTree>
    <p:extLst>
      <p:ext uri="{BB962C8B-B14F-4D97-AF65-F5344CB8AC3E}">
        <p14:creationId xmlns:p14="http://schemas.microsoft.com/office/powerpoint/2010/main" val="1331225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AA1E7-A959-F986-D26E-82EA2C0A96D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CF3A204-7997-66F5-F0EB-BB5A4B087DF4}"/>
              </a:ext>
            </a:extLst>
          </p:cNvPr>
          <p:cNvSpPr>
            <a:spLocks noGrp="1"/>
          </p:cNvSpPr>
          <p:nvPr>
            <p:ph type="dt" sz="half" idx="10"/>
          </p:nvPr>
        </p:nvSpPr>
        <p:spPr/>
        <p:txBody>
          <a:bodyPr/>
          <a:lstStyle/>
          <a:p>
            <a:fld id="{7A4FD1DC-69FB-4122-82BB-E0C41F20E4A3}" type="datetimeFigureOut">
              <a:rPr lang="en-IN" smtClean="0"/>
              <a:t>12-10-2026</a:t>
            </a:fld>
            <a:endParaRPr lang="en-IN"/>
          </a:p>
        </p:txBody>
      </p:sp>
      <p:sp>
        <p:nvSpPr>
          <p:cNvPr id="4" name="Footer Placeholder 3">
            <a:extLst>
              <a:ext uri="{FF2B5EF4-FFF2-40B4-BE49-F238E27FC236}">
                <a16:creationId xmlns:a16="http://schemas.microsoft.com/office/drawing/2014/main" id="{96E517AD-8159-17B5-F403-F314815FFD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C08E031-51F4-0D20-903C-2D2B016469CD}"/>
              </a:ext>
            </a:extLst>
          </p:cNvPr>
          <p:cNvSpPr>
            <a:spLocks noGrp="1"/>
          </p:cNvSpPr>
          <p:nvPr>
            <p:ph type="sldNum" sz="quarter" idx="12"/>
          </p:nvPr>
        </p:nvSpPr>
        <p:spPr/>
        <p:txBody>
          <a:bodyPr/>
          <a:lstStyle/>
          <a:p>
            <a:fld id="{F72905CF-DDA8-49BF-9DDD-26E9E2F01C2A}" type="slidenum">
              <a:rPr lang="en-IN" smtClean="0"/>
              <a:t>‹#›</a:t>
            </a:fld>
            <a:endParaRPr lang="en-IN"/>
          </a:p>
        </p:txBody>
      </p:sp>
    </p:spTree>
    <p:extLst>
      <p:ext uri="{BB962C8B-B14F-4D97-AF65-F5344CB8AC3E}">
        <p14:creationId xmlns:p14="http://schemas.microsoft.com/office/powerpoint/2010/main" val="518523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1C6028-4CAE-80BE-31E7-8D9A9BA887C4}"/>
              </a:ext>
            </a:extLst>
          </p:cNvPr>
          <p:cNvSpPr>
            <a:spLocks noGrp="1"/>
          </p:cNvSpPr>
          <p:nvPr>
            <p:ph type="dt" sz="half" idx="10"/>
          </p:nvPr>
        </p:nvSpPr>
        <p:spPr/>
        <p:txBody>
          <a:bodyPr/>
          <a:lstStyle/>
          <a:p>
            <a:fld id="{7A4FD1DC-69FB-4122-82BB-E0C41F20E4A3}" type="datetimeFigureOut">
              <a:rPr lang="en-IN" smtClean="0"/>
              <a:t>12-10-2026</a:t>
            </a:fld>
            <a:endParaRPr lang="en-IN"/>
          </a:p>
        </p:txBody>
      </p:sp>
      <p:sp>
        <p:nvSpPr>
          <p:cNvPr id="3" name="Footer Placeholder 2">
            <a:extLst>
              <a:ext uri="{FF2B5EF4-FFF2-40B4-BE49-F238E27FC236}">
                <a16:creationId xmlns:a16="http://schemas.microsoft.com/office/drawing/2014/main" id="{0117BAB0-6E23-21AD-4E1D-9FE2C6FA7ED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4AA8A5-029B-8534-3B0F-0E4D1EA3E2BE}"/>
              </a:ext>
            </a:extLst>
          </p:cNvPr>
          <p:cNvSpPr>
            <a:spLocks noGrp="1"/>
          </p:cNvSpPr>
          <p:nvPr>
            <p:ph type="sldNum" sz="quarter" idx="12"/>
          </p:nvPr>
        </p:nvSpPr>
        <p:spPr/>
        <p:txBody>
          <a:bodyPr/>
          <a:lstStyle/>
          <a:p>
            <a:fld id="{F72905CF-DDA8-49BF-9DDD-26E9E2F01C2A}" type="slidenum">
              <a:rPr lang="en-IN" smtClean="0"/>
              <a:t>‹#›</a:t>
            </a:fld>
            <a:endParaRPr lang="en-IN"/>
          </a:p>
        </p:txBody>
      </p:sp>
    </p:spTree>
    <p:extLst>
      <p:ext uri="{BB962C8B-B14F-4D97-AF65-F5344CB8AC3E}">
        <p14:creationId xmlns:p14="http://schemas.microsoft.com/office/powerpoint/2010/main" val="1207187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0935E-02ED-02A9-3A93-859934C425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741B22A-4FEC-1AC0-5D60-31B6284B12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3F7E3C1-FA0C-2201-2313-5ED2A5F5CF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C1CAEB-93F7-2DEC-510F-ACFB5F7096B7}"/>
              </a:ext>
            </a:extLst>
          </p:cNvPr>
          <p:cNvSpPr>
            <a:spLocks noGrp="1"/>
          </p:cNvSpPr>
          <p:nvPr>
            <p:ph type="dt" sz="half" idx="10"/>
          </p:nvPr>
        </p:nvSpPr>
        <p:spPr/>
        <p:txBody>
          <a:bodyPr/>
          <a:lstStyle/>
          <a:p>
            <a:fld id="{7A4FD1DC-69FB-4122-82BB-E0C41F20E4A3}" type="datetimeFigureOut">
              <a:rPr lang="en-IN" smtClean="0"/>
              <a:t>12-10-2026</a:t>
            </a:fld>
            <a:endParaRPr lang="en-IN"/>
          </a:p>
        </p:txBody>
      </p:sp>
      <p:sp>
        <p:nvSpPr>
          <p:cNvPr id="6" name="Footer Placeholder 5">
            <a:extLst>
              <a:ext uri="{FF2B5EF4-FFF2-40B4-BE49-F238E27FC236}">
                <a16:creationId xmlns:a16="http://schemas.microsoft.com/office/drawing/2014/main" id="{CC3D89AD-1D96-3BB1-1DA7-76197ED093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70E61B-2D44-0807-4602-AB4CC7DCC350}"/>
              </a:ext>
            </a:extLst>
          </p:cNvPr>
          <p:cNvSpPr>
            <a:spLocks noGrp="1"/>
          </p:cNvSpPr>
          <p:nvPr>
            <p:ph type="sldNum" sz="quarter" idx="12"/>
          </p:nvPr>
        </p:nvSpPr>
        <p:spPr/>
        <p:txBody>
          <a:bodyPr/>
          <a:lstStyle/>
          <a:p>
            <a:fld id="{F72905CF-DDA8-49BF-9DDD-26E9E2F01C2A}" type="slidenum">
              <a:rPr lang="en-IN" smtClean="0"/>
              <a:t>‹#›</a:t>
            </a:fld>
            <a:endParaRPr lang="en-IN"/>
          </a:p>
        </p:txBody>
      </p:sp>
    </p:spTree>
    <p:extLst>
      <p:ext uri="{BB962C8B-B14F-4D97-AF65-F5344CB8AC3E}">
        <p14:creationId xmlns:p14="http://schemas.microsoft.com/office/powerpoint/2010/main" val="1573529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7ED12-CEA7-10F7-90CF-F9CF7BAC20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86B7356-6088-92CD-2A0C-53776E6176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4561FAB-6A5C-2EFF-B754-E68A3374B2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FE9811-DDFE-D353-C88F-E5D961409BEC}"/>
              </a:ext>
            </a:extLst>
          </p:cNvPr>
          <p:cNvSpPr>
            <a:spLocks noGrp="1"/>
          </p:cNvSpPr>
          <p:nvPr>
            <p:ph type="dt" sz="half" idx="10"/>
          </p:nvPr>
        </p:nvSpPr>
        <p:spPr/>
        <p:txBody>
          <a:bodyPr/>
          <a:lstStyle/>
          <a:p>
            <a:fld id="{7A4FD1DC-69FB-4122-82BB-E0C41F20E4A3}" type="datetimeFigureOut">
              <a:rPr lang="en-IN" smtClean="0"/>
              <a:t>12-10-2026</a:t>
            </a:fld>
            <a:endParaRPr lang="en-IN"/>
          </a:p>
        </p:txBody>
      </p:sp>
      <p:sp>
        <p:nvSpPr>
          <p:cNvPr id="6" name="Footer Placeholder 5">
            <a:extLst>
              <a:ext uri="{FF2B5EF4-FFF2-40B4-BE49-F238E27FC236}">
                <a16:creationId xmlns:a16="http://schemas.microsoft.com/office/drawing/2014/main" id="{27EC69CF-43EB-0475-FC49-AB9C5894105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0693A5-3862-135B-FDEF-1F534FC96FA8}"/>
              </a:ext>
            </a:extLst>
          </p:cNvPr>
          <p:cNvSpPr>
            <a:spLocks noGrp="1"/>
          </p:cNvSpPr>
          <p:nvPr>
            <p:ph type="sldNum" sz="quarter" idx="12"/>
          </p:nvPr>
        </p:nvSpPr>
        <p:spPr/>
        <p:txBody>
          <a:bodyPr/>
          <a:lstStyle/>
          <a:p>
            <a:fld id="{F72905CF-DDA8-49BF-9DDD-26E9E2F01C2A}" type="slidenum">
              <a:rPr lang="en-IN" smtClean="0"/>
              <a:t>‹#›</a:t>
            </a:fld>
            <a:endParaRPr lang="en-IN"/>
          </a:p>
        </p:txBody>
      </p:sp>
    </p:spTree>
    <p:extLst>
      <p:ext uri="{BB962C8B-B14F-4D97-AF65-F5344CB8AC3E}">
        <p14:creationId xmlns:p14="http://schemas.microsoft.com/office/powerpoint/2010/main" val="1794233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45162-4052-AD19-C5D2-7BE0ACC9DAD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58B6CFD-466A-7548-A3A3-2E62453092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0D9AA8-932B-9848-7AC0-F4547CF9AA5F}"/>
              </a:ext>
            </a:extLst>
          </p:cNvPr>
          <p:cNvSpPr>
            <a:spLocks noGrp="1"/>
          </p:cNvSpPr>
          <p:nvPr>
            <p:ph type="dt" sz="half" idx="10"/>
          </p:nvPr>
        </p:nvSpPr>
        <p:spPr/>
        <p:txBody>
          <a:bodyPr/>
          <a:lstStyle/>
          <a:p>
            <a:fld id="{7A4FD1DC-69FB-4122-82BB-E0C41F20E4A3}" type="datetimeFigureOut">
              <a:rPr lang="en-IN" smtClean="0"/>
              <a:t>12-10-2026</a:t>
            </a:fld>
            <a:endParaRPr lang="en-IN"/>
          </a:p>
        </p:txBody>
      </p:sp>
      <p:sp>
        <p:nvSpPr>
          <p:cNvPr id="5" name="Footer Placeholder 4">
            <a:extLst>
              <a:ext uri="{FF2B5EF4-FFF2-40B4-BE49-F238E27FC236}">
                <a16:creationId xmlns:a16="http://schemas.microsoft.com/office/drawing/2014/main" id="{B2E53501-8AAA-C0E7-3182-422537AACE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2E069B-0E7F-FFDC-57E4-793E78A49DD5}"/>
              </a:ext>
            </a:extLst>
          </p:cNvPr>
          <p:cNvSpPr>
            <a:spLocks noGrp="1"/>
          </p:cNvSpPr>
          <p:nvPr>
            <p:ph type="sldNum" sz="quarter" idx="12"/>
          </p:nvPr>
        </p:nvSpPr>
        <p:spPr/>
        <p:txBody>
          <a:bodyPr/>
          <a:lstStyle/>
          <a:p>
            <a:fld id="{F72905CF-DDA8-49BF-9DDD-26E9E2F01C2A}" type="slidenum">
              <a:rPr lang="en-IN" smtClean="0"/>
              <a:t>‹#›</a:t>
            </a:fld>
            <a:endParaRPr lang="en-IN"/>
          </a:p>
        </p:txBody>
      </p:sp>
    </p:spTree>
    <p:extLst>
      <p:ext uri="{BB962C8B-B14F-4D97-AF65-F5344CB8AC3E}">
        <p14:creationId xmlns:p14="http://schemas.microsoft.com/office/powerpoint/2010/main" val="2115877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ABA61D-9631-E798-22D9-36D50F8A76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071BBE-5827-9028-599F-5B4A268B50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0C53EB-D0AB-3B7F-81CC-C40DB55970D9}"/>
              </a:ext>
            </a:extLst>
          </p:cNvPr>
          <p:cNvSpPr>
            <a:spLocks noGrp="1"/>
          </p:cNvSpPr>
          <p:nvPr>
            <p:ph type="dt" sz="half" idx="10"/>
          </p:nvPr>
        </p:nvSpPr>
        <p:spPr/>
        <p:txBody>
          <a:bodyPr/>
          <a:lstStyle/>
          <a:p>
            <a:fld id="{7A4FD1DC-69FB-4122-82BB-E0C41F20E4A3}" type="datetimeFigureOut">
              <a:rPr lang="en-IN" smtClean="0"/>
              <a:t>12-10-2026</a:t>
            </a:fld>
            <a:endParaRPr lang="en-IN"/>
          </a:p>
        </p:txBody>
      </p:sp>
      <p:sp>
        <p:nvSpPr>
          <p:cNvPr id="5" name="Footer Placeholder 4">
            <a:extLst>
              <a:ext uri="{FF2B5EF4-FFF2-40B4-BE49-F238E27FC236}">
                <a16:creationId xmlns:a16="http://schemas.microsoft.com/office/drawing/2014/main" id="{D210AF6F-9F4C-D018-501B-9488E17862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79C4BD-F1A5-E8C9-59F8-D18EF83A4FC9}"/>
              </a:ext>
            </a:extLst>
          </p:cNvPr>
          <p:cNvSpPr>
            <a:spLocks noGrp="1"/>
          </p:cNvSpPr>
          <p:nvPr>
            <p:ph type="sldNum" sz="quarter" idx="12"/>
          </p:nvPr>
        </p:nvSpPr>
        <p:spPr/>
        <p:txBody>
          <a:bodyPr/>
          <a:lstStyle/>
          <a:p>
            <a:fld id="{F72905CF-DDA8-49BF-9DDD-26E9E2F01C2A}" type="slidenum">
              <a:rPr lang="en-IN" smtClean="0"/>
              <a:t>‹#›</a:t>
            </a:fld>
            <a:endParaRPr lang="en-IN"/>
          </a:p>
        </p:txBody>
      </p:sp>
    </p:spTree>
    <p:extLst>
      <p:ext uri="{BB962C8B-B14F-4D97-AF65-F5344CB8AC3E}">
        <p14:creationId xmlns:p14="http://schemas.microsoft.com/office/powerpoint/2010/main" val="3389406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CA3DC2-8E01-39F2-9A0F-6FEC544CE2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99142A3-0AD7-9AFD-4A59-9E728FC79E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5E3190-7884-A81E-8E00-D0D55FC5BF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4FD1DC-69FB-4122-82BB-E0C41F20E4A3}" type="datetimeFigureOut">
              <a:rPr lang="en-IN" smtClean="0"/>
              <a:t>12-10-2026</a:t>
            </a:fld>
            <a:endParaRPr lang="en-IN"/>
          </a:p>
        </p:txBody>
      </p:sp>
      <p:sp>
        <p:nvSpPr>
          <p:cNvPr id="5" name="Footer Placeholder 4">
            <a:extLst>
              <a:ext uri="{FF2B5EF4-FFF2-40B4-BE49-F238E27FC236}">
                <a16:creationId xmlns:a16="http://schemas.microsoft.com/office/drawing/2014/main" id="{A54A46FE-F261-DA17-A69B-CFAB2BFCC6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5AE8AC1-CF78-0258-9FC1-0030B1AEB3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2905CF-DDA8-49BF-9DDD-26E9E2F01C2A}" type="slidenum">
              <a:rPr lang="en-IN" smtClean="0"/>
              <a:t>‹#›</a:t>
            </a:fld>
            <a:endParaRPr lang="en-IN"/>
          </a:p>
        </p:txBody>
      </p:sp>
    </p:spTree>
    <p:extLst>
      <p:ext uri="{BB962C8B-B14F-4D97-AF65-F5344CB8AC3E}">
        <p14:creationId xmlns:p14="http://schemas.microsoft.com/office/powerpoint/2010/main" val="38332926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33732C-4166-9C76-56D0-2CAA37ABA9A4}"/>
              </a:ext>
            </a:extLst>
          </p:cNvPr>
          <p:cNvSpPr>
            <a:spLocks noGrp="1"/>
          </p:cNvSpPr>
          <p:nvPr>
            <p:ph type="ctrTitle"/>
          </p:nvPr>
        </p:nvSpPr>
        <p:spPr>
          <a:xfrm>
            <a:off x="823442" y="921715"/>
            <a:ext cx="5163022" cy="2635993"/>
          </a:xfrm>
        </p:spPr>
        <p:txBody>
          <a:bodyPr anchor="b">
            <a:normAutofit/>
          </a:bodyPr>
          <a:lstStyle/>
          <a:p>
            <a:pPr algn="l"/>
            <a:r>
              <a:rPr lang="en-IN" sz="5300" dirty="0"/>
              <a:t>Understanding Agentic AI</a:t>
            </a:r>
            <a:br>
              <a:rPr lang="en-IN" sz="3700" dirty="0"/>
            </a:br>
            <a:r>
              <a:rPr lang="en-IN" sz="2700" dirty="0"/>
              <a:t>Amazon Bedrock Agents, Tools, Action Groups, and Agentic RAG</a:t>
            </a:r>
            <a:endParaRPr lang="en-IN" sz="3700" dirty="0"/>
          </a:p>
        </p:txBody>
      </p:sp>
      <p:sp>
        <p:nvSpPr>
          <p:cNvPr id="24" name="Rectangle 23">
            <a:extLst>
              <a:ext uri="{FF2B5EF4-FFF2-40B4-BE49-F238E27FC236}">
                <a16:creationId xmlns:a16="http://schemas.microsoft.com/office/drawing/2014/main" id="{BC05CA36-AD6A-4ABF-9A05-52E5A143D2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022214"/>
            <a:ext cx="12192000" cy="2835786"/>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4331EE8-85A4-4588-8D9E-70E534D477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4022220"/>
            <a:ext cx="8153398" cy="2835780"/>
          </a:xfrm>
          <a:prstGeom prst="rect">
            <a:avLst/>
          </a:prstGeom>
          <a:gradFill>
            <a:gsLst>
              <a:gs pos="0">
                <a:srgbClr val="000000">
                  <a:alpha val="63000"/>
                </a:srgbClr>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9D6C862-61CC-4B46-8080-96583D653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022219"/>
            <a:ext cx="12253472" cy="2835781"/>
          </a:xfrm>
          <a:prstGeom prst="rect">
            <a:avLst/>
          </a:prstGeom>
          <a:gradFill>
            <a:gsLst>
              <a:gs pos="39000">
                <a:schemeClr val="accent1">
                  <a:lumMod val="50000"/>
                  <a:alpha val="0"/>
                </a:schemeClr>
              </a:gs>
              <a:gs pos="100000">
                <a:srgbClr val="000000">
                  <a:alpha val="72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F8814FD1-F24B-C3AD-D0B6-4A2C3E850D5C}"/>
              </a:ext>
            </a:extLst>
          </p:cNvPr>
          <p:cNvSpPr>
            <a:spLocks noGrp="1"/>
          </p:cNvSpPr>
          <p:nvPr>
            <p:ph type="subTitle" idx="1"/>
          </p:nvPr>
        </p:nvSpPr>
        <p:spPr>
          <a:xfrm>
            <a:off x="823442" y="4541263"/>
            <a:ext cx="4662957" cy="1395022"/>
          </a:xfrm>
        </p:spPr>
        <p:txBody>
          <a:bodyPr anchor="t">
            <a:normAutofit/>
          </a:bodyPr>
          <a:lstStyle/>
          <a:p>
            <a:pPr lvl="0" algn="l"/>
            <a:r>
              <a:rPr lang="en-IN" sz="2200">
                <a:solidFill>
                  <a:srgbClr val="FFFFFF"/>
                </a:solidFill>
              </a:rPr>
              <a:t>AWS Generative AI Learning Series</a:t>
            </a:r>
          </a:p>
          <a:p>
            <a:pPr lvl="0" algn="l"/>
            <a:r>
              <a:rPr lang="en-IN" sz="2200">
                <a:solidFill>
                  <a:srgbClr val="FFFFFF"/>
                </a:solidFill>
              </a:rPr>
              <a:t>Presented by: </a:t>
            </a:r>
            <a:r>
              <a:rPr lang="en-IN" sz="2200" b="1">
                <a:solidFill>
                  <a:srgbClr val="FFFFFF"/>
                </a:solidFill>
              </a:rPr>
              <a:t>Akash Patel</a:t>
            </a:r>
          </a:p>
          <a:p>
            <a:pPr lvl="0" algn="l"/>
            <a:r>
              <a:rPr lang="en-IN" sz="2200" b="1">
                <a:solidFill>
                  <a:srgbClr val="FFFFFF"/>
                </a:solidFill>
              </a:rPr>
              <a:t>Concordia University Chicago</a:t>
            </a:r>
          </a:p>
        </p:txBody>
      </p:sp>
      <p:pic>
        <p:nvPicPr>
          <p:cNvPr id="7" name="Graphic 6" descr="Mining Tools">
            <a:extLst>
              <a:ext uri="{FF2B5EF4-FFF2-40B4-BE49-F238E27FC236}">
                <a16:creationId xmlns:a16="http://schemas.microsoft.com/office/drawing/2014/main" id="{430CDF94-5D64-8846-5728-29C9258050C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573907" y="658489"/>
            <a:ext cx="5163022" cy="5163022"/>
          </a:xfrm>
          <a:prstGeom prst="rect">
            <a:avLst/>
          </a:prstGeom>
        </p:spPr>
      </p:pic>
      <p:sp>
        <p:nvSpPr>
          <p:cNvPr id="30" name="Rectangle 29">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0797"/>
            <a:ext cx="12191998" cy="457203"/>
          </a:xfrm>
          <a:prstGeom prst="rect">
            <a:avLst/>
          </a:prstGeom>
          <a:gradFill>
            <a:gsLst>
              <a:gs pos="0">
                <a:srgbClr val="000000">
                  <a:alpha val="43000"/>
                </a:srgbClr>
              </a:gs>
              <a:gs pos="79000">
                <a:schemeClr val="accent1">
                  <a:lumMod val="75000"/>
                  <a:alpha val="22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0402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par>
                                <p:cTn id="21" presetID="10" presetClass="entr" presetSubtype="0" fill="hold" nodeType="withEffect">
                                  <p:stCondLst>
                                    <p:cond delay="500"/>
                                  </p:stCondLst>
                                  <p:iterate>
                                    <p:tmPct val="10000"/>
                                  </p:iterate>
                                  <p:childTnLst>
                                    <p:set>
                                      <p:cBhvr>
                                        <p:cTn id="22" dur="1" fill="hold">
                                          <p:stCondLst>
                                            <p:cond delay="0"/>
                                          </p:stCondLst>
                                        </p:cTn>
                                        <p:tgtEl>
                                          <p:spTgt spid="7"/>
                                        </p:tgtEl>
                                        <p:attrNameLst>
                                          <p:attrName>style.visibility</p:attrName>
                                        </p:attrNameLst>
                                      </p:cBhvr>
                                      <p:to>
                                        <p:strVal val="visible"/>
                                      </p:to>
                                    </p:set>
                                    <p:animEffect transition="in" filter="fade">
                                      <p:cBhvr>
                                        <p:cTn id="23"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0D03E95-33C3-001D-4A9D-DCF96F669B66}"/>
              </a:ext>
            </a:extLst>
          </p:cNvPr>
          <p:cNvSpPr>
            <a:spLocks noGrp="1"/>
          </p:cNvSpPr>
          <p:nvPr>
            <p:ph type="title"/>
          </p:nvPr>
        </p:nvSpPr>
        <p:spPr>
          <a:xfrm>
            <a:off x="1371597" y="348865"/>
            <a:ext cx="10044023" cy="877729"/>
          </a:xfrm>
        </p:spPr>
        <p:txBody>
          <a:bodyPr anchor="ctr">
            <a:normAutofit/>
          </a:bodyPr>
          <a:lstStyle/>
          <a:p>
            <a:r>
              <a:rPr lang="en-IN" sz="4000">
                <a:solidFill>
                  <a:srgbClr val="FFFFFF"/>
                </a:solidFill>
              </a:rPr>
              <a:t>What Is Agentic AI?</a:t>
            </a:r>
          </a:p>
        </p:txBody>
      </p:sp>
      <p:graphicFrame>
        <p:nvGraphicFramePr>
          <p:cNvPr id="5" name="Content Placeholder 2">
            <a:extLst>
              <a:ext uri="{FF2B5EF4-FFF2-40B4-BE49-F238E27FC236}">
                <a16:creationId xmlns:a16="http://schemas.microsoft.com/office/drawing/2014/main" id="{C4455CBD-699B-0139-EB23-E1641A1FFAD1}"/>
              </a:ext>
            </a:extLst>
          </p:cNvPr>
          <p:cNvGraphicFramePr>
            <a:graphicFrameLocks noGrp="1"/>
          </p:cNvGraphicFramePr>
          <p:nvPr>
            <p:ph idx="1"/>
            <p:extLst>
              <p:ext uri="{D42A27DB-BD31-4B8C-83A1-F6EECF244321}">
                <p14:modId xmlns:p14="http://schemas.microsoft.com/office/powerpoint/2010/main" val="160904689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45530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500C71-8112-3F4B-6B8A-FCDA618966FF}"/>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Normal LLM vs. AI Agent</a:t>
            </a:r>
          </a:p>
        </p:txBody>
      </p:sp>
      <p:sp>
        <p:nvSpPr>
          <p:cNvPr id="3" name="Content Placeholder 2">
            <a:extLst>
              <a:ext uri="{FF2B5EF4-FFF2-40B4-BE49-F238E27FC236}">
                <a16:creationId xmlns:a16="http://schemas.microsoft.com/office/drawing/2014/main" id="{B49053D2-7EB1-0895-E1C9-946A7A956447}"/>
              </a:ext>
            </a:extLst>
          </p:cNvPr>
          <p:cNvSpPr>
            <a:spLocks noGrp="1"/>
          </p:cNvSpPr>
          <p:nvPr>
            <p:ph idx="1"/>
          </p:nvPr>
        </p:nvSpPr>
        <p:spPr>
          <a:xfrm>
            <a:off x="4810259" y="649480"/>
            <a:ext cx="6555347" cy="5546047"/>
          </a:xfrm>
        </p:spPr>
        <p:txBody>
          <a:bodyPr anchor="ctr">
            <a:normAutofit/>
          </a:bodyPr>
          <a:lstStyle/>
          <a:p>
            <a:pPr lvl="0"/>
            <a:r>
              <a:rPr lang="en-IN" sz="1700"/>
              <a:t>A normal Foundation Model receives a prompt and generates a response using the information and instructions available in that request.</a:t>
            </a:r>
          </a:p>
          <a:p>
            <a:pPr lvl="0"/>
            <a:r>
              <a:rPr lang="en-IN" sz="1700"/>
              <a:t>If current or private information is missing, the model may not have a reliable way to get that information by itself.</a:t>
            </a:r>
          </a:p>
          <a:p>
            <a:pPr lvl="0"/>
            <a:r>
              <a:rPr lang="en-IN" sz="1700"/>
              <a:t>An AI agent still uses a Foundation Model, but the model becomes part of a larger system that also includes tools, external information, and workflows.</a:t>
            </a:r>
          </a:p>
          <a:p>
            <a:pPr lvl="0"/>
            <a:r>
              <a:rPr lang="en-IN" sz="1700"/>
              <a:t>The agent can recognize that another step is needed before answering, such as searching a Knowledge Base, calling a function, or collecting missing information.</a:t>
            </a:r>
          </a:p>
          <a:p>
            <a:endParaRPr lang="en-IN" sz="1700" b="1"/>
          </a:p>
          <a:p>
            <a:r>
              <a:rPr lang="en-IN" sz="1700" b="1"/>
              <a:t>Example:</a:t>
            </a:r>
            <a:endParaRPr lang="en-IN" sz="1700"/>
          </a:p>
          <a:p>
            <a:pPr lvl="0"/>
            <a:r>
              <a:rPr lang="en-IN" sz="1700"/>
              <a:t>User asks: </a:t>
            </a:r>
            <a:r>
              <a:rPr lang="en-IN" sz="1700" b="1"/>
              <a:t>“What is the weather in Chicago right now?”</a:t>
            </a:r>
            <a:endParaRPr lang="en-IN" sz="1700"/>
          </a:p>
          <a:p>
            <a:pPr lvl="0"/>
            <a:r>
              <a:rPr lang="en-IN" sz="1700"/>
              <a:t>Normal LLM: may only know general or older information.</a:t>
            </a:r>
          </a:p>
          <a:p>
            <a:pPr lvl="0"/>
            <a:r>
              <a:rPr lang="en-IN" sz="1700"/>
              <a:t>AI Agent: identifies that live data is needed → calls a weather tool → receives the current result → explains it to the user.</a:t>
            </a:r>
          </a:p>
        </p:txBody>
      </p:sp>
    </p:spTree>
    <p:extLst>
      <p:ext uri="{BB962C8B-B14F-4D97-AF65-F5344CB8AC3E}">
        <p14:creationId xmlns:p14="http://schemas.microsoft.com/office/powerpoint/2010/main" val="4264440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2D5B578-ED87-276B-A872-5F801B7D2FA1}"/>
              </a:ext>
            </a:extLst>
          </p:cNvPr>
          <p:cNvSpPr>
            <a:spLocks noGrp="1"/>
          </p:cNvSpPr>
          <p:nvPr>
            <p:ph type="title"/>
          </p:nvPr>
        </p:nvSpPr>
        <p:spPr>
          <a:xfrm>
            <a:off x="1371597" y="348865"/>
            <a:ext cx="10044023" cy="877729"/>
          </a:xfrm>
        </p:spPr>
        <p:txBody>
          <a:bodyPr anchor="ctr">
            <a:normAutofit/>
          </a:bodyPr>
          <a:lstStyle/>
          <a:p>
            <a:r>
              <a:rPr lang="en-IN" sz="4000">
                <a:solidFill>
                  <a:srgbClr val="FFFFFF"/>
                </a:solidFill>
              </a:rPr>
              <a:t>Main Parts of an AI Agent</a:t>
            </a:r>
          </a:p>
        </p:txBody>
      </p:sp>
      <p:graphicFrame>
        <p:nvGraphicFramePr>
          <p:cNvPr id="5" name="Content Placeholder 2">
            <a:extLst>
              <a:ext uri="{FF2B5EF4-FFF2-40B4-BE49-F238E27FC236}">
                <a16:creationId xmlns:a16="http://schemas.microsoft.com/office/drawing/2014/main" id="{E0C9C245-7B72-66EF-4C9A-B527BAE84B9A}"/>
              </a:ext>
            </a:extLst>
          </p:cNvPr>
          <p:cNvGraphicFramePr>
            <a:graphicFrameLocks noGrp="1"/>
          </p:cNvGraphicFramePr>
          <p:nvPr>
            <p:ph idx="1"/>
            <p:extLst>
              <p:ext uri="{D42A27DB-BD31-4B8C-83A1-F6EECF244321}">
                <p14:modId xmlns:p14="http://schemas.microsoft.com/office/powerpoint/2010/main" val="25398010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4758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741393E-C764-4C6F-8886-35CFF2E483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90890DC-37FF-4B49-BD4C-FE4232F69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552708" cy="6858000"/>
          </a:xfrm>
          <a:custGeom>
            <a:avLst/>
            <a:gdLst>
              <a:gd name="connsiteX0" fmla="*/ 0 w 5552708"/>
              <a:gd name="connsiteY0" fmla="*/ 0 h 6858000"/>
              <a:gd name="connsiteX1" fmla="*/ 5443651 w 5552708"/>
              <a:gd name="connsiteY1" fmla="*/ 0 h 6858000"/>
              <a:gd name="connsiteX2" fmla="*/ 5443781 w 5552708"/>
              <a:gd name="connsiteY2" fmla="*/ 512 h 6858000"/>
              <a:gd name="connsiteX3" fmla="*/ 5444033 w 5552708"/>
              <a:gd name="connsiteY3" fmla="*/ 20501 h 6858000"/>
              <a:gd name="connsiteX4" fmla="*/ 5439390 w 5552708"/>
              <a:gd name="connsiteY4" fmla="*/ 44768 h 6858000"/>
              <a:gd name="connsiteX5" fmla="*/ 5443913 w 5552708"/>
              <a:gd name="connsiteY5" fmla="*/ 104988 h 6858000"/>
              <a:gd name="connsiteX6" fmla="*/ 5458241 w 5552708"/>
              <a:gd name="connsiteY6" fmla="*/ 204162 h 6858000"/>
              <a:gd name="connsiteX7" fmla="*/ 5459763 w 5552708"/>
              <a:gd name="connsiteY7" fmla="*/ 225360 h 6858000"/>
              <a:gd name="connsiteX8" fmla="*/ 5454996 w 5552708"/>
              <a:gd name="connsiteY8" fmla="*/ 243902 h 6858000"/>
              <a:gd name="connsiteX9" fmla="*/ 5448597 w 5552708"/>
              <a:gd name="connsiteY9" fmla="*/ 248483 h 6858000"/>
              <a:gd name="connsiteX10" fmla="*/ 5448458 w 5552708"/>
              <a:gd name="connsiteY10" fmla="*/ 260196 h 6858000"/>
              <a:gd name="connsiteX11" fmla="*/ 5447150 w 5552708"/>
              <a:gd name="connsiteY11" fmla="*/ 263377 h 6858000"/>
              <a:gd name="connsiteX12" fmla="*/ 5459187 w 5552708"/>
              <a:gd name="connsiteY12" fmla="*/ 318691 h 6858000"/>
              <a:gd name="connsiteX13" fmla="*/ 5455708 w 5552708"/>
              <a:gd name="connsiteY13" fmla="*/ 365759 h 6858000"/>
              <a:gd name="connsiteX14" fmla="*/ 5473651 w 5552708"/>
              <a:gd name="connsiteY14" fmla="*/ 492182 h 6858000"/>
              <a:gd name="connsiteX15" fmla="*/ 5481453 w 5552708"/>
              <a:gd name="connsiteY15" fmla="*/ 689666 h 6858000"/>
              <a:gd name="connsiteX16" fmla="*/ 5488233 w 5552708"/>
              <a:gd name="connsiteY16" fmla="*/ 816332 h 6858000"/>
              <a:gd name="connsiteX17" fmla="*/ 5529718 w 5552708"/>
              <a:gd name="connsiteY17" fmla="*/ 891550 h 6858000"/>
              <a:gd name="connsiteX18" fmla="*/ 5536104 w 5552708"/>
              <a:gd name="connsiteY18" fmla="*/ 903318 h 6858000"/>
              <a:gd name="connsiteX19" fmla="*/ 5535257 w 5552708"/>
              <a:gd name="connsiteY19" fmla="*/ 905308 h 6858000"/>
              <a:gd name="connsiteX20" fmla="*/ 5537840 w 5552708"/>
              <a:gd name="connsiteY20" fmla="*/ 920621 h 6858000"/>
              <a:gd name="connsiteX21" fmla="*/ 5541663 w 5552708"/>
              <a:gd name="connsiteY21" fmla="*/ 922876 h 6858000"/>
              <a:gd name="connsiteX22" fmla="*/ 5544456 w 5552708"/>
              <a:gd name="connsiteY22" fmla="*/ 933037 h 6858000"/>
              <a:gd name="connsiteX23" fmla="*/ 5552708 w 5552708"/>
              <a:gd name="connsiteY23" fmla="*/ 952132 h 6858000"/>
              <a:gd name="connsiteX24" fmla="*/ 5551675 w 5552708"/>
              <a:gd name="connsiteY24" fmla="*/ 956570 h 6858000"/>
              <a:gd name="connsiteX25" fmla="*/ 5531341 w 5552708"/>
              <a:gd name="connsiteY25" fmla="*/ 1064863 h 6858000"/>
              <a:gd name="connsiteX26" fmla="*/ 5539998 w 5552708"/>
              <a:gd name="connsiteY26" fmla="*/ 1096340 h 6858000"/>
              <a:gd name="connsiteX27" fmla="*/ 5541075 w 5552708"/>
              <a:gd name="connsiteY27" fmla="*/ 1102915 h 6858000"/>
              <a:gd name="connsiteX28" fmla="*/ 5540822 w 5552708"/>
              <a:gd name="connsiteY28" fmla="*/ 1103143 h 6858000"/>
              <a:gd name="connsiteX29" fmla="*/ 5541413 w 5552708"/>
              <a:gd name="connsiteY29" fmla="*/ 1110274 h 6858000"/>
              <a:gd name="connsiteX30" fmla="*/ 5543038 w 5552708"/>
              <a:gd name="connsiteY30" fmla="*/ 1114901 h 6858000"/>
              <a:gd name="connsiteX31" fmla="*/ 5545128 w 5552708"/>
              <a:gd name="connsiteY31" fmla="*/ 1127652 h 6858000"/>
              <a:gd name="connsiteX32" fmla="*/ 5544028 w 5552708"/>
              <a:gd name="connsiteY32" fmla="*/ 1132698 h 6858000"/>
              <a:gd name="connsiteX33" fmla="*/ 5514811 w 5552708"/>
              <a:gd name="connsiteY33" fmla="*/ 1177140 h 6858000"/>
              <a:gd name="connsiteX34" fmla="*/ 5496402 w 5552708"/>
              <a:gd name="connsiteY34" fmla="*/ 1265293 h 6858000"/>
              <a:gd name="connsiteX35" fmla="*/ 5481620 w 5552708"/>
              <a:gd name="connsiteY35" fmla="*/ 1353039 h 6858000"/>
              <a:gd name="connsiteX36" fmla="*/ 5477938 w 5552708"/>
              <a:gd name="connsiteY36" fmla="*/ 1385038 h 6858000"/>
              <a:gd name="connsiteX37" fmla="*/ 5464009 w 5552708"/>
              <a:gd name="connsiteY37" fmla="*/ 1441067 h 6858000"/>
              <a:gd name="connsiteX38" fmla="*/ 5453063 w 5552708"/>
              <a:gd name="connsiteY38" fmla="*/ 1466104 h 6858000"/>
              <a:gd name="connsiteX39" fmla="*/ 5453368 w 5552708"/>
              <a:gd name="connsiteY39" fmla="*/ 1467310 h 6858000"/>
              <a:gd name="connsiteX40" fmla="*/ 5449849 w 5552708"/>
              <a:gd name="connsiteY40" fmla="*/ 1469198 h 6858000"/>
              <a:gd name="connsiteX41" fmla="*/ 5447717 w 5552708"/>
              <a:gd name="connsiteY41" fmla="*/ 1473816 h 6858000"/>
              <a:gd name="connsiteX42" fmla="*/ 5446906 w 5552708"/>
              <a:gd name="connsiteY42" fmla="*/ 1487106 h 6858000"/>
              <a:gd name="connsiteX43" fmla="*/ 5447429 w 5552708"/>
              <a:gd name="connsiteY43" fmla="*/ 1492218 h 6858000"/>
              <a:gd name="connsiteX44" fmla="*/ 5446434 w 5552708"/>
              <a:gd name="connsiteY44" fmla="*/ 1499455 h 6858000"/>
              <a:gd name="connsiteX45" fmla="*/ 5446146 w 5552708"/>
              <a:gd name="connsiteY45" fmla="*/ 1499600 h 6858000"/>
              <a:gd name="connsiteX46" fmla="*/ 5445728 w 5552708"/>
              <a:gd name="connsiteY46" fmla="*/ 1506449 h 6858000"/>
              <a:gd name="connsiteX47" fmla="*/ 5447013 w 5552708"/>
              <a:gd name="connsiteY47" fmla="*/ 1540420 h 6858000"/>
              <a:gd name="connsiteX48" fmla="*/ 5416036 w 5552708"/>
              <a:gd name="connsiteY48" fmla="*/ 1580834 h 6858000"/>
              <a:gd name="connsiteX49" fmla="*/ 5409252 w 5552708"/>
              <a:gd name="connsiteY49" fmla="*/ 1598373 h 6858000"/>
              <a:gd name="connsiteX50" fmla="*/ 5404223 w 5552708"/>
              <a:gd name="connsiteY50" fmla="*/ 1607549 h 6858000"/>
              <a:gd name="connsiteX51" fmla="*/ 5403003 w 5552708"/>
              <a:gd name="connsiteY51" fmla="*/ 1607994 h 6858000"/>
              <a:gd name="connsiteX52" fmla="*/ 5404366 w 5552708"/>
              <a:gd name="connsiteY52" fmla="*/ 1640580 h 6858000"/>
              <a:gd name="connsiteX53" fmla="*/ 5402429 w 5552708"/>
              <a:gd name="connsiteY53" fmla="*/ 1644617 h 6858000"/>
              <a:gd name="connsiteX54" fmla="*/ 5406027 w 5552708"/>
              <a:gd name="connsiteY54" fmla="*/ 1666228 h 6858000"/>
              <a:gd name="connsiteX55" fmla="*/ 5409538 w 5552708"/>
              <a:gd name="connsiteY55" fmla="*/ 1680703 h 6858000"/>
              <a:gd name="connsiteX56" fmla="*/ 5405582 w 5552708"/>
              <a:gd name="connsiteY56" fmla="*/ 1870222 h 6858000"/>
              <a:gd name="connsiteX57" fmla="*/ 5418948 w 5552708"/>
              <a:gd name="connsiteY57" fmla="*/ 1979530 h 6858000"/>
              <a:gd name="connsiteX58" fmla="*/ 5405060 w 5552708"/>
              <a:gd name="connsiteY58" fmla="*/ 2051964 h 6858000"/>
              <a:gd name="connsiteX59" fmla="*/ 5378701 w 5552708"/>
              <a:gd name="connsiteY59" fmla="*/ 2073120 h 6858000"/>
              <a:gd name="connsiteX60" fmla="*/ 5366006 w 5552708"/>
              <a:gd name="connsiteY60" fmla="*/ 2256053 h 6858000"/>
              <a:gd name="connsiteX61" fmla="*/ 5352501 w 5552708"/>
              <a:gd name="connsiteY61" fmla="*/ 2301374 h 6858000"/>
              <a:gd name="connsiteX62" fmla="*/ 5361572 w 5552708"/>
              <a:gd name="connsiteY62" fmla="*/ 2344135 h 6858000"/>
              <a:gd name="connsiteX63" fmla="*/ 5351776 w 5552708"/>
              <a:gd name="connsiteY63" fmla="*/ 2360013 h 6858000"/>
              <a:gd name="connsiteX64" fmla="*/ 5349856 w 5552708"/>
              <a:gd name="connsiteY64" fmla="*/ 2362723 h 6858000"/>
              <a:gd name="connsiteX65" fmla="*/ 5347182 w 5552708"/>
              <a:gd name="connsiteY65" fmla="*/ 2374239 h 6858000"/>
              <a:gd name="connsiteX66" fmla="*/ 5340172 w 5552708"/>
              <a:gd name="connsiteY66" fmla="*/ 2376629 h 6858000"/>
              <a:gd name="connsiteX67" fmla="*/ 5331662 w 5552708"/>
              <a:gd name="connsiteY67" fmla="*/ 2393351 h 6858000"/>
              <a:gd name="connsiteX68" fmla="*/ 5328482 w 5552708"/>
              <a:gd name="connsiteY68" fmla="*/ 2414790 h 6858000"/>
              <a:gd name="connsiteX69" fmla="*/ 5316501 w 5552708"/>
              <a:gd name="connsiteY69" fmla="*/ 2490864 h 6858000"/>
              <a:gd name="connsiteX70" fmla="*/ 5318378 w 5552708"/>
              <a:gd name="connsiteY70" fmla="*/ 2503797 h 6858000"/>
              <a:gd name="connsiteX71" fmla="*/ 5307008 w 5552708"/>
              <a:gd name="connsiteY71" fmla="*/ 2543608 h 6858000"/>
              <a:gd name="connsiteX72" fmla="*/ 5300817 w 5552708"/>
              <a:gd name="connsiteY72" fmla="*/ 2579627 h 6858000"/>
              <a:gd name="connsiteX73" fmla="*/ 5300491 w 5552708"/>
              <a:gd name="connsiteY73" fmla="*/ 2603469 h 6858000"/>
              <a:gd name="connsiteX74" fmla="*/ 5297327 w 5552708"/>
              <a:gd name="connsiteY74" fmla="*/ 2609298 h 6858000"/>
              <a:gd name="connsiteX75" fmla="*/ 5292648 w 5552708"/>
              <a:gd name="connsiteY75" fmla="*/ 2632709 h 6858000"/>
              <a:gd name="connsiteX76" fmla="*/ 5294499 w 5552708"/>
              <a:gd name="connsiteY76" fmla="*/ 2645215 h 6858000"/>
              <a:gd name="connsiteX77" fmla="*/ 5284921 w 5552708"/>
              <a:gd name="connsiteY77" fmla="*/ 2655995 h 6858000"/>
              <a:gd name="connsiteX78" fmla="*/ 5278681 w 5552708"/>
              <a:gd name="connsiteY78" fmla="*/ 2658097 h 6858000"/>
              <a:gd name="connsiteX79" fmla="*/ 5279052 w 5552708"/>
              <a:gd name="connsiteY79" fmla="*/ 2675265 h 6858000"/>
              <a:gd name="connsiteX80" fmla="*/ 5271485 w 5552708"/>
              <a:gd name="connsiteY80" fmla="*/ 2688260 h 6858000"/>
              <a:gd name="connsiteX81" fmla="*/ 5273609 w 5552708"/>
              <a:gd name="connsiteY81" fmla="*/ 2700785 h 6858000"/>
              <a:gd name="connsiteX82" fmla="*/ 5272098 w 5552708"/>
              <a:gd name="connsiteY82" fmla="*/ 2705655 h 6858000"/>
              <a:gd name="connsiteX83" fmla="*/ 5267605 w 5552708"/>
              <a:gd name="connsiteY83" fmla="*/ 2717660 h 6858000"/>
              <a:gd name="connsiteX84" fmla="*/ 5258449 w 5552708"/>
              <a:gd name="connsiteY84" fmla="*/ 2738177 h 6858000"/>
              <a:gd name="connsiteX85" fmla="*/ 5256679 w 5552708"/>
              <a:gd name="connsiteY85" fmla="*/ 2744727 h 6858000"/>
              <a:gd name="connsiteX86" fmla="*/ 5245116 w 5552708"/>
              <a:gd name="connsiteY86" fmla="*/ 2757932 h 6858000"/>
              <a:gd name="connsiteX87" fmla="*/ 5233122 w 5552708"/>
              <a:gd name="connsiteY87" fmla="*/ 2784915 h 6858000"/>
              <a:gd name="connsiteX88" fmla="*/ 5197792 w 5552708"/>
              <a:gd name="connsiteY88" fmla="*/ 2830475 h 6858000"/>
              <a:gd name="connsiteX89" fmla="*/ 5180199 w 5552708"/>
              <a:gd name="connsiteY89" fmla="*/ 2857691 h 6858000"/>
              <a:gd name="connsiteX90" fmla="*/ 5164940 w 5552708"/>
              <a:gd name="connsiteY90" fmla="*/ 2875644 h 6858000"/>
              <a:gd name="connsiteX91" fmla="*/ 5139323 w 5552708"/>
              <a:gd name="connsiteY91" fmla="*/ 2931296 h 6858000"/>
              <a:gd name="connsiteX92" fmla="*/ 5102390 w 5552708"/>
              <a:gd name="connsiteY92" fmla="*/ 3027705 h 6858000"/>
              <a:gd name="connsiteX93" fmla="*/ 5093321 w 5552708"/>
              <a:gd name="connsiteY93" fmla="*/ 3047244 h 6858000"/>
              <a:gd name="connsiteX94" fmla="*/ 5080729 w 5552708"/>
              <a:gd name="connsiteY94" fmla="*/ 3060118 h 6858000"/>
              <a:gd name="connsiteX95" fmla="*/ 5073626 w 5552708"/>
              <a:gd name="connsiteY95" fmla="*/ 3059690 h 6858000"/>
              <a:gd name="connsiteX96" fmla="*/ 5067867 w 5552708"/>
              <a:gd name="connsiteY96" fmla="*/ 3069806 h 6858000"/>
              <a:gd name="connsiteX97" fmla="*/ 5065335 w 5552708"/>
              <a:gd name="connsiteY97" fmla="*/ 3071678 h 6858000"/>
              <a:gd name="connsiteX98" fmla="*/ 5051806 w 5552708"/>
              <a:gd name="connsiteY98" fmla="*/ 3083233 h 6858000"/>
              <a:gd name="connsiteX99" fmla="*/ 5047824 w 5552708"/>
              <a:gd name="connsiteY99" fmla="*/ 3128247 h 6858000"/>
              <a:gd name="connsiteX100" fmla="*/ 5022444 w 5552708"/>
              <a:gd name="connsiteY100" fmla="*/ 3166893 h 6858000"/>
              <a:gd name="connsiteX101" fmla="*/ 4961916 w 5552708"/>
              <a:gd name="connsiteY101" fmla="*/ 3312149 h 6858000"/>
              <a:gd name="connsiteX102" fmla="*/ 4928070 w 5552708"/>
              <a:gd name="connsiteY102" fmla="*/ 3349450 h 6858000"/>
              <a:gd name="connsiteX103" fmla="*/ 4858652 w 5552708"/>
              <a:gd name="connsiteY103" fmla="*/ 3443841 h 6858000"/>
              <a:gd name="connsiteX104" fmla="*/ 4821392 w 5552708"/>
              <a:gd name="connsiteY104" fmla="*/ 3661714 h 6858000"/>
              <a:gd name="connsiteX105" fmla="*/ 4825147 w 5552708"/>
              <a:gd name="connsiteY105" fmla="*/ 3676668 h 6858000"/>
              <a:gd name="connsiteX106" fmla="*/ 4824341 w 5552708"/>
              <a:gd name="connsiteY106" fmla="*/ 3691352 h 6858000"/>
              <a:gd name="connsiteX107" fmla="*/ 4822735 w 5552708"/>
              <a:gd name="connsiteY107" fmla="*/ 3692500 h 6858000"/>
              <a:gd name="connsiteX108" fmla="*/ 4817318 w 5552708"/>
              <a:gd name="connsiteY108" fmla="*/ 3707640 h 6858000"/>
              <a:gd name="connsiteX109" fmla="*/ 4819146 w 5552708"/>
              <a:gd name="connsiteY109" fmla="*/ 3712253 h 6858000"/>
              <a:gd name="connsiteX110" fmla="*/ 4816373 w 5552708"/>
              <a:gd name="connsiteY110" fmla="*/ 3723048 h 6858000"/>
              <a:gd name="connsiteX111" fmla="*/ 4813460 w 5552708"/>
              <a:gd name="connsiteY111" fmla="*/ 3745409 h 6858000"/>
              <a:gd name="connsiteX112" fmla="*/ 4810527 w 5552708"/>
              <a:gd name="connsiteY112" fmla="*/ 3748566 h 6858000"/>
              <a:gd name="connsiteX113" fmla="*/ 4742720 w 5552708"/>
              <a:gd name="connsiteY113" fmla="*/ 3828954 h 6858000"/>
              <a:gd name="connsiteX114" fmla="*/ 4731784 w 5552708"/>
              <a:gd name="connsiteY114" fmla="*/ 3868871 h 6858000"/>
              <a:gd name="connsiteX115" fmla="*/ 4731481 w 5552708"/>
              <a:gd name="connsiteY115" fmla="*/ 3868898 h 6858000"/>
              <a:gd name="connsiteX116" fmla="*/ 4728490 w 5552708"/>
              <a:gd name="connsiteY116" fmla="*/ 3875525 h 6858000"/>
              <a:gd name="connsiteX117" fmla="*/ 4727500 w 5552708"/>
              <a:gd name="connsiteY117" fmla="*/ 3880683 h 6858000"/>
              <a:gd name="connsiteX118" fmla="*/ 4719663 w 5552708"/>
              <a:gd name="connsiteY118" fmla="*/ 3896892 h 6858000"/>
              <a:gd name="connsiteX119" fmla="*/ 4715899 w 5552708"/>
              <a:gd name="connsiteY119" fmla="*/ 3897345 h 6858000"/>
              <a:gd name="connsiteX120" fmla="*/ 4715832 w 5552708"/>
              <a:gd name="connsiteY120" fmla="*/ 3898632 h 6858000"/>
              <a:gd name="connsiteX121" fmla="*/ 4618476 w 5552708"/>
              <a:gd name="connsiteY121" fmla="*/ 4076334 h 6858000"/>
              <a:gd name="connsiteX122" fmla="*/ 4576303 w 5552708"/>
              <a:gd name="connsiteY122" fmla="*/ 4154580 h 6858000"/>
              <a:gd name="connsiteX123" fmla="*/ 4536795 w 5552708"/>
              <a:gd name="connsiteY123" fmla="*/ 4186216 h 6858000"/>
              <a:gd name="connsiteX124" fmla="*/ 4534335 w 5552708"/>
              <a:gd name="connsiteY124" fmla="*/ 4190678 h 6858000"/>
              <a:gd name="connsiteX125" fmla="*/ 4532585 w 5552708"/>
              <a:gd name="connsiteY125" fmla="*/ 4203860 h 6858000"/>
              <a:gd name="connsiteX126" fmla="*/ 4532745 w 5552708"/>
              <a:gd name="connsiteY126" fmla="*/ 4208983 h 6858000"/>
              <a:gd name="connsiteX127" fmla="*/ 4531239 w 5552708"/>
              <a:gd name="connsiteY127" fmla="*/ 4216126 h 6858000"/>
              <a:gd name="connsiteX128" fmla="*/ 4530941 w 5552708"/>
              <a:gd name="connsiteY128" fmla="*/ 4216251 h 6858000"/>
              <a:gd name="connsiteX129" fmla="*/ 4530039 w 5552708"/>
              <a:gd name="connsiteY129" fmla="*/ 4223045 h 6858000"/>
              <a:gd name="connsiteX130" fmla="*/ 4528920 w 5552708"/>
              <a:gd name="connsiteY130" fmla="*/ 4256957 h 6858000"/>
              <a:gd name="connsiteX131" fmla="*/ 4495092 w 5552708"/>
              <a:gd name="connsiteY131" fmla="*/ 4295227 h 6858000"/>
              <a:gd name="connsiteX132" fmla="*/ 4487069 w 5552708"/>
              <a:gd name="connsiteY132" fmla="*/ 4312260 h 6858000"/>
              <a:gd name="connsiteX133" fmla="*/ 4481391 w 5552708"/>
              <a:gd name="connsiteY133" fmla="*/ 4321074 h 6858000"/>
              <a:gd name="connsiteX134" fmla="*/ 4480140 w 5552708"/>
              <a:gd name="connsiteY134" fmla="*/ 4321443 h 6858000"/>
              <a:gd name="connsiteX135" fmla="*/ 4479199 w 5552708"/>
              <a:gd name="connsiteY135" fmla="*/ 4353976 h 6858000"/>
              <a:gd name="connsiteX136" fmla="*/ 4476976 w 5552708"/>
              <a:gd name="connsiteY136" fmla="*/ 4357874 h 6858000"/>
              <a:gd name="connsiteX137" fmla="*/ 4479044 w 5552708"/>
              <a:gd name="connsiteY137" fmla="*/ 4379621 h 6858000"/>
              <a:gd name="connsiteX138" fmla="*/ 4478683 w 5552708"/>
              <a:gd name="connsiteY138" fmla="*/ 4390568 h 6858000"/>
              <a:gd name="connsiteX139" fmla="*/ 4481532 w 5552708"/>
              <a:gd name="connsiteY139" fmla="*/ 4394254 h 6858000"/>
              <a:gd name="connsiteX140" fmla="*/ 4479499 w 5552708"/>
              <a:gd name="connsiteY140" fmla="*/ 4410114 h 6858000"/>
              <a:gd name="connsiteX141" fmla="*/ 4478153 w 5552708"/>
              <a:gd name="connsiteY141" fmla="*/ 4411710 h 6858000"/>
              <a:gd name="connsiteX142" fmla="*/ 4480616 w 5552708"/>
              <a:gd name="connsiteY142" fmla="*/ 4425622 h 6858000"/>
              <a:gd name="connsiteX143" fmla="*/ 4487688 w 5552708"/>
              <a:gd name="connsiteY143" fmla="*/ 4438292 h 6858000"/>
              <a:gd name="connsiteX144" fmla="*/ 4454727 w 5552708"/>
              <a:gd name="connsiteY144" fmla="*/ 4569970 h 6858000"/>
              <a:gd name="connsiteX145" fmla="*/ 4469804 w 5552708"/>
              <a:gd name="connsiteY145" fmla="*/ 4692415 h 6858000"/>
              <a:gd name="connsiteX146" fmla="*/ 4450795 w 5552708"/>
              <a:gd name="connsiteY146" fmla="*/ 4763659 h 6858000"/>
              <a:gd name="connsiteX147" fmla="*/ 4422945 w 5552708"/>
              <a:gd name="connsiteY147" fmla="*/ 4783049 h 6858000"/>
              <a:gd name="connsiteX148" fmla="*/ 4397314 w 5552708"/>
              <a:gd name="connsiteY148" fmla="*/ 4964397 h 6858000"/>
              <a:gd name="connsiteX149" fmla="*/ 4380606 w 5552708"/>
              <a:gd name="connsiteY149" fmla="*/ 5008665 h 6858000"/>
              <a:gd name="connsiteX150" fmla="*/ 4386649 w 5552708"/>
              <a:gd name="connsiteY150" fmla="*/ 5051823 h 6858000"/>
              <a:gd name="connsiteX151" fmla="*/ 4375733 w 5552708"/>
              <a:gd name="connsiteY151" fmla="*/ 5067011 h 6858000"/>
              <a:gd name="connsiteX152" fmla="*/ 4373624 w 5552708"/>
              <a:gd name="connsiteY152" fmla="*/ 5069584 h 6858000"/>
              <a:gd name="connsiteX153" fmla="*/ 4370134 w 5552708"/>
              <a:gd name="connsiteY153" fmla="*/ 5080883 h 6858000"/>
              <a:gd name="connsiteX154" fmla="*/ 4362957 w 5552708"/>
              <a:gd name="connsiteY154" fmla="*/ 5082819 h 6858000"/>
              <a:gd name="connsiteX155" fmla="*/ 4333195 w 5552708"/>
              <a:gd name="connsiteY155" fmla="*/ 5221840 h 6858000"/>
              <a:gd name="connsiteX156" fmla="*/ 4320037 w 5552708"/>
              <a:gd name="connsiteY156" fmla="*/ 5281999 h 6858000"/>
              <a:gd name="connsiteX157" fmla="*/ 4308816 w 5552708"/>
              <a:gd name="connsiteY157" fmla="*/ 5303704 h 6858000"/>
              <a:gd name="connsiteX158" fmla="*/ 4272244 w 5552708"/>
              <a:gd name="connsiteY158" fmla="*/ 5388756 h 6858000"/>
              <a:gd name="connsiteX159" fmla="*/ 4246915 w 5552708"/>
              <a:gd name="connsiteY159" fmla="*/ 5462809 h 6858000"/>
              <a:gd name="connsiteX160" fmla="*/ 4255030 w 5552708"/>
              <a:gd name="connsiteY160" fmla="*/ 5521632 h 6858000"/>
              <a:gd name="connsiteX161" fmla="*/ 4249277 w 5552708"/>
              <a:gd name="connsiteY161" fmla="*/ 5525636 h 6858000"/>
              <a:gd name="connsiteX162" fmla="*/ 4241924 w 5552708"/>
              <a:gd name="connsiteY162" fmla="*/ 5563850 h 6858000"/>
              <a:gd name="connsiteX163" fmla="*/ 4248240 w 5552708"/>
              <a:gd name="connsiteY163" fmla="*/ 5703386 h 6858000"/>
              <a:gd name="connsiteX164" fmla="*/ 4232982 w 5552708"/>
              <a:gd name="connsiteY164" fmla="*/ 5777907 h 6858000"/>
              <a:gd name="connsiteX165" fmla="*/ 4222394 w 5552708"/>
              <a:gd name="connsiteY165" fmla="*/ 5803443 h 6858000"/>
              <a:gd name="connsiteX166" fmla="*/ 4204974 w 5552708"/>
              <a:gd name="connsiteY166" fmla="*/ 5846279 h 6858000"/>
              <a:gd name="connsiteX167" fmla="*/ 4179217 w 5552708"/>
              <a:gd name="connsiteY167" fmla="*/ 5876046 h 6858000"/>
              <a:gd name="connsiteX168" fmla="*/ 4169698 w 5552708"/>
              <a:gd name="connsiteY168" fmla="*/ 5912761 h 6858000"/>
              <a:gd name="connsiteX169" fmla="*/ 4183963 w 5552708"/>
              <a:gd name="connsiteY169" fmla="*/ 5924201 h 6858000"/>
              <a:gd name="connsiteX170" fmla="*/ 4143073 w 5552708"/>
              <a:gd name="connsiteY170" fmla="*/ 6020347 h 6858000"/>
              <a:gd name="connsiteX171" fmla="*/ 4132699 w 5552708"/>
              <a:gd name="connsiteY171" fmla="*/ 6054447 h 6858000"/>
              <a:gd name="connsiteX172" fmla="*/ 4099744 w 5552708"/>
              <a:gd name="connsiteY172" fmla="*/ 6146773 h 6858000"/>
              <a:gd name="connsiteX173" fmla="*/ 4063216 w 5552708"/>
              <a:gd name="connsiteY173" fmla="*/ 6238624 h 6858000"/>
              <a:gd name="connsiteX174" fmla="*/ 4021696 w 5552708"/>
              <a:gd name="connsiteY174" fmla="*/ 6289517 h 6858000"/>
              <a:gd name="connsiteX175" fmla="*/ 3993817 w 5552708"/>
              <a:gd name="connsiteY175" fmla="*/ 6365399 h 6858000"/>
              <a:gd name="connsiteX176" fmla="*/ 3986236 w 5552708"/>
              <a:gd name="connsiteY176" fmla="*/ 6377584 h 6858000"/>
              <a:gd name="connsiteX177" fmla="*/ 3911599 w 5552708"/>
              <a:gd name="connsiteY177" fmla="*/ 6509659 h 6858000"/>
              <a:gd name="connsiteX178" fmla="*/ 3858869 w 5552708"/>
              <a:gd name="connsiteY178" fmla="*/ 6582751 h 6858000"/>
              <a:gd name="connsiteX179" fmla="*/ 3770950 w 5552708"/>
              <a:gd name="connsiteY179" fmla="*/ 6757987 h 6858000"/>
              <a:gd name="connsiteX180" fmla="*/ 3749766 w 5552708"/>
              <a:gd name="connsiteY180" fmla="*/ 6858000 h 6858000"/>
              <a:gd name="connsiteX181" fmla="*/ 12348 w 5552708"/>
              <a:gd name="connsiteY181" fmla="*/ 6858000 h 6858000"/>
              <a:gd name="connsiteX182" fmla="*/ 0 w 5552708"/>
              <a:gd name="connsiteY182" fmla="*/ 67256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Lst>
            <a:rect l="l" t="t" r="r" b="b"/>
            <a:pathLst>
              <a:path w="5552708" h="6858000">
                <a:moveTo>
                  <a:pt x="0" y="0"/>
                </a:moveTo>
                <a:lnTo>
                  <a:pt x="5443651" y="0"/>
                </a:lnTo>
                <a:lnTo>
                  <a:pt x="5443781" y="512"/>
                </a:lnTo>
                <a:cubicBezTo>
                  <a:pt x="5446206" y="7309"/>
                  <a:pt x="5449083" y="15278"/>
                  <a:pt x="5444033" y="20501"/>
                </a:cubicBezTo>
                <a:cubicBezTo>
                  <a:pt x="5435420" y="27795"/>
                  <a:pt x="5439966" y="35996"/>
                  <a:pt x="5439390" y="44768"/>
                </a:cubicBezTo>
                <a:cubicBezTo>
                  <a:pt x="5431962" y="55410"/>
                  <a:pt x="5437588" y="94208"/>
                  <a:pt x="5443913" y="104988"/>
                </a:cubicBezTo>
                <a:cubicBezTo>
                  <a:pt x="5467308" y="131885"/>
                  <a:pt x="5440518" y="182050"/>
                  <a:pt x="5458241" y="204162"/>
                </a:cubicBezTo>
                <a:cubicBezTo>
                  <a:pt x="5460281" y="211583"/>
                  <a:pt x="5460566" y="218611"/>
                  <a:pt x="5459763" y="225360"/>
                </a:cubicBezTo>
                <a:lnTo>
                  <a:pt x="5454996" y="243902"/>
                </a:lnTo>
                <a:lnTo>
                  <a:pt x="5448597" y="248483"/>
                </a:lnTo>
                <a:lnTo>
                  <a:pt x="5448458" y="260196"/>
                </a:lnTo>
                <a:lnTo>
                  <a:pt x="5447150" y="263377"/>
                </a:lnTo>
                <a:cubicBezTo>
                  <a:pt x="5448938" y="273127"/>
                  <a:pt x="5457762" y="301628"/>
                  <a:pt x="5459187" y="318691"/>
                </a:cubicBezTo>
                <a:cubicBezTo>
                  <a:pt x="5456617" y="351374"/>
                  <a:pt x="5481393" y="329570"/>
                  <a:pt x="5455708" y="365759"/>
                </a:cubicBezTo>
                <a:cubicBezTo>
                  <a:pt x="5472236" y="419311"/>
                  <a:pt x="5443611" y="447897"/>
                  <a:pt x="5473651" y="492182"/>
                </a:cubicBezTo>
                <a:cubicBezTo>
                  <a:pt x="5483259" y="556102"/>
                  <a:pt x="5473858" y="624576"/>
                  <a:pt x="5481453" y="689666"/>
                </a:cubicBezTo>
                <a:cubicBezTo>
                  <a:pt x="5481825" y="737836"/>
                  <a:pt x="5505966" y="768312"/>
                  <a:pt x="5488233" y="816332"/>
                </a:cubicBezTo>
                <a:cubicBezTo>
                  <a:pt x="5492515" y="818482"/>
                  <a:pt x="5526923" y="887911"/>
                  <a:pt x="5529718" y="891550"/>
                </a:cubicBezTo>
                <a:lnTo>
                  <a:pt x="5536104" y="903318"/>
                </a:lnTo>
                <a:lnTo>
                  <a:pt x="5535257" y="905308"/>
                </a:lnTo>
                <a:cubicBezTo>
                  <a:pt x="5534066" y="913418"/>
                  <a:pt x="5535399" y="917837"/>
                  <a:pt x="5537840" y="920621"/>
                </a:cubicBezTo>
                <a:lnTo>
                  <a:pt x="5541663" y="922876"/>
                </a:lnTo>
                <a:lnTo>
                  <a:pt x="5544456" y="933037"/>
                </a:lnTo>
                <a:lnTo>
                  <a:pt x="5552708" y="952132"/>
                </a:lnTo>
                <a:lnTo>
                  <a:pt x="5551675" y="956570"/>
                </a:lnTo>
                <a:lnTo>
                  <a:pt x="5531341" y="1064863"/>
                </a:lnTo>
                <a:cubicBezTo>
                  <a:pt x="5534620" y="1074818"/>
                  <a:pt x="5537566" y="1085372"/>
                  <a:pt x="5539998" y="1096340"/>
                </a:cubicBezTo>
                <a:lnTo>
                  <a:pt x="5541075" y="1102915"/>
                </a:lnTo>
                <a:lnTo>
                  <a:pt x="5540822" y="1103143"/>
                </a:lnTo>
                <a:cubicBezTo>
                  <a:pt x="5540471" y="1104784"/>
                  <a:pt x="5540605" y="1107024"/>
                  <a:pt x="5541413" y="1110274"/>
                </a:cubicBezTo>
                <a:lnTo>
                  <a:pt x="5543038" y="1114901"/>
                </a:lnTo>
                <a:cubicBezTo>
                  <a:pt x="5543735" y="1119151"/>
                  <a:pt x="5544432" y="1123402"/>
                  <a:pt x="5545128" y="1127652"/>
                </a:cubicBezTo>
                <a:lnTo>
                  <a:pt x="5544028" y="1132698"/>
                </a:lnTo>
                <a:cubicBezTo>
                  <a:pt x="5534609" y="1151029"/>
                  <a:pt x="5496304" y="1149042"/>
                  <a:pt x="5514811" y="1177140"/>
                </a:cubicBezTo>
                <a:cubicBezTo>
                  <a:pt x="5509719" y="1211798"/>
                  <a:pt x="5486957" y="1231445"/>
                  <a:pt x="5496402" y="1265293"/>
                </a:cubicBezTo>
                <a:cubicBezTo>
                  <a:pt x="5491550" y="1297727"/>
                  <a:pt x="5479431" y="1324727"/>
                  <a:pt x="5481620" y="1353039"/>
                </a:cubicBezTo>
                <a:cubicBezTo>
                  <a:pt x="5473631" y="1363324"/>
                  <a:pt x="5469597" y="1373497"/>
                  <a:pt x="5477938" y="1385038"/>
                </a:cubicBezTo>
                <a:cubicBezTo>
                  <a:pt x="5470625" y="1414924"/>
                  <a:pt x="5455771" y="1420367"/>
                  <a:pt x="5464009" y="1441067"/>
                </a:cubicBezTo>
                <a:cubicBezTo>
                  <a:pt x="5439287" y="1455035"/>
                  <a:pt x="5447714" y="1457216"/>
                  <a:pt x="5453063" y="1466104"/>
                </a:cubicBezTo>
                <a:cubicBezTo>
                  <a:pt x="5453164" y="1466506"/>
                  <a:pt x="5453267" y="1466908"/>
                  <a:pt x="5453368" y="1467310"/>
                </a:cubicBezTo>
                <a:lnTo>
                  <a:pt x="5449849" y="1469198"/>
                </a:lnTo>
                <a:lnTo>
                  <a:pt x="5447717" y="1473816"/>
                </a:lnTo>
                <a:lnTo>
                  <a:pt x="5446906" y="1487106"/>
                </a:lnTo>
                <a:cubicBezTo>
                  <a:pt x="5447081" y="1488810"/>
                  <a:pt x="5447254" y="1490514"/>
                  <a:pt x="5447429" y="1492218"/>
                </a:cubicBezTo>
                <a:cubicBezTo>
                  <a:pt x="5447480" y="1495695"/>
                  <a:pt x="5447119" y="1497953"/>
                  <a:pt x="5446434" y="1499455"/>
                </a:cubicBezTo>
                <a:lnTo>
                  <a:pt x="5446146" y="1499600"/>
                </a:lnTo>
                <a:lnTo>
                  <a:pt x="5445728" y="1506449"/>
                </a:lnTo>
                <a:cubicBezTo>
                  <a:pt x="5445627" y="1518090"/>
                  <a:pt x="5446096" y="1529498"/>
                  <a:pt x="5447013" y="1540420"/>
                </a:cubicBezTo>
                <a:cubicBezTo>
                  <a:pt x="5431084" y="1547368"/>
                  <a:pt x="5443219" y="1588924"/>
                  <a:pt x="5416036" y="1580834"/>
                </a:cubicBezTo>
                <a:cubicBezTo>
                  <a:pt x="5416447" y="1595454"/>
                  <a:pt x="5426812" y="1605684"/>
                  <a:pt x="5409252" y="1598373"/>
                </a:cubicBezTo>
                <a:cubicBezTo>
                  <a:pt x="5408864" y="1603115"/>
                  <a:pt x="5406927" y="1605804"/>
                  <a:pt x="5404223" y="1607549"/>
                </a:cubicBezTo>
                <a:lnTo>
                  <a:pt x="5403003" y="1607994"/>
                </a:lnTo>
                <a:lnTo>
                  <a:pt x="5404366" y="1640580"/>
                </a:lnTo>
                <a:lnTo>
                  <a:pt x="5402429" y="1644617"/>
                </a:lnTo>
                <a:cubicBezTo>
                  <a:pt x="5403628" y="1651821"/>
                  <a:pt x="5404828" y="1659024"/>
                  <a:pt x="5406027" y="1666228"/>
                </a:cubicBezTo>
                <a:lnTo>
                  <a:pt x="5409538" y="1680703"/>
                </a:lnTo>
                <a:lnTo>
                  <a:pt x="5405582" y="1870222"/>
                </a:lnTo>
                <a:cubicBezTo>
                  <a:pt x="5407505" y="1917082"/>
                  <a:pt x="5419912" y="1922890"/>
                  <a:pt x="5418948" y="1979530"/>
                </a:cubicBezTo>
                <a:cubicBezTo>
                  <a:pt x="5381653" y="1974789"/>
                  <a:pt x="5447295" y="2092994"/>
                  <a:pt x="5405060" y="2051964"/>
                </a:cubicBezTo>
                <a:cubicBezTo>
                  <a:pt x="5406099" y="2068965"/>
                  <a:pt x="5389286" y="2084064"/>
                  <a:pt x="5378701" y="2073120"/>
                </a:cubicBezTo>
                <a:cubicBezTo>
                  <a:pt x="5397285" y="2126878"/>
                  <a:pt x="5362129" y="2197651"/>
                  <a:pt x="5366006" y="2256053"/>
                </a:cubicBezTo>
                <a:cubicBezTo>
                  <a:pt x="5334011" y="2283221"/>
                  <a:pt x="5362023" y="2269954"/>
                  <a:pt x="5352501" y="2301374"/>
                </a:cubicBezTo>
                <a:cubicBezTo>
                  <a:pt x="5379308" y="2296096"/>
                  <a:pt x="5332887" y="2338416"/>
                  <a:pt x="5361572" y="2344135"/>
                </a:cubicBezTo>
                <a:cubicBezTo>
                  <a:pt x="5358931" y="2349671"/>
                  <a:pt x="5355467" y="2354856"/>
                  <a:pt x="5351776" y="2360013"/>
                </a:cubicBezTo>
                <a:lnTo>
                  <a:pt x="5349856" y="2362723"/>
                </a:lnTo>
                <a:lnTo>
                  <a:pt x="5347182" y="2374239"/>
                </a:lnTo>
                <a:lnTo>
                  <a:pt x="5340172" y="2376629"/>
                </a:lnTo>
                <a:lnTo>
                  <a:pt x="5331662" y="2393351"/>
                </a:lnTo>
                <a:cubicBezTo>
                  <a:pt x="5329441" y="2399746"/>
                  <a:pt x="5328181" y="2406782"/>
                  <a:pt x="5328482" y="2414790"/>
                </a:cubicBezTo>
                <a:cubicBezTo>
                  <a:pt x="5337359" y="2435605"/>
                  <a:pt x="5319289" y="2463646"/>
                  <a:pt x="5316501" y="2490864"/>
                </a:cubicBezTo>
                <a:cubicBezTo>
                  <a:pt x="5317127" y="2495175"/>
                  <a:pt x="5317754" y="2499486"/>
                  <a:pt x="5318378" y="2503797"/>
                </a:cubicBezTo>
                <a:lnTo>
                  <a:pt x="5307008" y="2543608"/>
                </a:lnTo>
                <a:cubicBezTo>
                  <a:pt x="5304307" y="2555015"/>
                  <a:pt x="5302094" y="2566933"/>
                  <a:pt x="5300817" y="2579627"/>
                </a:cubicBezTo>
                <a:lnTo>
                  <a:pt x="5300491" y="2603469"/>
                </a:lnTo>
                <a:lnTo>
                  <a:pt x="5297327" y="2609298"/>
                </a:lnTo>
                <a:cubicBezTo>
                  <a:pt x="5296149" y="2620041"/>
                  <a:pt x="5302481" y="2635343"/>
                  <a:pt x="5292648" y="2632709"/>
                </a:cubicBezTo>
                <a:lnTo>
                  <a:pt x="5294499" y="2645215"/>
                </a:lnTo>
                <a:lnTo>
                  <a:pt x="5284921" y="2655995"/>
                </a:lnTo>
                <a:cubicBezTo>
                  <a:pt x="5282893" y="2657043"/>
                  <a:pt x="5280790" y="2657749"/>
                  <a:pt x="5278681" y="2658097"/>
                </a:cubicBezTo>
                <a:lnTo>
                  <a:pt x="5279052" y="2675265"/>
                </a:lnTo>
                <a:lnTo>
                  <a:pt x="5271485" y="2688260"/>
                </a:lnTo>
                <a:cubicBezTo>
                  <a:pt x="5272192" y="2692435"/>
                  <a:pt x="5272901" y="2696610"/>
                  <a:pt x="5273609" y="2700785"/>
                </a:cubicBezTo>
                <a:lnTo>
                  <a:pt x="5272098" y="2705655"/>
                </a:lnTo>
                <a:lnTo>
                  <a:pt x="5267605" y="2717660"/>
                </a:lnTo>
                <a:cubicBezTo>
                  <a:pt x="5264770" y="2723740"/>
                  <a:pt x="5261426" y="2730522"/>
                  <a:pt x="5258449" y="2738177"/>
                </a:cubicBezTo>
                <a:lnTo>
                  <a:pt x="5256679" y="2744727"/>
                </a:lnTo>
                <a:lnTo>
                  <a:pt x="5245116" y="2757932"/>
                </a:lnTo>
                <a:cubicBezTo>
                  <a:pt x="5236430" y="2767502"/>
                  <a:pt x="5230416" y="2775146"/>
                  <a:pt x="5233122" y="2784915"/>
                </a:cubicBezTo>
                <a:cubicBezTo>
                  <a:pt x="5221620" y="2799359"/>
                  <a:pt x="5193828" y="2806744"/>
                  <a:pt x="5197792" y="2830475"/>
                </a:cubicBezTo>
                <a:cubicBezTo>
                  <a:pt x="5186798" y="2821932"/>
                  <a:pt x="5192955" y="2855565"/>
                  <a:pt x="5180199" y="2857691"/>
                </a:cubicBezTo>
                <a:cubicBezTo>
                  <a:pt x="5170100" y="2858096"/>
                  <a:pt x="5169614" y="2868393"/>
                  <a:pt x="5164940" y="2875644"/>
                </a:cubicBezTo>
                <a:cubicBezTo>
                  <a:pt x="5154127" y="2879787"/>
                  <a:pt x="5139696" y="2917521"/>
                  <a:pt x="5139323" y="2931296"/>
                </a:cubicBezTo>
                <a:cubicBezTo>
                  <a:pt x="5144210" y="2970932"/>
                  <a:pt x="5099528" y="2996158"/>
                  <a:pt x="5102390" y="3027705"/>
                </a:cubicBezTo>
                <a:cubicBezTo>
                  <a:pt x="5100365" y="3035586"/>
                  <a:pt x="5097192" y="3041915"/>
                  <a:pt x="5093321" y="3047244"/>
                </a:cubicBezTo>
                <a:lnTo>
                  <a:pt x="5080729" y="3060118"/>
                </a:lnTo>
                <a:lnTo>
                  <a:pt x="5073626" y="3059690"/>
                </a:lnTo>
                <a:lnTo>
                  <a:pt x="5067867" y="3069806"/>
                </a:lnTo>
                <a:lnTo>
                  <a:pt x="5065335" y="3071678"/>
                </a:lnTo>
                <a:cubicBezTo>
                  <a:pt x="5060475" y="3075234"/>
                  <a:pt x="5055815" y="3078901"/>
                  <a:pt x="5051806" y="3083233"/>
                </a:cubicBezTo>
                <a:cubicBezTo>
                  <a:pt x="5076417" y="3100024"/>
                  <a:pt x="5021773" y="3122856"/>
                  <a:pt x="5047824" y="3128247"/>
                </a:cubicBezTo>
                <a:cubicBezTo>
                  <a:pt x="5030083" y="3154978"/>
                  <a:pt x="5059535" y="3153095"/>
                  <a:pt x="5022444" y="3166893"/>
                </a:cubicBezTo>
                <a:cubicBezTo>
                  <a:pt x="5009215" y="3225035"/>
                  <a:pt x="4960350" y="3252747"/>
                  <a:pt x="4961916" y="3312149"/>
                </a:cubicBezTo>
                <a:cubicBezTo>
                  <a:pt x="4955371" y="3297387"/>
                  <a:pt x="4932004" y="3332561"/>
                  <a:pt x="4928070" y="3349450"/>
                </a:cubicBezTo>
                <a:cubicBezTo>
                  <a:pt x="4901199" y="3293116"/>
                  <a:pt x="4891428" y="3463059"/>
                  <a:pt x="4858652" y="3443841"/>
                </a:cubicBezTo>
                <a:cubicBezTo>
                  <a:pt x="4840872" y="3495884"/>
                  <a:pt x="4832958" y="3617975"/>
                  <a:pt x="4821392" y="3661714"/>
                </a:cubicBezTo>
                <a:cubicBezTo>
                  <a:pt x="4823621" y="3666551"/>
                  <a:pt x="4824768" y="3671561"/>
                  <a:pt x="4825147" y="3676668"/>
                </a:cubicBezTo>
                <a:lnTo>
                  <a:pt x="4824341" y="3691352"/>
                </a:lnTo>
                <a:lnTo>
                  <a:pt x="4822735" y="3692500"/>
                </a:lnTo>
                <a:cubicBezTo>
                  <a:pt x="4817912" y="3698748"/>
                  <a:pt x="4816795" y="3703524"/>
                  <a:pt x="4817318" y="3707640"/>
                </a:cubicBezTo>
                <a:lnTo>
                  <a:pt x="4819146" y="3712253"/>
                </a:lnTo>
                <a:lnTo>
                  <a:pt x="4816373" y="3723048"/>
                </a:lnTo>
                <a:lnTo>
                  <a:pt x="4813460" y="3745409"/>
                </a:lnTo>
                <a:lnTo>
                  <a:pt x="4810527" y="3748566"/>
                </a:lnTo>
                <a:cubicBezTo>
                  <a:pt x="4798737" y="3762490"/>
                  <a:pt x="4755451" y="3809983"/>
                  <a:pt x="4742720" y="3828954"/>
                </a:cubicBezTo>
                <a:lnTo>
                  <a:pt x="4731784" y="3868871"/>
                </a:lnTo>
                <a:lnTo>
                  <a:pt x="4731481" y="3868898"/>
                </a:lnTo>
                <a:cubicBezTo>
                  <a:pt x="4730422" y="3870084"/>
                  <a:pt x="4729442" y="3872132"/>
                  <a:pt x="4728490" y="3875525"/>
                </a:cubicBezTo>
                <a:lnTo>
                  <a:pt x="4727500" y="3880683"/>
                </a:lnTo>
                <a:lnTo>
                  <a:pt x="4719663" y="3896892"/>
                </a:lnTo>
                <a:lnTo>
                  <a:pt x="4715899" y="3897345"/>
                </a:lnTo>
                <a:cubicBezTo>
                  <a:pt x="4715876" y="3897775"/>
                  <a:pt x="4715854" y="3898203"/>
                  <a:pt x="4715832" y="3898632"/>
                </a:cubicBezTo>
                <a:lnTo>
                  <a:pt x="4618476" y="4076334"/>
                </a:lnTo>
                <a:cubicBezTo>
                  <a:pt x="4617399" y="4112851"/>
                  <a:pt x="4590920" y="4122978"/>
                  <a:pt x="4576303" y="4154580"/>
                </a:cubicBezTo>
                <a:cubicBezTo>
                  <a:pt x="4585172" y="4189077"/>
                  <a:pt x="4550681" y="4172136"/>
                  <a:pt x="4536795" y="4186216"/>
                </a:cubicBezTo>
                <a:lnTo>
                  <a:pt x="4534335" y="4190678"/>
                </a:lnTo>
                <a:lnTo>
                  <a:pt x="4532585" y="4203860"/>
                </a:lnTo>
                <a:cubicBezTo>
                  <a:pt x="4532638" y="4205567"/>
                  <a:pt x="4532692" y="4207276"/>
                  <a:pt x="4532745" y="4208983"/>
                </a:cubicBezTo>
                <a:cubicBezTo>
                  <a:pt x="4532551" y="4212450"/>
                  <a:pt x="4532031" y="4214675"/>
                  <a:pt x="4531239" y="4216126"/>
                </a:cubicBezTo>
                <a:lnTo>
                  <a:pt x="4530941" y="4216251"/>
                </a:lnTo>
                <a:lnTo>
                  <a:pt x="4530039" y="4223045"/>
                </a:lnTo>
                <a:cubicBezTo>
                  <a:pt x="4529114" y="4234633"/>
                  <a:pt x="4528779" y="4246020"/>
                  <a:pt x="4528920" y="4256957"/>
                </a:cubicBezTo>
                <a:cubicBezTo>
                  <a:pt x="4512505" y="4262858"/>
                  <a:pt x="4521695" y="4305010"/>
                  <a:pt x="4495092" y="4295227"/>
                </a:cubicBezTo>
                <a:cubicBezTo>
                  <a:pt x="4494469" y="4309813"/>
                  <a:pt x="4504108" y="4320656"/>
                  <a:pt x="4487069" y="4312260"/>
                </a:cubicBezTo>
                <a:cubicBezTo>
                  <a:pt x="4486347" y="4316957"/>
                  <a:pt x="4484219" y="4319510"/>
                  <a:pt x="4481391" y="4321074"/>
                </a:cubicBezTo>
                <a:lnTo>
                  <a:pt x="4480140" y="4321443"/>
                </a:lnTo>
                <a:lnTo>
                  <a:pt x="4479199" y="4353976"/>
                </a:lnTo>
                <a:lnTo>
                  <a:pt x="4476976" y="4357874"/>
                </a:lnTo>
                <a:cubicBezTo>
                  <a:pt x="4477666" y="4365122"/>
                  <a:pt x="4478355" y="4372372"/>
                  <a:pt x="4479044" y="4379621"/>
                </a:cubicBezTo>
                <a:lnTo>
                  <a:pt x="4478683" y="4390568"/>
                </a:lnTo>
                <a:lnTo>
                  <a:pt x="4481532" y="4394254"/>
                </a:lnTo>
                <a:cubicBezTo>
                  <a:pt x="4482969" y="4397909"/>
                  <a:pt x="4482918" y="4402720"/>
                  <a:pt x="4479499" y="4410114"/>
                </a:cubicBezTo>
                <a:lnTo>
                  <a:pt x="4478153" y="4411710"/>
                </a:lnTo>
                <a:lnTo>
                  <a:pt x="4480616" y="4425622"/>
                </a:lnTo>
                <a:cubicBezTo>
                  <a:pt x="4482131" y="4430247"/>
                  <a:pt x="4484387" y="4434528"/>
                  <a:pt x="4487688" y="4438292"/>
                </a:cubicBezTo>
                <a:cubicBezTo>
                  <a:pt x="4457664" y="4477897"/>
                  <a:pt x="4468221" y="4523123"/>
                  <a:pt x="4454727" y="4569970"/>
                </a:cubicBezTo>
                <a:cubicBezTo>
                  <a:pt x="4417898" y="4583966"/>
                  <a:pt x="4440689" y="4674230"/>
                  <a:pt x="4469804" y="4692415"/>
                </a:cubicBezTo>
                <a:cubicBezTo>
                  <a:pt x="4432851" y="4685322"/>
                  <a:pt x="4490117" y="4807198"/>
                  <a:pt x="4450795" y="4763659"/>
                </a:cubicBezTo>
                <a:cubicBezTo>
                  <a:pt x="4450628" y="4780652"/>
                  <a:pt x="4432755" y="4794620"/>
                  <a:pt x="4422945" y="4783049"/>
                </a:cubicBezTo>
                <a:cubicBezTo>
                  <a:pt x="4437721" y="4837759"/>
                  <a:pt x="4397569" y="4905997"/>
                  <a:pt x="4397314" y="4964397"/>
                </a:cubicBezTo>
                <a:cubicBezTo>
                  <a:pt x="4363407" y="4989414"/>
                  <a:pt x="4392349" y="4977986"/>
                  <a:pt x="4380606" y="5008665"/>
                </a:cubicBezTo>
                <a:cubicBezTo>
                  <a:pt x="4407778" y="5005114"/>
                  <a:pt x="4358378" y="5044304"/>
                  <a:pt x="4386649" y="5051823"/>
                </a:cubicBezTo>
                <a:cubicBezTo>
                  <a:pt x="4383620" y="5057169"/>
                  <a:pt x="4379789" y="5062109"/>
                  <a:pt x="4375733" y="5067011"/>
                </a:cubicBezTo>
                <a:lnTo>
                  <a:pt x="4373624" y="5069584"/>
                </a:lnTo>
                <a:lnTo>
                  <a:pt x="4370134" y="5080883"/>
                </a:lnTo>
                <a:lnTo>
                  <a:pt x="4362957" y="5082819"/>
                </a:lnTo>
                <a:lnTo>
                  <a:pt x="4333195" y="5221840"/>
                </a:lnTo>
                <a:cubicBezTo>
                  <a:pt x="4335888" y="5234770"/>
                  <a:pt x="4329894" y="5274591"/>
                  <a:pt x="4320037" y="5281999"/>
                </a:cubicBezTo>
                <a:cubicBezTo>
                  <a:pt x="4316990" y="5290274"/>
                  <a:pt x="4318795" y="5300010"/>
                  <a:pt x="4308816" y="5303704"/>
                </a:cubicBezTo>
                <a:cubicBezTo>
                  <a:pt x="4300851" y="5321498"/>
                  <a:pt x="4282560" y="5362240"/>
                  <a:pt x="4272244" y="5388756"/>
                </a:cubicBezTo>
                <a:cubicBezTo>
                  <a:pt x="4281980" y="5405143"/>
                  <a:pt x="4255067" y="5425092"/>
                  <a:pt x="4246915" y="5462809"/>
                </a:cubicBezTo>
                <a:cubicBezTo>
                  <a:pt x="4258299" y="5480842"/>
                  <a:pt x="4241233" y="5488203"/>
                  <a:pt x="4255030" y="5521632"/>
                </a:cubicBezTo>
                <a:cubicBezTo>
                  <a:pt x="4253005" y="5522647"/>
                  <a:pt x="4251068" y="5523996"/>
                  <a:pt x="4249277" y="5525636"/>
                </a:cubicBezTo>
                <a:cubicBezTo>
                  <a:pt x="4238872" y="5535166"/>
                  <a:pt x="4235581" y="5552275"/>
                  <a:pt x="4241924" y="5563850"/>
                </a:cubicBezTo>
                <a:cubicBezTo>
                  <a:pt x="4259047" y="5616453"/>
                  <a:pt x="4250256" y="5660812"/>
                  <a:pt x="4248240" y="5703386"/>
                </a:cubicBezTo>
                <a:cubicBezTo>
                  <a:pt x="4243085" y="5751111"/>
                  <a:pt x="4218929" y="5715189"/>
                  <a:pt x="4232982" y="5777907"/>
                </a:cubicBezTo>
                <a:cubicBezTo>
                  <a:pt x="4221558" y="5782651"/>
                  <a:pt x="4219728" y="5790057"/>
                  <a:pt x="4222394" y="5803443"/>
                </a:cubicBezTo>
                <a:cubicBezTo>
                  <a:pt x="4219121" y="5826511"/>
                  <a:pt x="4193576" y="5820653"/>
                  <a:pt x="4204974" y="5846279"/>
                </a:cubicBezTo>
                <a:cubicBezTo>
                  <a:pt x="4191825" y="5839931"/>
                  <a:pt x="4191753" y="5888934"/>
                  <a:pt x="4179217" y="5876046"/>
                </a:cubicBezTo>
                <a:cubicBezTo>
                  <a:pt x="4163863" y="5888983"/>
                  <a:pt x="4183376" y="5899672"/>
                  <a:pt x="4169698" y="5912761"/>
                </a:cubicBezTo>
                <a:cubicBezTo>
                  <a:pt x="4164113" y="5929085"/>
                  <a:pt x="4186281" y="5905514"/>
                  <a:pt x="4183963" y="5924201"/>
                </a:cubicBezTo>
                <a:lnTo>
                  <a:pt x="4143073" y="6020347"/>
                </a:lnTo>
                <a:cubicBezTo>
                  <a:pt x="4148635" y="6035084"/>
                  <a:pt x="4142583" y="6045204"/>
                  <a:pt x="4132699" y="6054447"/>
                </a:cubicBezTo>
                <a:cubicBezTo>
                  <a:pt x="4128762" y="6085993"/>
                  <a:pt x="4111337" y="6112491"/>
                  <a:pt x="4099744" y="6146773"/>
                </a:cubicBezTo>
                <a:cubicBezTo>
                  <a:pt x="4101611" y="6186210"/>
                  <a:pt x="4075513" y="6201974"/>
                  <a:pt x="4063216" y="6238624"/>
                </a:cubicBezTo>
                <a:cubicBezTo>
                  <a:pt x="4076714" y="6279119"/>
                  <a:pt x="4027194" y="6257865"/>
                  <a:pt x="4021696" y="6289517"/>
                </a:cubicBezTo>
                <a:cubicBezTo>
                  <a:pt x="4030060" y="6343907"/>
                  <a:pt x="4004638" y="6285373"/>
                  <a:pt x="3993817" y="6365399"/>
                </a:cubicBezTo>
                <a:cubicBezTo>
                  <a:pt x="3996125" y="6370415"/>
                  <a:pt x="3990553" y="6379380"/>
                  <a:pt x="3986236" y="6377584"/>
                </a:cubicBezTo>
                <a:cubicBezTo>
                  <a:pt x="3984044" y="6395147"/>
                  <a:pt x="3911719" y="6484083"/>
                  <a:pt x="3911599" y="6509659"/>
                </a:cubicBezTo>
                <a:cubicBezTo>
                  <a:pt x="3888028" y="6555694"/>
                  <a:pt x="3870378" y="6548451"/>
                  <a:pt x="3858869" y="6582751"/>
                </a:cubicBezTo>
                <a:cubicBezTo>
                  <a:pt x="3834576" y="6620569"/>
                  <a:pt x="3820634" y="6692927"/>
                  <a:pt x="3770950" y="6757987"/>
                </a:cubicBezTo>
                <a:lnTo>
                  <a:pt x="3749766" y="6858000"/>
                </a:lnTo>
                <a:lnTo>
                  <a:pt x="12348" y="6858000"/>
                </a:lnTo>
                <a:lnTo>
                  <a:pt x="0" y="6725668"/>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036E2DC-9EA0-04E5-6461-0AACC2EAFF2D}"/>
              </a:ext>
            </a:extLst>
          </p:cNvPr>
          <p:cNvSpPr>
            <a:spLocks noGrp="1"/>
          </p:cNvSpPr>
          <p:nvPr>
            <p:ph type="title"/>
          </p:nvPr>
        </p:nvSpPr>
        <p:spPr>
          <a:xfrm>
            <a:off x="1137038" y="896469"/>
            <a:ext cx="3820630" cy="3005643"/>
          </a:xfrm>
        </p:spPr>
        <p:txBody>
          <a:bodyPr anchor="t">
            <a:normAutofit/>
          </a:bodyPr>
          <a:lstStyle/>
          <a:p>
            <a:r>
              <a:rPr lang="en-IN">
                <a:solidFill>
                  <a:schemeClr val="tx1">
                    <a:lumMod val="85000"/>
                    <a:lumOff val="15000"/>
                  </a:schemeClr>
                </a:solidFill>
              </a:rPr>
              <a:t>What Does Planning Mean?</a:t>
            </a:r>
          </a:p>
        </p:txBody>
      </p:sp>
      <p:sp>
        <p:nvSpPr>
          <p:cNvPr id="3" name="Content Placeholder 2">
            <a:extLst>
              <a:ext uri="{FF2B5EF4-FFF2-40B4-BE49-F238E27FC236}">
                <a16:creationId xmlns:a16="http://schemas.microsoft.com/office/drawing/2014/main" id="{70C0E9D5-45DF-3BEC-42AB-8ED6875D9BF7}"/>
              </a:ext>
            </a:extLst>
          </p:cNvPr>
          <p:cNvSpPr>
            <a:spLocks noGrp="1"/>
          </p:cNvSpPr>
          <p:nvPr>
            <p:ph idx="1"/>
          </p:nvPr>
        </p:nvSpPr>
        <p:spPr>
          <a:xfrm>
            <a:off x="6096000" y="896469"/>
            <a:ext cx="4957667" cy="5319430"/>
          </a:xfrm>
        </p:spPr>
        <p:txBody>
          <a:bodyPr>
            <a:normAutofit/>
          </a:bodyPr>
          <a:lstStyle/>
          <a:p>
            <a:pPr lvl="0"/>
            <a:r>
              <a:rPr lang="en-IN" sz="1300">
                <a:solidFill>
                  <a:schemeClr val="tx1">
                    <a:lumMod val="85000"/>
                    <a:lumOff val="15000"/>
                  </a:schemeClr>
                </a:solidFill>
              </a:rPr>
              <a:t>Planning helps an agent organize a complex request instead of trying to answer everything in one step.</a:t>
            </a:r>
          </a:p>
          <a:p>
            <a:pPr lvl="0"/>
            <a:r>
              <a:rPr lang="en-IN" sz="1300">
                <a:solidFill>
                  <a:schemeClr val="tx1">
                    <a:lumMod val="85000"/>
                    <a:lumOff val="15000"/>
                  </a:schemeClr>
                </a:solidFill>
              </a:rPr>
              <a:t>The model can break one large task into smaller actions and determine what needs to happen first, second, and later.</a:t>
            </a:r>
          </a:p>
          <a:p>
            <a:pPr lvl="0"/>
            <a:r>
              <a:rPr lang="en-IN" sz="1300">
                <a:solidFill>
                  <a:schemeClr val="tx1">
                    <a:lumMod val="85000"/>
                    <a:lumOff val="15000"/>
                  </a:schemeClr>
                </a:solidFill>
              </a:rPr>
              <a:t>Some requests may require only one tool call, while more complex requests may need multiple tools and several steps.</a:t>
            </a:r>
          </a:p>
          <a:p>
            <a:pPr lvl="0"/>
            <a:r>
              <a:rPr lang="en-IN" sz="1300">
                <a:solidFill>
                  <a:schemeClr val="tx1">
                    <a:lumMod val="85000"/>
                    <a:lumOff val="15000"/>
                  </a:schemeClr>
                </a:solidFill>
              </a:rPr>
              <a:t>Planning is guided by the instructions given to the Foundation Model, rather than being a separate human-like reasoning system.</a:t>
            </a:r>
          </a:p>
          <a:p>
            <a:endParaRPr lang="en-IN" sz="1300" b="1">
              <a:solidFill>
                <a:schemeClr val="tx1">
                  <a:lumMod val="85000"/>
                  <a:lumOff val="15000"/>
                </a:schemeClr>
              </a:solidFill>
            </a:endParaRPr>
          </a:p>
          <a:p>
            <a:r>
              <a:rPr lang="en-IN" sz="1300" b="1">
                <a:solidFill>
                  <a:schemeClr val="tx1">
                    <a:lumMod val="85000"/>
                    <a:lumOff val="15000"/>
                  </a:schemeClr>
                </a:solidFill>
              </a:rPr>
              <a:t>Example Request:</a:t>
            </a:r>
            <a:endParaRPr lang="en-IN" sz="1300">
              <a:solidFill>
                <a:schemeClr val="tx1">
                  <a:lumMod val="85000"/>
                  <a:lumOff val="15000"/>
                </a:schemeClr>
              </a:solidFill>
            </a:endParaRPr>
          </a:p>
          <a:p>
            <a:r>
              <a:rPr lang="en-IN" sz="1300" b="1">
                <a:solidFill>
                  <a:schemeClr val="tx1">
                    <a:lumMod val="85000"/>
                    <a:lumOff val="15000"/>
                  </a:schemeClr>
                </a:solidFill>
              </a:rPr>
              <a:t>“Find the current price of a product, check whether it is in stock, and calculate the price after a 10% discount.”</a:t>
            </a:r>
            <a:endParaRPr lang="en-IN" sz="1300">
              <a:solidFill>
                <a:schemeClr val="tx1">
                  <a:lumMod val="85000"/>
                  <a:lumOff val="15000"/>
                </a:schemeClr>
              </a:solidFill>
            </a:endParaRPr>
          </a:p>
          <a:p>
            <a:endParaRPr lang="en-IN" sz="1300" b="1">
              <a:solidFill>
                <a:schemeClr val="tx1">
                  <a:lumMod val="85000"/>
                  <a:lumOff val="15000"/>
                </a:schemeClr>
              </a:solidFill>
            </a:endParaRPr>
          </a:p>
          <a:p>
            <a:r>
              <a:rPr lang="en-IN" sz="1300" b="1">
                <a:solidFill>
                  <a:schemeClr val="tx1">
                    <a:lumMod val="85000"/>
                    <a:lumOff val="15000"/>
                  </a:schemeClr>
                </a:solidFill>
              </a:rPr>
              <a:t>Possible Plan:</a:t>
            </a:r>
            <a:endParaRPr lang="en-IN" sz="1300">
              <a:solidFill>
                <a:schemeClr val="tx1">
                  <a:lumMod val="85000"/>
                  <a:lumOff val="15000"/>
                </a:schemeClr>
              </a:solidFill>
            </a:endParaRPr>
          </a:p>
          <a:p>
            <a:pPr lvl="0"/>
            <a:r>
              <a:rPr lang="en-IN" sz="1300">
                <a:solidFill>
                  <a:schemeClr val="tx1">
                    <a:lumMod val="85000"/>
                    <a:lumOff val="15000"/>
                  </a:schemeClr>
                </a:solidFill>
              </a:rPr>
              <a:t>Find the product price.</a:t>
            </a:r>
          </a:p>
          <a:p>
            <a:pPr lvl="0"/>
            <a:r>
              <a:rPr lang="en-IN" sz="1300">
                <a:solidFill>
                  <a:schemeClr val="tx1">
                    <a:lumMod val="85000"/>
                    <a:lumOff val="15000"/>
                  </a:schemeClr>
                </a:solidFill>
              </a:rPr>
              <a:t>Check the current inventory.</a:t>
            </a:r>
          </a:p>
          <a:p>
            <a:pPr lvl="0"/>
            <a:r>
              <a:rPr lang="en-IN" sz="1300">
                <a:solidFill>
                  <a:schemeClr val="tx1">
                    <a:lumMod val="85000"/>
                    <a:lumOff val="15000"/>
                  </a:schemeClr>
                </a:solidFill>
              </a:rPr>
              <a:t>Calculate the 10% discount.</a:t>
            </a:r>
          </a:p>
          <a:p>
            <a:pPr lvl="0"/>
            <a:r>
              <a:rPr lang="en-IN" sz="1300">
                <a:solidFill>
                  <a:schemeClr val="tx1">
                    <a:lumMod val="85000"/>
                    <a:lumOff val="15000"/>
                  </a:schemeClr>
                </a:solidFill>
              </a:rPr>
              <a:t>Combine everything into one clear response.</a:t>
            </a:r>
          </a:p>
        </p:txBody>
      </p:sp>
    </p:spTree>
    <p:extLst>
      <p:ext uri="{BB962C8B-B14F-4D97-AF65-F5344CB8AC3E}">
        <p14:creationId xmlns:p14="http://schemas.microsoft.com/office/powerpoint/2010/main" val="1851237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23E398-E87B-1AB4-A4C1-D387E7755393}"/>
              </a:ext>
            </a:extLst>
          </p:cNvPr>
          <p:cNvSpPr>
            <a:spLocks noGrp="1"/>
          </p:cNvSpPr>
          <p:nvPr>
            <p:ph type="title"/>
          </p:nvPr>
        </p:nvSpPr>
        <p:spPr>
          <a:xfrm>
            <a:off x="686834" y="1153572"/>
            <a:ext cx="3200400" cy="4461163"/>
          </a:xfrm>
        </p:spPr>
        <p:txBody>
          <a:bodyPr>
            <a:normAutofit/>
          </a:bodyPr>
          <a:lstStyle/>
          <a:p>
            <a:r>
              <a:rPr lang="en-IN">
                <a:solidFill>
                  <a:srgbClr val="FFFFFF"/>
                </a:solidFill>
              </a:rPr>
              <a:t>What Are Tools in Agentic AI?</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F971E8C-7605-CC17-9220-7A4357861CA5}"/>
              </a:ext>
            </a:extLst>
          </p:cNvPr>
          <p:cNvSpPr>
            <a:spLocks noGrp="1"/>
          </p:cNvSpPr>
          <p:nvPr>
            <p:ph idx="1"/>
          </p:nvPr>
        </p:nvSpPr>
        <p:spPr>
          <a:xfrm>
            <a:off x="4447308" y="591344"/>
            <a:ext cx="6906491" cy="5585619"/>
          </a:xfrm>
        </p:spPr>
        <p:txBody>
          <a:bodyPr anchor="ctr">
            <a:normAutofit/>
          </a:bodyPr>
          <a:lstStyle/>
          <a:p>
            <a:pPr lvl="0"/>
            <a:r>
              <a:rPr lang="en-IN" sz="1800"/>
              <a:t>A </a:t>
            </a:r>
            <a:r>
              <a:rPr lang="en-IN" sz="1800" b="1"/>
              <a:t>tool</a:t>
            </a:r>
            <a:r>
              <a:rPr lang="en-IN" sz="1800"/>
              <a:t> is an external function or capability that an AI agent is allowed to use when it needs information or an action outside the Foundation Model.</a:t>
            </a:r>
          </a:p>
          <a:p>
            <a:pPr lvl="0"/>
            <a:r>
              <a:rPr lang="en-IN" sz="1800"/>
              <a:t>Tools may connect to databases, APIs, search systems, calculators, AWS services, or business applications.</a:t>
            </a:r>
          </a:p>
          <a:p>
            <a:pPr lvl="0"/>
            <a:r>
              <a:rPr lang="en-IN" sz="1800"/>
              <a:t>In Amazon Bedrock, one common way to provide a tool is through an </a:t>
            </a:r>
            <a:r>
              <a:rPr lang="en-IN" sz="1800" b="1"/>
              <a:t>AWS Lambda function</a:t>
            </a:r>
            <a:r>
              <a:rPr lang="en-IN" sz="1800"/>
              <a:t> that performs the actual operation.</a:t>
            </a:r>
          </a:p>
          <a:p>
            <a:pPr lvl="0"/>
            <a:r>
              <a:rPr lang="en-IN" sz="1800"/>
              <a:t>The agent does not need to understand every detail of the backend system. It mainly needs to know what the tool does, when to use it, and what information it requires.</a:t>
            </a:r>
          </a:p>
          <a:p>
            <a:endParaRPr lang="en-IN" sz="1800" b="1"/>
          </a:p>
          <a:p>
            <a:r>
              <a:rPr lang="en-IN" sz="1800" b="1"/>
              <a:t>Example Tools:</a:t>
            </a:r>
            <a:endParaRPr lang="en-IN" sz="1800"/>
          </a:p>
          <a:p>
            <a:pPr lvl="0"/>
            <a:r>
              <a:rPr lang="en-IN" sz="1800" err="1"/>
              <a:t>get_weather</a:t>
            </a:r>
            <a:r>
              <a:rPr lang="en-IN" sz="1800"/>
              <a:t>(city)</a:t>
            </a:r>
          </a:p>
          <a:p>
            <a:pPr lvl="0"/>
            <a:r>
              <a:rPr lang="en-IN" sz="1800" err="1"/>
              <a:t>check_order_status</a:t>
            </a:r>
            <a:r>
              <a:rPr lang="en-IN" sz="1800"/>
              <a:t>(</a:t>
            </a:r>
            <a:r>
              <a:rPr lang="en-IN" sz="1800" err="1"/>
              <a:t>order_id</a:t>
            </a:r>
            <a:r>
              <a:rPr lang="en-IN" sz="1800"/>
              <a:t>)</a:t>
            </a:r>
          </a:p>
          <a:p>
            <a:pPr lvl="0"/>
            <a:r>
              <a:rPr lang="en-IN" sz="1800" err="1"/>
              <a:t>calculate_tax</a:t>
            </a:r>
            <a:r>
              <a:rPr lang="en-IN" sz="1800"/>
              <a:t>(amount)</a:t>
            </a:r>
          </a:p>
          <a:p>
            <a:pPr lvl="0"/>
            <a:r>
              <a:rPr lang="en-IN" sz="1800" err="1"/>
              <a:t>search_company_policy</a:t>
            </a:r>
            <a:r>
              <a:rPr lang="en-IN" sz="1800"/>
              <a:t>(topic)</a:t>
            </a:r>
          </a:p>
          <a:p>
            <a:pPr lvl="0"/>
            <a:r>
              <a:rPr lang="en-IN" sz="1800" err="1"/>
              <a:t>check_available_appointments</a:t>
            </a:r>
            <a:r>
              <a:rPr lang="en-IN" sz="1800"/>
              <a:t>(date)</a:t>
            </a:r>
          </a:p>
        </p:txBody>
      </p:sp>
    </p:spTree>
    <p:extLst>
      <p:ext uri="{BB962C8B-B14F-4D97-AF65-F5344CB8AC3E}">
        <p14:creationId xmlns:p14="http://schemas.microsoft.com/office/powerpoint/2010/main" val="2922386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F63E03-BAC7-AD2E-E965-1DFC789F8FED}"/>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How Does an Agent Choose a Tool?</a:t>
            </a:r>
          </a:p>
        </p:txBody>
      </p:sp>
      <p:sp>
        <p:nvSpPr>
          <p:cNvPr id="3" name="Content Placeholder 2">
            <a:extLst>
              <a:ext uri="{FF2B5EF4-FFF2-40B4-BE49-F238E27FC236}">
                <a16:creationId xmlns:a16="http://schemas.microsoft.com/office/drawing/2014/main" id="{1B279F7F-076D-A7FF-D725-D9B6A542DAB3}"/>
              </a:ext>
            </a:extLst>
          </p:cNvPr>
          <p:cNvSpPr>
            <a:spLocks noGrp="1"/>
          </p:cNvSpPr>
          <p:nvPr>
            <p:ph idx="1"/>
          </p:nvPr>
        </p:nvSpPr>
        <p:spPr>
          <a:xfrm>
            <a:off x="4810259" y="649480"/>
            <a:ext cx="6555347" cy="5546047"/>
          </a:xfrm>
        </p:spPr>
        <p:txBody>
          <a:bodyPr anchor="ctr">
            <a:normAutofit/>
          </a:bodyPr>
          <a:lstStyle/>
          <a:p>
            <a:pPr lvl="0"/>
            <a:r>
              <a:rPr lang="en-IN" sz="1300"/>
              <a:t>Giving an agent many tools is not enough. Each tool needs a clear description so the model can understand when that tool should be used.</a:t>
            </a:r>
          </a:p>
          <a:p>
            <a:pPr lvl="0"/>
            <a:r>
              <a:rPr lang="en-IN" sz="1300"/>
              <a:t>The Foundation Model compares the user’s request with the descriptions of the available tools and selects the most appropriate one.</a:t>
            </a:r>
          </a:p>
          <a:p>
            <a:pPr lvl="0"/>
            <a:r>
              <a:rPr lang="en-IN" sz="1300"/>
              <a:t>A good tool description explains both the purpose of the tool and the type of task it is designed to handle.</a:t>
            </a:r>
          </a:p>
          <a:p>
            <a:pPr lvl="0"/>
            <a:r>
              <a:rPr lang="en-IN" sz="1300"/>
              <a:t>Poor or unclear descriptions can make similar tools difficult for the model to distinguish.</a:t>
            </a:r>
          </a:p>
          <a:p>
            <a:pPr marL="0" indent="0">
              <a:buNone/>
            </a:pPr>
            <a:endParaRPr lang="en-IN" sz="1300" b="1"/>
          </a:p>
          <a:p>
            <a:r>
              <a:rPr lang="en-IN" sz="1300" b="1"/>
              <a:t>Example:</a:t>
            </a:r>
            <a:endParaRPr lang="en-IN" sz="1300"/>
          </a:p>
          <a:p>
            <a:r>
              <a:rPr lang="en-IN" sz="1300"/>
              <a:t>Available tools:</a:t>
            </a:r>
          </a:p>
          <a:p>
            <a:pPr lvl="0"/>
            <a:r>
              <a:rPr lang="en-IN" sz="1300"/>
              <a:t>Search employee policies</a:t>
            </a:r>
          </a:p>
          <a:p>
            <a:pPr lvl="0"/>
            <a:r>
              <a:rPr lang="en-IN" sz="1300"/>
              <a:t>Check employee vacation balance</a:t>
            </a:r>
          </a:p>
          <a:p>
            <a:pPr lvl="0"/>
            <a:r>
              <a:rPr lang="en-IN" sz="1300"/>
              <a:t>Calculate payroll tax</a:t>
            </a:r>
          </a:p>
          <a:p>
            <a:r>
              <a:rPr lang="en-IN" sz="1300"/>
              <a:t>User asks: </a:t>
            </a:r>
            <a:r>
              <a:rPr lang="en-IN" sz="1300" b="1"/>
              <a:t>“How many vacation days do I have left?”</a:t>
            </a:r>
            <a:endParaRPr lang="en-IN" sz="1300"/>
          </a:p>
          <a:p>
            <a:r>
              <a:rPr lang="en-IN" sz="1300"/>
              <a:t>The agent should identify </a:t>
            </a:r>
            <a:r>
              <a:rPr lang="en-IN" sz="1300" b="1"/>
              <a:t>Check employee vacation balance</a:t>
            </a:r>
            <a:r>
              <a:rPr lang="en-IN" sz="1300"/>
              <a:t> as the correct tool.</a:t>
            </a:r>
          </a:p>
          <a:p>
            <a:endParaRPr lang="en-IN" sz="1300" b="1"/>
          </a:p>
          <a:p>
            <a:r>
              <a:rPr lang="en-IN" sz="1300" b="1"/>
              <a:t>Key Point:</a:t>
            </a:r>
            <a:endParaRPr lang="en-IN" sz="1300"/>
          </a:p>
          <a:p>
            <a:r>
              <a:rPr lang="en-IN" sz="1300" b="1"/>
              <a:t>Tool descriptions guide the model’s decision, not just the developer.</a:t>
            </a:r>
            <a:endParaRPr lang="en-IN" sz="1300"/>
          </a:p>
        </p:txBody>
      </p:sp>
    </p:spTree>
    <p:extLst>
      <p:ext uri="{BB962C8B-B14F-4D97-AF65-F5344CB8AC3E}">
        <p14:creationId xmlns:p14="http://schemas.microsoft.com/office/powerpoint/2010/main" val="134749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F4E893-EC29-AD81-AED5-E0BA470EB59E}"/>
              </a:ext>
            </a:extLst>
          </p:cNvPr>
          <p:cNvSpPr>
            <a:spLocks noGrp="1"/>
          </p:cNvSpPr>
          <p:nvPr>
            <p:ph type="title"/>
          </p:nvPr>
        </p:nvSpPr>
        <p:spPr>
          <a:xfrm>
            <a:off x="1245072" y="1289765"/>
            <a:ext cx="3651101" cy="4270963"/>
          </a:xfrm>
        </p:spPr>
        <p:txBody>
          <a:bodyPr anchor="ctr">
            <a:normAutofit/>
          </a:bodyPr>
          <a:lstStyle/>
          <a:p>
            <a:pPr algn="ctr"/>
            <a:r>
              <a:rPr lang="en-IN" sz="5600">
                <a:solidFill>
                  <a:srgbClr val="FFFFFF"/>
                </a:solidFill>
              </a:rPr>
              <a:t>Amazon Bedrock Action Groups</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78400F84-9732-A74D-23E2-5D1EA9685586}"/>
              </a:ext>
            </a:extLst>
          </p:cNvPr>
          <p:cNvSpPr>
            <a:spLocks noGrp="1"/>
          </p:cNvSpPr>
          <p:nvPr>
            <p:ph idx="1"/>
          </p:nvPr>
        </p:nvSpPr>
        <p:spPr>
          <a:xfrm>
            <a:off x="6297233" y="518400"/>
            <a:ext cx="4771607" cy="5837949"/>
          </a:xfrm>
        </p:spPr>
        <p:txBody>
          <a:bodyPr anchor="ctr">
            <a:normAutofit/>
          </a:bodyPr>
          <a:lstStyle/>
          <a:p>
            <a:pPr lvl="0"/>
            <a:r>
              <a:rPr lang="en-IN" sz="1400">
                <a:solidFill>
                  <a:schemeClr val="tx1">
                    <a:alpha val="80000"/>
                  </a:schemeClr>
                </a:solidFill>
              </a:rPr>
              <a:t>In Amazon Bedrock Agents, external actions can be organized through </a:t>
            </a:r>
            <a:r>
              <a:rPr lang="en-IN" sz="1400" b="1">
                <a:solidFill>
                  <a:schemeClr val="tx1">
                    <a:alpha val="80000"/>
                  </a:schemeClr>
                </a:solidFill>
              </a:rPr>
              <a:t>Action Groups</a:t>
            </a:r>
            <a:r>
              <a:rPr lang="en-IN" sz="1400">
                <a:solidFill>
                  <a:schemeClr val="tx1">
                    <a:alpha val="80000"/>
                  </a:schemeClr>
                </a:solidFill>
              </a:rPr>
              <a:t>.</a:t>
            </a:r>
          </a:p>
          <a:p>
            <a:pPr lvl="0"/>
            <a:r>
              <a:rPr lang="en-IN" sz="1400">
                <a:solidFill>
                  <a:schemeClr val="tx1">
                    <a:alpha val="80000"/>
                  </a:schemeClr>
                </a:solidFill>
              </a:rPr>
              <a:t>An Action Group defines an action the agent is allowed to perform and connects that action to the backend functionality that completes the task.</a:t>
            </a:r>
          </a:p>
          <a:p>
            <a:pPr lvl="0"/>
            <a:r>
              <a:rPr lang="en-IN" sz="1400">
                <a:solidFill>
                  <a:schemeClr val="tx1">
                    <a:alpha val="80000"/>
                  </a:schemeClr>
                </a:solidFill>
              </a:rPr>
              <a:t>The developer describes what the action does and defines the information that the action needs from the user.</a:t>
            </a:r>
          </a:p>
          <a:p>
            <a:pPr lvl="0"/>
            <a:r>
              <a:rPr lang="en-IN" sz="1400">
                <a:solidFill>
                  <a:schemeClr val="tx1">
                    <a:alpha val="80000"/>
                  </a:schemeClr>
                </a:solidFill>
              </a:rPr>
              <a:t>A Lambda function can perform the actual business operation after the Bedrock Agent decides that the Action Group should be used.</a:t>
            </a:r>
          </a:p>
          <a:p>
            <a:endParaRPr lang="en-IN" sz="1400" b="1">
              <a:solidFill>
                <a:schemeClr val="tx1">
                  <a:alpha val="80000"/>
                </a:schemeClr>
              </a:solidFill>
            </a:endParaRPr>
          </a:p>
          <a:p>
            <a:r>
              <a:rPr lang="en-IN" sz="1400" b="1">
                <a:solidFill>
                  <a:schemeClr val="tx1">
                    <a:alpha val="80000"/>
                  </a:schemeClr>
                </a:solidFill>
              </a:rPr>
              <a:t>Example: Check Order Status</a:t>
            </a:r>
            <a:endParaRPr lang="en-IN" sz="1400">
              <a:solidFill>
                <a:schemeClr val="tx1">
                  <a:alpha val="80000"/>
                </a:schemeClr>
              </a:solidFill>
            </a:endParaRPr>
          </a:p>
          <a:p>
            <a:pPr lvl="0"/>
            <a:r>
              <a:rPr lang="en-IN" sz="1400">
                <a:solidFill>
                  <a:schemeClr val="tx1">
                    <a:alpha val="80000"/>
                  </a:schemeClr>
                </a:solidFill>
              </a:rPr>
              <a:t>User asks about an order.</a:t>
            </a:r>
          </a:p>
          <a:p>
            <a:pPr lvl="0"/>
            <a:r>
              <a:rPr lang="en-IN" sz="1400">
                <a:solidFill>
                  <a:schemeClr val="tx1">
                    <a:alpha val="80000"/>
                  </a:schemeClr>
                </a:solidFill>
              </a:rPr>
              <a:t>Bedrock Agent identifies the correct Action Group.</a:t>
            </a:r>
          </a:p>
          <a:p>
            <a:pPr lvl="0"/>
            <a:r>
              <a:rPr lang="en-IN" sz="1400">
                <a:solidFill>
                  <a:schemeClr val="tx1">
                    <a:alpha val="80000"/>
                  </a:schemeClr>
                </a:solidFill>
              </a:rPr>
              <a:t>The order ID is extracted from the request.</a:t>
            </a:r>
          </a:p>
          <a:p>
            <a:pPr lvl="0"/>
            <a:r>
              <a:rPr lang="en-IN" sz="1400">
                <a:solidFill>
                  <a:schemeClr val="tx1">
                    <a:alpha val="80000"/>
                  </a:schemeClr>
                </a:solidFill>
              </a:rPr>
              <a:t>Lambda checks the order system.</a:t>
            </a:r>
          </a:p>
          <a:p>
            <a:pPr lvl="0"/>
            <a:r>
              <a:rPr lang="en-IN" sz="1400">
                <a:solidFill>
                  <a:schemeClr val="tx1">
                    <a:alpha val="80000"/>
                  </a:schemeClr>
                </a:solidFill>
              </a:rPr>
              <a:t>The result is returned to the agent.</a:t>
            </a:r>
          </a:p>
          <a:p>
            <a:pPr lvl="0"/>
            <a:r>
              <a:rPr lang="en-IN" sz="1400">
                <a:solidFill>
                  <a:schemeClr val="tx1">
                    <a:alpha val="80000"/>
                  </a:schemeClr>
                </a:solidFill>
              </a:rPr>
              <a:t>The agent explains the result to the user.</a:t>
            </a: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4529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38F5530-DA31-4B62-8DF9-56A1A3B6B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AEFAF95-013F-4375-AAF4-033AC93F5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68735E28-7236-42D8-A5E1-A0F302FE87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9" name="Oval 28">
              <a:extLst>
                <a:ext uri="{FF2B5EF4-FFF2-40B4-BE49-F238E27FC236}">
                  <a16:creationId xmlns:a16="http://schemas.microsoft.com/office/drawing/2014/main" id="{F3642881-D4B2-4CC2-A287-0FA0006F3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901C50C6-CC43-4D9E-B2AB-F373712E43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26E7187D-0938-461D-BFC5-89EEF35062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34C951A-9754-438B-9D57-E6B93B6E4C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FCCC8FCE-0563-4147-B2A2-7C81702EBE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E68FC26-41A9-4C82-BE7F-E9344CDC4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FBB336D1-2562-4680-B29B-E22C603C0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9EED3885-4010-4FBE-A045-DC59CAE782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3" name="Straight Connector 22">
              <a:extLst>
                <a:ext uri="{FF2B5EF4-FFF2-40B4-BE49-F238E27FC236}">
                  <a16:creationId xmlns:a16="http://schemas.microsoft.com/office/drawing/2014/main" id="{C3D74F45-ED22-46E8-8A8C-85550ED981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F675583-78ED-4BEC-8424-37068227E8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9BD9726-207D-4725-AA6E-5147080D5B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1A43941-4783-4A0B-9385-1952F9F89D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8" name="Rectangle 27">
            <a:extLst>
              <a:ext uri="{FF2B5EF4-FFF2-40B4-BE49-F238E27FC236}">
                <a16:creationId xmlns:a16="http://schemas.microsoft.com/office/drawing/2014/main" id="{B4806F9C-3233-4FC3-B300-D5AA58A5CD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70E3F9FC-BB7B-433D-8A4F-1BCFA582E0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1" name="Straight Connector 30">
              <a:extLst>
                <a:ext uri="{FF2B5EF4-FFF2-40B4-BE49-F238E27FC236}">
                  <a16:creationId xmlns:a16="http://schemas.microsoft.com/office/drawing/2014/main" id="{1406F394-9D6F-4986-A3AF-6EF16DEDE6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4F98CF1-0C8F-435D-846B-D3C506378F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781ACDD-4A0F-4369-A468-3FEC355F8E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BB34D61-E762-4862-9DA8-702D97A362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04F28384-6665-BBD3-7E3D-E84A2B062796}"/>
              </a:ext>
            </a:extLst>
          </p:cNvPr>
          <p:cNvSpPr>
            <a:spLocks noGrp="1"/>
          </p:cNvSpPr>
          <p:nvPr>
            <p:ph type="title"/>
          </p:nvPr>
        </p:nvSpPr>
        <p:spPr>
          <a:xfrm>
            <a:off x="630936" y="630936"/>
            <a:ext cx="5281034" cy="5626957"/>
          </a:xfrm>
          <a:noFill/>
        </p:spPr>
        <p:txBody>
          <a:bodyPr anchor="ctr">
            <a:normAutofit/>
          </a:bodyPr>
          <a:lstStyle/>
          <a:p>
            <a:r>
              <a:rPr lang="en-IN" sz="4800" dirty="0">
                <a:solidFill>
                  <a:schemeClr val="bg1"/>
                </a:solidFill>
              </a:rPr>
              <a:t>Why Tool Parameters Matter</a:t>
            </a:r>
          </a:p>
        </p:txBody>
      </p:sp>
      <p:sp>
        <p:nvSpPr>
          <p:cNvPr id="3" name="Content Placeholder 2">
            <a:extLst>
              <a:ext uri="{FF2B5EF4-FFF2-40B4-BE49-F238E27FC236}">
                <a16:creationId xmlns:a16="http://schemas.microsoft.com/office/drawing/2014/main" id="{E479CBF2-6C88-265C-5088-029907BED89E}"/>
              </a:ext>
            </a:extLst>
          </p:cNvPr>
          <p:cNvSpPr>
            <a:spLocks noGrp="1"/>
          </p:cNvSpPr>
          <p:nvPr>
            <p:ph idx="1"/>
          </p:nvPr>
        </p:nvSpPr>
        <p:spPr>
          <a:xfrm>
            <a:off x="6127601" y="437073"/>
            <a:ext cx="5477803" cy="6103350"/>
          </a:xfrm>
          <a:noFill/>
        </p:spPr>
        <p:txBody>
          <a:bodyPr anchor="ctr">
            <a:normAutofit/>
          </a:bodyPr>
          <a:lstStyle/>
          <a:p>
            <a:pPr lvl="0"/>
            <a:r>
              <a:rPr lang="en-IN" sz="1100" dirty="0">
                <a:solidFill>
                  <a:schemeClr val="bg1"/>
                </a:solidFill>
              </a:rPr>
              <a:t>A tool needs clearly defined input values so the agent knows what information must be sent when the tool is called.</a:t>
            </a:r>
          </a:p>
          <a:p>
            <a:pPr lvl="0"/>
            <a:r>
              <a:rPr lang="en-IN" sz="1100" dirty="0">
                <a:solidFill>
                  <a:schemeClr val="bg1"/>
                </a:solidFill>
              </a:rPr>
              <a:t>Parameters may include a </a:t>
            </a:r>
            <a:r>
              <a:rPr lang="en-IN" sz="1100" b="1" dirty="0">
                <a:solidFill>
                  <a:schemeClr val="bg1"/>
                </a:solidFill>
              </a:rPr>
              <a:t>name, description, data type, and whether the value is required</a:t>
            </a:r>
            <a:r>
              <a:rPr lang="en-IN" sz="1100" dirty="0">
                <a:solidFill>
                  <a:schemeClr val="bg1"/>
                </a:solidFill>
              </a:rPr>
              <a:t>.</a:t>
            </a:r>
          </a:p>
          <a:p>
            <a:pPr lvl="0"/>
            <a:r>
              <a:rPr lang="en-IN" sz="1100" dirty="0">
                <a:solidFill>
                  <a:schemeClr val="bg1"/>
                </a:solidFill>
              </a:rPr>
              <a:t>Clear parameter descriptions help the Foundation Model correctly extract information from the user’s request.</a:t>
            </a:r>
          </a:p>
          <a:p>
            <a:pPr lvl="0"/>
            <a:r>
              <a:rPr lang="en-IN" sz="1100" dirty="0">
                <a:solidFill>
                  <a:schemeClr val="bg1"/>
                </a:solidFill>
              </a:rPr>
              <a:t>A correctly programmed function can still fail if the agent sends incomplete or incorrect parameter values.</a:t>
            </a:r>
          </a:p>
          <a:p>
            <a:pPr marL="0" indent="0">
              <a:buNone/>
            </a:pPr>
            <a:endParaRPr lang="en-IN" sz="1100" b="1" dirty="0">
              <a:solidFill>
                <a:schemeClr val="bg1"/>
              </a:solidFill>
            </a:endParaRPr>
          </a:p>
          <a:p>
            <a:r>
              <a:rPr lang="en-IN" sz="1100" b="1" dirty="0">
                <a:solidFill>
                  <a:schemeClr val="bg1"/>
                </a:solidFill>
              </a:rPr>
              <a:t>Example Tool:</a:t>
            </a:r>
            <a:r>
              <a:rPr lang="en-IN" sz="1100" dirty="0">
                <a:solidFill>
                  <a:schemeClr val="bg1"/>
                </a:solidFill>
              </a:rPr>
              <a:t> </a:t>
            </a:r>
            <a:r>
              <a:rPr lang="en-IN" sz="1100" dirty="0" err="1">
                <a:solidFill>
                  <a:schemeClr val="bg1"/>
                </a:solidFill>
              </a:rPr>
              <a:t>check_flight_status</a:t>
            </a:r>
            <a:endParaRPr lang="en-IN" sz="1100" dirty="0">
              <a:solidFill>
                <a:schemeClr val="bg1"/>
              </a:solidFill>
            </a:endParaRPr>
          </a:p>
          <a:p>
            <a:endParaRPr lang="en-IN" sz="1100" dirty="0">
              <a:solidFill>
                <a:schemeClr val="bg1"/>
              </a:solidFill>
            </a:endParaRPr>
          </a:p>
          <a:p>
            <a:r>
              <a:rPr lang="en-IN" sz="1100" dirty="0">
                <a:solidFill>
                  <a:schemeClr val="bg1"/>
                </a:solidFill>
              </a:rPr>
              <a:t>Required parameters:</a:t>
            </a:r>
          </a:p>
          <a:p>
            <a:pPr lvl="0"/>
            <a:r>
              <a:rPr lang="en-IN" sz="1100" dirty="0" err="1">
                <a:solidFill>
                  <a:schemeClr val="bg1"/>
                </a:solidFill>
              </a:rPr>
              <a:t>flight_number</a:t>
            </a:r>
            <a:endParaRPr lang="en-IN" sz="1100" dirty="0">
              <a:solidFill>
                <a:schemeClr val="bg1"/>
              </a:solidFill>
            </a:endParaRPr>
          </a:p>
          <a:p>
            <a:pPr lvl="0"/>
            <a:r>
              <a:rPr lang="en-IN" sz="1100" dirty="0" err="1">
                <a:solidFill>
                  <a:schemeClr val="bg1"/>
                </a:solidFill>
              </a:rPr>
              <a:t>travel_date</a:t>
            </a:r>
            <a:endParaRPr lang="en-IN" sz="1100" dirty="0">
              <a:solidFill>
                <a:schemeClr val="bg1"/>
              </a:solidFill>
            </a:endParaRPr>
          </a:p>
          <a:p>
            <a:endParaRPr lang="en-IN" sz="1100" dirty="0">
              <a:solidFill>
                <a:schemeClr val="bg1"/>
              </a:solidFill>
            </a:endParaRPr>
          </a:p>
          <a:p>
            <a:r>
              <a:rPr lang="en-IN" sz="1100" dirty="0">
                <a:solidFill>
                  <a:schemeClr val="bg1"/>
                </a:solidFill>
              </a:rPr>
              <a:t>User says: </a:t>
            </a:r>
            <a:r>
              <a:rPr lang="en-IN" sz="1100" b="1" dirty="0">
                <a:solidFill>
                  <a:schemeClr val="bg1"/>
                </a:solidFill>
              </a:rPr>
              <a:t>“Can you check AA102 for tomorrow?”</a:t>
            </a:r>
            <a:endParaRPr lang="en-IN" sz="1100" dirty="0">
              <a:solidFill>
                <a:schemeClr val="bg1"/>
              </a:solidFill>
            </a:endParaRPr>
          </a:p>
          <a:p>
            <a:endParaRPr lang="en-IN" sz="1100" dirty="0">
              <a:solidFill>
                <a:schemeClr val="bg1"/>
              </a:solidFill>
            </a:endParaRPr>
          </a:p>
          <a:p>
            <a:r>
              <a:rPr lang="en-IN" sz="1100" dirty="0">
                <a:solidFill>
                  <a:schemeClr val="bg1"/>
                </a:solidFill>
              </a:rPr>
              <a:t>The agent can identify:</a:t>
            </a:r>
          </a:p>
          <a:p>
            <a:pPr lvl="0"/>
            <a:r>
              <a:rPr lang="en-IN" sz="1100" dirty="0" err="1">
                <a:solidFill>
                  <a:schemeClr val="bg1"/>
                </a:solidFill>
              </a:rPr>
              <a:t>flight_number</a:t>
            </a:r>
            <a:r>
              <a:rPr lang="en-IN" sz="1100" dirty="0">
                <a:solidFill>
                  <a:schemeClr val="bg1"/>
                </a:solidFill>
              </a:rPr>
              <a:t> = AA102</a:t>
            </a:r>
          </a:p>
          <a:p>
            <a:pPr lvl="0"/>
            <a:r>
              <a:rPr lang="en-IN" sz="1100" dirty="0" err="1">
                <a:solidFill>
                  <a:schemeClr val="bg1"/>
                </a:solidFill>
              </a:rPr>
              <a:t>travel_date</a:t>
            </a:r>
            <a:r>
              <a:rPr lang="en-IN" sz="1100" dirty="0">
                <a:solidFill>
                  <a:schemeClr val="bg1"/>
                </a:solidFill>
              </a:rPr>
              <a:t> = tomorrow</a:t>
            </a:r>
          </a:p>
          <a:p>
            <a:endParaRPr lang="en-IN" sz="1100" b="1" dirty="0">
              <a:solidFill>
                <a:schemeClr val="bg1"/>
              </a:solidFill>
            </a:endParaRPr>
          </a:p>
          <a:p>
            <a:r>
              <a:rPr lang="en-IN" sz="1100" b="1" dirty="0">
                <a:solidFill>
                  <a:schemeClr val="bg1"/>
                </a:solidFill>
              </a:rPr>
              <a:t>Main Idea:</a:t>
            </a:r>
            <a:endParaRPr lang="en-IN" sz="1100" dirty="0">
              <a:solidFill>
                <a:schemeClr val="bg1"/>
              </a:solidFill>
            </a:endParaRPr>
          </a:p>
          <a:p>
            <a:r>
              <a:rPr lang="en-IN" sz="1100" b="1" dirty="0">
                <a:solidFill>
                  <a:schemeClr val="bg1"/>
                </a:solidFill>
              </a:rPr>
              <a:t>Good agent design requires both strong backend logic and clear instructions for the model.</a:t>
            </a:r>
            <a:endParaRPr lang="en-IN" sz="1100" dirty="0">
              <a:solidFill>
                <a:schemeClr val="bg1"/>
              </a:solidFill>
            </a:endParaRPr>
          </a:p>
        </p:txBody>
      </p:sp>
    </p:spTree>
    <p:extLst>
      <p:ext uri="{BB962C8B-B14F-4D97-AF65-F5344CB8AC3E}">
        <p14:creationId xmlns:p14="http://schemas.microsoft.com/office/powerpoint/2010/main" val="132648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1" name="Rectangle 10">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0EC01B-E6DC-26B7-6AA6-DFF96695B460}"/>
              </a:ext>
            </a:extLst>
          </p:cNvPr>
          <p:cNvSpPr>
            <a:spLocks noGrp="1"/>
          </p:cNvSpPr>
          <p:nvPr>
            <p:ph type="title"/>
          </p:nvPr>
        </p:nvSpPr>
        <p:spPr>
          <a:xfrm>
            <a:off x="1153618" y="1239927"/>
            <a:ext cx="4008586" cy="4680583"/>
          </a:xfrm>
        </p:spPr>
        <p:txBody>
          <a:bodyPr anchor="ctr">
            <a:normAutofit/>
          </a:bodyPr>
          <a:lstStyle/>
          <a:p>
            <a:r>
              <a:rPr lang="en-IN" sz="5200"/>
              <a:t>What If Information Is Missing?</a:t>
            </a:r>
          </a:p>
        </p:txBody>
      </p:sp>
      <p:sp>
        <p:nvSpPr>
          <p:cNvPr id="3" name="Content Placeholder 2">
            <a:extLst>
              <a:ext uri="{FF2B5EF4-FFF2-40B4-BE49-F238E27FC236}">
                <a16:creationId xmlns:a16="http://schemas.microsoft.com/office/drawing/2014/main" id="{02E55049-D1C6-0E75-E64D-579AF072EDF4}"/>
              </a:ext>
            </a:extLst>
          </p:cNvPr>
          <p:cNvSpPr>
            <a:spLocks noGrp="1"/>
          </p:cNvSpPr>
          <p:nvPr>
            <p:ph idx="1"/>
          </p:nvPr>
        </p:nvSpPr>
        <p:spPr>
          <a:xfrm>
            <a:off x="6291923" y="1239927"/>
            <a:ext cx="4971824" cy="4680583"/>
          </a:xfrm>
        </p:spPr>
        <p:txBody>
          <a:bodyPr anchor="ctr">
            <a:normAutofit/>
          </a:bodyPr>
          <a:lstStyle/>
          <a:p>
            <a:pPr lvl="0"/>
            <a:r>
              <a:rPr lang="en-IN" sz="1300"/>
              <a:t>Users do not always provide every value that a tool needs.</a:t>
            </a:r>
          </a:p>
          <a:p>
            <a:pPr lvl="0"/>
            <a:r>
              <a:rPr lang="en-IN" sz="1300"/>
              <a:t>If required information is missing, the agent should not guess because guessing could lead to an incorrect action or result.</a:t>
            </a:r>
          </a:p>
          <a:p>
            <a:pPr lvl="0"/>
            <a:r>
              <a:rPr lang="en-IN" sz="1300"/>
              <a:t>Amazon Bedrock Agents can be configured so the model asks the user for the missing information before calling the tool.</a:t>
            </a:r>
          </a:p>
          <a:p>
            <a:endParaRPr lang="en-IN" sz="1300" b="1"/>
          </a:p>
          <a:p>
            <a:r>
              <a:rPr lang="en-IN" sz="1300" b="1"/>
              <a:t>Example Conversation:</a:t>
            </a:r>
            <a:endParaRPr lang="en-IN" sz="1300"/>
          </a:p>
          <a:p>
            <a:pPr lvl="0"/>
            <a:r>
              <a:rPr lang="en-IN" sz="1300"/>
              <a:t>User: </a:t>
            </a:r>
            <a:r>
              <a:rPr lang="en-IN" sz="1300" b="1"/>
              <a:t>“Can you check my flight?”</a:t>
            </a:r>
            <a:endParaRPr lang="en-IN" sz="1300"/>
          </a:p>
          <a:p>
            <a:pPr lvl="0"/>
            <a:r>
              <a:rPr lang="en-IN" sz="1300"/>
              <a:t>Agent: </a:t>
            </a:r>
            <a:r>
              <a:rPr lang="en-IN" sz="1300" b="1"/>
              <a:t>“Sure. What is your flight number and travel date?”</a:t>
            </a:r>
            <a:endParaRPr lang="en-IN" sz="1300"/>
          </a:p>
          <a:p>
            <a:pPr lvl="0"/>
            <a:r>
              <a:rPr lang="en-IN" sz="1300"/>
              <a:t>User: </a:t>
            </a:r>
            <a:r>
              <a:rPr lang="en-IN" sz="1300" b="1"/>
              <a:t>“AA102 tomorrow.”</a:t>
            </a:r>
            <a:endParaRPr lang="en-IN" sz="1300"/>
          </a:p>
          <a:p>
            <a:pPr lvl="0"/>
            <a:r>
              <a:rPr lang="en-IN" sz="1300"/>
              <a:t>After receiving the missing information, the agent can safely call the correct tool.</a:t>
            </a:r>
          </a:p>
          <a:p>
            <a:endParaRPr lang="en-IN" sz="1300" b="1"/>
          </a:p>
          <a:p>
            <a:r>
              <a:rPr lang="en-IN" sz="1300" b="1"/>
              <a:t>Key Point:</a:t>
            </a:r>
            <a:endParaRPr lang="en-IN" sz="1300"/>
          </a:p>
          <a:p>
            <a:r>
              <a:rPr lang="en-IN" sz="1300" b="1"/>
              <a:t>A good agent checks whether it has enough information before taking an action.</a:t>
            </a:r>
            <a:endParaRPr lang="en-IN" sz="1300"/>
          </a:p>
        </p:txBody>
      </p:sp>
    </p:spTree>
    <p:extLst>
      <p:ext uri="{BB962C8B-B14F-4D97-AF65-F5344CB8AC3E}">
        <p14:creationId xmlns:p14="http://schemas.microsoft.com/office/powerpoint/2010/main" val="3539057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CA1384-9604-B312-A762-05E26F8700B8}"/>
              </a:ext>
            </a:extLst>
          </p:cNvPr>
          <p:cNvSpPr>
            <a:spLocks noGrp="1"/>
          </p:cNvSpPr>
          <p:nvPr>
            <p:ph type="title"/>
          </p:nvPr>
        </p:nvSpPr>
        <p:spPr>
          <a:xfrm>
            <a:off x="808638" y="386930"/>
            <a:ext cx="9236700" cy="1188950"/>
          </a:xfrm>
        </p:spPr>
        <p:txBody>
          <a:bodyPr anchor="b">
            <a:normAutofit/>
          </a:bodyPr>
          <a:lstStyle/>
          <a:p>
            <a:r>
              <a:rPr lang="en-IN" sz="5400"/>
              <a:t>Knowledge Bases as Agent Tools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11F4004-2F68-B905-C382-202AF6C9F01A}"/>
              </a:ext>
            </a:extLst>
          </p:cNvPr>
          <p:cNvSpPr>
            <a:spLocks noGrp="1"/>
          </p:cNvSpPr>
          <p:nvPr>
            <p:ph idx="1"/>
          </p:nvPr>
        </p:nvSpPr>
        <p:spPr>
          <a:xfrm>
            <a:off x="793660" y="2599509"/>
            <a:ext cx="10143668" cy="3435531"/>
          </a:xfrm>
        </p:spPr>
        <p:txBody>
          <a:bodyPr anchor="ctr">
            <a:normAutofit/>
          </a:bodyPr>
          <a:lstStyle/>
          <a:p>
            <a:pPr lvl="0"/>
            <a:r>
              <a:rPr lang="en-IN" sz="1100"/>
              <a:t>An AI agent can use more than Lambda functions or APIs. It can also use an </a:t>
            </a:r>
            <a:r>
              <a:rPr lang="en-IN" sz="1100" b="1"/>
              <a:t>Amazon Bedrock Knowledge Base</a:t>
            </a:r>
            <a:r>
              <a:rPr lang="en-IN" sz="1100"/>
              <a:t> as a source of trusted information.</a:t>
            </a:r>
          </a:p>
          <a:p>
            <a:pPr lvl="0"/>
            <a:r>
              <a:rPr lang="en-IN" sz="1100"/>
              <a:t>A Knowledge Base retrieves relevant information from company documents or other connected data sources and provides that context to the Foundation Model.</a:t>
            </a:r>
          </a:p>
          <a:p>
            <a:pPr lvl="0"/>
            <a:r>
              <a:rPr lang="en-IN" sz="1100"/>
              <a:t>When connected to an agent, the Knowledge Base becomes another capability that the agent can choose when the user asks a knowledge-based question.</a:t>
            </a:r>
          </a:p>
          <a:p>
            <a:pPr lvl="0"/>
            <a:r>
              <a:rPr lang="en-IN" sz="1100"/>
              <a:t>Instructions can tell the agent when the Knowledge Base is appropriate.</a:t>
            </a:r>
          </a:p>
          <a:p>
            <a:endParaRPr lang="en-IN" sz="1100" b="1"/>
          </a:p>
          <a:p>
            <a:r>
              <a:rPr lang="en-IN" sz="1100" b="1"/>
              <a:t>Example Instruction:</a:t>
            </a:r>
            <a:endParaRPr lang="en-IN" sz="1100"/>
          </a:p>
          <a:p>
            <a:r>
              <a:rPr lang="en-IN" sz="1100" b="1"/>
              <a:t>“Use this Knowledge Base for questions about employee policies and company benefits.”</a:t>
            </a:r>
            <a:endParaRPr lang="en-IN" sz="1100"/>
          </a:p>
          <a:p>
            <a:endParaRPr lang="en-IN" sz="1100" b="1"/>
          </a:p>
          <a:p>
            <a:r>
              <a:rPr lang="en-IN" sz="1100" b="1"/>
              <a:t>Example Request:</a:t>
            </a:r>
            <a:endParaRPr lang="en-IN" sz="1100"/>
          </a:p>
          <a:p>
            <a:r>
              <a:rPr lang="en-IN" sz="1100" b="1"/>
              <a:t>“What is our parental leave policy?”</a:t>
            </a:r>
            <a:endParaRPr lang="en-IN" sz="1100"/>
          </a:p>
          <a:p>
            <a:endParaRPr lang="en-IN" sz="1100"/>
          </a:p>
          <a:p>
            <a:r>
              <a:rPr lang="en-IN" sz="1100"/>
              <a:t>The agent searches the company Knowledge Base and uses the retrieved policy information to answer the user.</a:t>
            </a:r>
          </a:p>
        </p:txBody>
      </p:sp>
    </p:spTree>
    <p:extLst>
      <p:ext uri="{BB962C8B-B14F-4D97-AF65-F5344CB8AC3E}">
        <p14:creationId xmlns:p14="http://schemas.microsoft.com/office/powerpoint/2010/main" val="1489932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DB6049-16CA-0A5D-8A8D-DCC2D2DAF9B5}"/>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What Is Agentic RAG?</a:t>
            </a:r>
          </a:p>
        </p:txBody>
      </p:sp>
      <p:sp>
        <p:nvSpPr>
          <p:cNvPr id="3" name="Content Placeholder 2">
            <a:extLst>
              <a:ext uri="{FF2B5EF4-FFF2-40B4-BE49-F238E27FC236}">
                <a16:creationId xmlns:a16="http://schemas.microsoft.com/office/drawing/2014/main" id="{B773241F-F3EA-3A8A-306B-9146A486274C}"/>
              </a:ext>
            </a:extLst>
          </p:cNvPr>
          <p:cNvSpPr>
            <a:spLocks noGrp="1"/>
          </p:cNvSpPr>
          <p:nvPr>
            <p:ph idx="1"/>
          </p:nvPr>
        </p:nvSpPr>
        <p:spPr>
          <a:xfrm>
            <a:off x="4810259" y="649480"/>
            <a:ext cx="6555347" cy="5546047"/>
          </a:xfrm>
        </p:spPr>
        <p:txBody>
          <a:bodyPr anchor="ctr">
            <a:normAutofit/>
          </a:bodyPr>
          <a:lstStyle/>
          <a:p>
            <a:pPr lvl="0"/>
            <a:r>
              <a:rPr lang="en-IN" sz="1100"/>
              <a:t>Traditional RAG retrieves relevant information and adds that information to the model’s prompt before generating an answer.</a:t>
            </a:r>
          </a:p>
          <a:p>
            <a:pPr lvl="0"/>
            <a:r>
              <a:rPr lang="en-IN" sz="1100"/>
              <a:t>In </a:t>
            </a:r>
            <a:r>
              <a:rPr lang="en-IN" sz="1100" b="1"/>
              <a:t>Agentic RAG</a:t>
            </a:r>
            <a:r>
              <a:rPr lang="en-IN" sz="1100"/>
              <a:t>, retrieval becomes one of several capabilities available to the agent.</a:t>
            </a:r>
          </a:p>
          <a:p>
            <a:pPr lvl="0"/>
            <a:r>
              <a:rPr lang="en-IN" sz="1100"/>
              <a:t>The agent can decide whether it needs a Knowledge Base, another external tool, both of them, or no tool at all.</a:t>
            </a:r>
          </a:p>
          <a:p>
            <a:r>
              <a:rPr lang="en-IN" sz="1100" b="1"/>
              <a:t>Regular RAG Flow:</a:t>
            </a:r>
            <a:endParaRPr lang="en-IN" sz="1100"/>
          </a:p>
          <a:p>
            <a:r>
              <a:rPr lang="en-IN" sz="1100" b="1"/>
              <a:t>Question → Retrieve Context → Foundation Model → Answer</a:t>
            </a:r>
            <a:endParaRPr lang="en-IN" sz="1100"/>
          </a:p>
          <a:p>
            <a:r>
              <a:rPr lang="en-IN" sz="1100" b="1"/>
              <a:t>Agentic RAG Flow:</a:t>
            </a:r>
            <a:endParaRPr lang="en-IN" sz="1100"/>
          </a:p>
          <a:p>
            <a:r>
              <a:rPr lang="en-IN" sz="1100" b="1"/>
              <a:t>Question → Agent Evaluates Task → Selects Needed Tool or Knowledge Base → Uses Result → Final Answer</a:t>
            </a:r>
            <a:endParaRPr lang="en-IN" sz="1100"/>
          </a:p>
          <a:p>
            <a:endParaRPr lang="en-IN" sz="1100" b="1"/>
          </a:p>
          <a:p>
            <a:r>
              <a:rPr lang="en-IN" sz="1100" b="1"/>
              <a:t>Example:</a:t>
            </a:r>
            <a:endParaRPr lang="en-IN" sz="1100"/>
          </a:p>
          <a:p>
            <a:r>
              <a:rPr lang="en-IN" sz="1100"/>
              <a:t>User asks:</a:t>
            </a:r>
          </a:p>
          <a:p>
            <a:r>
              <a:rPr lang="en-IN" sz="1100" b="1"/>
              <a:t>“According to our return policy, can I return this product, and can you start the return?”</a:t>
            </a:r>
            <a:endParaRPr lang="en-IN" sz="1100"/>
          </a:p>
          <a:p>
            <a:endParaRPr lang="en-IN" sz="1100"/>
          </a:p>
          <a:p>
            <a:r>
              <a:rPr lang="en-IN" sz="1100"/>
              <a:t>The agent can:</a:t>
            </a:r>
          </a:p>
          <a:p>
            <a:pPr lvl="0"/>
            <a:r>
              <a:rPr lang="en-IN" sz="1100"/>
              <a:t>Search the Knowledge Base for the return policy.</a:t>
            </a:r>
          </a:p>
          <a:p>
            <a:pPr lvl="0"/>
            <a:r>
              <a:rPr lang="en-IN" sz="1100"/>
              <a:t>Check whether the product qualifies.</a:t>
            </a:r>
          </a:p>
          <a:p>
            <a:pPr lvl="0"/>
            <a:r>
              <a:rPr lang="en-IN" sz="1100"/>
              <a:t>Call a return-processing tool.</a:t>
            </a:r>
          </a:p>
          <a:p>
            <a:pPr lvl="0"/>
            <a:r>
              <a:rPr lang="en-IN" sz="1100"/>
              <a:t>Explain the final result to the user.</a:t>
            </a:r>
          </a:p>
        </p:txBody>
      </p:sp>
    </p:spTree>
    <p:extLst>
      <p:ext uri="{BB962C8B-B14F-4D97-AF65-F5344CB8AC3E}">
        <p14:creationId xmlns:p14="http://schemas.microsoft.com/office/powerpoint/2010/main" val="33035617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43B9CA-A75B-9D01-EB25-D6A0904F1F73}"/>
              </a:ext>
            </a:extLst>
          </p:cNvPr>
          <p:cNvSpPr>
            <a:spLocks noGrp="1"/>
          </p:cNvSpPr>
          <p:nvPr>
            <p:ph type="title"/>
          </p:nvPr>
        </p:nvSpPr>
        <p:spPr>
          <a:xfrm>
            <a:off x="686834" y="1153572"/>
            <a:ext cx="3200400" cy="4461163"/>
          </a:xfrm>
        </p:spPr>
        <p:txBody>
          <a:bodyPr>
            <a:normAutofit/>
          </a:bodyPr>
          <a:lstStyle/>
          <a:p>
            <a:r>
              <a:rPr lang="en-IN">
                <a:solidFill>
                  <a:srgbClr val="FFFFFF"/>
                </a:solidFill>
              </a:rPr>
              <a:t>Example: Employee Support Agent</a:t>
            </a: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503ABBE-31F8-AD65-8B04-18E2B2CCC5D5}"/>
              </a:ext>
            </a:extLst>
          </p:cNvPr>
          <p:cNvSpPr>
            <a:spLocks noGrp="1"/>
          </p:cNvSpPr>
          <p:nvPr>
            <p:ph idx="1"/>
          </p:nvPr>
        </p:nvSpPr>
        <p:spPr>
          <a:xfrm>
            <a:off x="4447308" y="591344"/>
            <a:ext cx="6906491" cy="5585619"/>
          </a:xfrm>
        </p:spPr>
        <p:txBody>
          <a:bodyPr anchor="ctr">
            <a:normAutofit/>
          </a:bodyPr>
          <a:lstStyle/>
          <a:p>
            <a:pPr lvl="0"/>
            <a:r>
              <a:rPr lang="en-IN" sz="1100"/>
              <a:t>Imagine a company creates one AI assistant that helps employees with HR questions and simple HR actions.</a:t>
            </a:r>
          </a:p>
          <a:p>
            <a:r>
              <a:rPr lang="en-IN" sz="1100" b="1"/>
              <a:t>Tool 1 – HR Knowledge Base</a:t>
            </a:r>
            <a:endParaRPr lang="en-IN" sz="1100"/>
          </a:p>
          <a:p>
            <a:pPr lvl="0"/>
            <a:r>
              <a:rPr lang="en-IN" sz="1100"/>
              <a:t>Vacation policies</a:t>
            </a:r>
          </a:p>
          <a:p>
            <a:pPr lvl="0"/>
            <a:r>
              <a:rPr lang="en-IN" sz="1100"/>
              <a:t>Benefits information</a:t>
            </a:r>
          </a:p>
          <a:p>
            <a:pPr lvl="0"/>
            <a:r>
              <a:rPr lang="en-IN" sz="1100"/>
              <a:t>Remote-work rules</a:t>
            </a:r>
          </a:p>
          <a:p>
            <a:pPr lvl="0"/>
            <a:r>
              <a:rPr lang="en-IN" sz="1100"/>
              <a:t>Company procedures</a:t>
            </a:r>
          </a:p>
          <a:p>
            <a:r>
              <a:rPr lang="en-IN" sz="1100" b="1"/>
              <a:t>Tool 2 – Vacation Balance API</a:t>
            </a:r>
            <a:endParaRPr lang="en-IN" sz="1100"/>
          </a:p>
          <a:p>
            <a:pPr lvl="0"/>
            <a:r>
              <a:rPr lang="en-IN" sz="1100"/>
              <a:t>Checks how many vacation days an employee has remaining.</a:t>
            </a:r>
          </a:p>
          <a:p>
            <a:r>
              <a:rPr lang="en-IN" sz="1100" b="1"/>
              <a:t>Tool 3 – Leave Request Function</a:t>
            </a:r>
            <a:endParaRPr lang="en-IN" sz="1100"/>
          </a:p>
          <a:p>
            <a:pPr lvl="0"/>
            <a:r>
              <a:rPr lang="en-IN" sz="1100"/>
              <a:t>Submits a new vacation request for the employee.</a:t>
            </a:r>
          </a:p>
          <a:p>
            <a:r>
              <a:rPr lang="en-IN" sz="1100" b="1"/>
              <a:t>Example Request:</a:t>
            </a:r>
            <a:endParaRPr lang="en-IN" sz="1100"/>
          </a:p>
          <a:p>
            <a:r>
              <a:rPr lang="en-IN" sz="1100" b="1"/>
              <a:t>“According to our policy, can I take five days off next month, and do I have enough vacation days?”</a:t>
            </a:r>
            <a:endParaRPr lang="en-IN" sz="1100"/>
          </a:p>
          <a:p>
            <a:r>
              <a:rPr lang="en-IN" sz="1100" b="1"/>
              <a:t>Agent Workflow:</a:t>
            </a:r>
            <a:endParaRPr lang="en-IN" sz="1100"/>
          </a:p>
          <a:p>
            <a:pPr lvl="0"/>
            <a:r>
              <a:rPr lang="en-IN" sz="1100"/>
              <a:t>Understands that the request contains multiple questions.</a:t>
            </a:r>
          </a:p>
          <a:p>
            <a:pPr lvl="0"/>
            <a:r>
              <a:rPr lang="en-IN" sz="1100"/>
              <a:t>Searches the HR Knowledge Base for vacation rules.</a:t>
            </a:r>
          </a:p>
          <a:p>
            <a:pPr lvl="0"/>
            <a:r>
              <a:rPr lang="en-IN" sz="1100"/>
              <a:t>Calls the vacation-balance tool.</a:t>
            </a:r>
          </a:p>
          <a:p>
            <a:pPr lvl="0"/>
            <a:r>
              <a:rPr lang="en-IN" sz="1100"/>
              <a:t>Combines policy information with employee-specific data.</a:t>
            </a:r>
          </a:p>
          <a:p>
            <a:pPr lvl="0"/>
            <a:r>
              <a:rPr lang="en-IN" sz="1100"/>
              <a:t>Explains whether the request is possible.</a:t>
            </a:r>
          </a:p>
          <a:p>
            <a:pPr lvl="0"/>
            <a:r>
              <a:rPr lang="en-IN" sz="1100"/>
              <a:t>If the user confirms, the agent can use the leave-request tool.</a:t>
            </a:r>
          </a:p>
        </p:txBody>
      </p:sp>
    </p:spTree>
    <p:extLst>
      <p:ext uri="{BB962C8B-B14F-4D97-AF65-F5344CB8AC3E}">
        <p14:creationId xmlns:p14="http://schemas.microsoft.com/office/powerpoint/2010/main" val="205002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A90289-C2E1-6004-7A96-892111130B3F}"/>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From One Agent to Multi-Agent Systems</a:t>
            </a:r>
          </a:p>
        </p:txBody>
      </p:sp>
      <p:sp>
        <p:nvSpPr>
          <p:cNvPr id="3" name="Content Placeholder 2">
            <a:extLst>
              <a:ext uri="{FF2B5EF4-FFF2-40B4-BE49-F238E27FC236}">
                <a16:creationId xmlns:a16="http://schemas.microsoft.com/office/drawing/2014/main" id="{2D4EFE1B-D8B2-ACA3-4214-3AF5FE4A870F}"/>
              </a:ext>
            </a:extLst>
          </p:cNvPr>
          <p:cNvSpPr>
            <a:spLocks noGrp="1"/>
          </p:cNvSpPr>
          <p:nvPr>
            <p:ph idx="1"/>
          </p:nvPr>
        </p:nvSpPr>
        <p:spPr>
          <a:xfrm>
            <a:off x="4810259" y="649480"/>
            <a:ext cx="6555347" cy="5546047"/>
          </a:xfrm>
        </p:spPr>
        <p:txBody>
          <a:bodyPr anchor="ctr">
            <a:normAutofit/>
          </a:bodyPr>
          <a:lstStyle/>
          <a:p>
            <a:pPr lvl="0"/>
            <a:r>
              <a:rPr lang="en-IN" sz="1000"/>
              <a:t>A single agent can handle many tasks, but giving one agent too many responsibilities can make the system harder to manage.</a:t>
            </a:r>
          </a:p>
          <a:p>
            <a:pPr lvl="0"/>
            <a:r>
              <a:rPr lang="en-IN" sz="1000"/>
              <a:t>A larger application can use </a:t>
            </a:r>
            <a:r>
              <a:rPr lang="en-IN" sz="1000" b="1"/>
              <a:t>multiple specialized agents</a:t>
            </a:r>
            <a:r>
              <a:rPr lang="en-IN" sz="1000"/>
              <a:t>, where each agent focuses on one specific area.</a:t>
            </a:r>
          </a:p>
          <a:p>
            <a:pPr lvl="0"/>
            <a:r>
              <a:rPr lang="en-IN" sz="1000"/>
              <a:t>A supervisor or routing component can examine the user’s request and decide which specialized agent should handle each part.</a:t>
            </a:r>
          </a:p>
          <a:p>
            <a:r>
              <a:rPr lang="en-IN" sz="1000" b="1"/>
              <a:t>Example Specialized Agents:</a:t>
            </a:r>
            <a:endParaRPr lang="en-IN" sz="1000"/>
          </a:p>
          <a:p>
            <a:pPr lvl="0"/>
            <a:r>
              <a:rPr lang="en-IN" sz="1000"/>
              <a:t>Payment Agent</a:t>
            </a:r>
          </a:p>
          <a:p>
            <a:pPr lvl="0"/>
            <a:r>
              <a:rPr lang="en-IN" sz="1000"/>
              <a:t>Order Agent</a:t>
            </a:r>
          </a:p>
          <a:p>
            <a:pPr lvl="0"/>
            <a:r>
              <a:rPr lang="en-IN" sz="1000"/>
              <a:t>Shipping Agent</a:t>
            </a:r>
          </a:p>
          <a:p>
            <a:pPr lvl="0"/>
            <a:r>
              <a:rPr lang="en-IN" sz="1000"/>
              <a:t>Product Support Agent</a:t>
            </a:r>
          </a:p>
          <a:p>
            <a:r>
              <a:rPr lang="en-IN" sz="1000" b="1"/>
              <a:t>Example Request:</a:t>
            </a:r>
            <a:endParaRPr lang="en-IN" sz="1000"/>
          </a:p>
          <a:p>
            <a:r>
              <a:rPr lang="en-IN" sz="1000" b="1"/>
              <a:t>“My payment worked, but my order still has not shipped.”</a:t>
            </a:r>
            <a:endParaRPr lang="en-IN" sz="1000"/>
          </a:p>
          <a:p>
            <a:r>
              <a:rPr lang="en-IN" sz="1000"/>
              <a:t>Possible workflow:</a:t>
            </a:r>
          </a:p>
          <a:p>
            <a:pPr lvl="0"/>
            <a:r>
              <a:rPr lang="en-IN" sz="1000"/>
              <a:t>Payment Agent verifies the payment.</a:t>
            </a:r>
          </a:p>
          <a:p>
            <a:pPr lvl="0"/>
            <a:r>
              <a:rPr lang="en-IN" sz="1000"/>
              <a:t>Order Agent checks the order status.</a:t>
            </a:r>
          </a:p>
          <a:p>
            <a:pPr lvl="0"/>
            <a:r>
              <a:rPr lang="en-IN" sz="1000"/>
              <a:t>Shipping Agent checks fulfillment information.</a:t>
            </a:r>
          </a:p>
          <a:p>
            <a:pPr lvl="0"/>
            <a:r>
              <a:rPr lang="en-IN" sz="1000"/>
              <a:t>Results are combined into one final response.</a:t>
            </a:r>
          </a:p>
          <a:p>
            <a:r>
              <a:rPr lang="en-IN" sz="1000" b="1"/>
              <a:t>Why Specialization Helps:</a:t>
            </a:r>
            <a:endParaRPr lang="en-IN" sz="1000"/>
          </a:p>
          <a:p>
            <a:pPr lvl="0"/>
            <a:r>
              <a:rPr lang="en-IN" sz="1000"/>
              <a:t>Smaller set of tools for each agent</a:t>
            </a:r>
          </a:p>
          <a:p>
            <a:pPr lvl="0"/>
            <a:r>
              <a:rPr lang="en-IN" sz="1000"/>
              <a:t>Clearer responsibilities</a:t>
            </a:r>
          </a:p>
          <a:p>
            <a:pPr lvl="0"/>
            <a:r>
              <a:rPr lang="en-IN" sz="1000"/>
              <a:t>More focused instructions</a:t>
            </a:r>
          </a:p>
          <a:p>
            <a:pPr lvl="0"/>
            <a:r>
              <a:rPr lang="en-IN" sz="1000"/>
              <a:t>Easier management of complex workflows</a:t>
            </a:r>
          </a:p>
        </p:txBody>
      </p:sp>
    </p:spTree>
    <p:extLst>
      <p:ext uri="{BB962C8B-B14F-4D97-AF65-F5344CB8AC3E}">
        <p14:creationId xmlns:p14="http://schemas.microsoft.com/office/powerpoint/2010/main" val="2318902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DF5BCB-E17B-41A8-68B5-02243E1226B6}"/>
              </a:ext>
            </a:extLst>
          </p:cNvPr>
          <p:cNvSpPr>
            <a:spLocks noGrp="1"/>
          </p:cNvSpPr>
          <p:nvPr>
            <p:ph type="title"/>
          </p:nvPr>
        </p:nvSpPr>
        <p:spPr>
          <a:xfrm>
            <a:off x="686834" y="1153572"/>
            <a:ext cx="3200400" cy="4461163"/>
          </a:xfrm>
        </p:spPr>
        <p:txBody>
          <a:bodyPr>
            <a:normAutofit/>
          </a:bodyPr>
          <a:lstStyle/>
          <a:p>
            <a:r>
              <a:rPr lang="en-IN">
                <a:solidFill>
                  <a:srgbClr val="FFFFFF"/>
                </a:solidFill>
              </a:rPr>
              <a:t>Key Takeaways &amp; Thank You</a:t>
            </a:r>
          </a:p>
        </p:txBody>
      </p:sp>
      <p:sp>
        <p:nvSpPr>
          <p:cNvPr id="24" name="Arc 2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6BA846F-68AB-4FAC-8C60-63C1AB72D0EF}"/>
              </a:ext>
            </a:extLst>
          </p:cNvPr>
          <p:cNvSpPr>
            <a:spLocks noGrp="1"/>
          </p:cNvSpPr>
          <p:nvPr>
            <p:ph idx="1"/>
          </p:nvPr>
        </p:nvSpPr>
        <p:spPr>
          <a:xfrm>
            <a:off x="4571020" y="319088"/>
            <a:ext cx="6782778" cy="5949440"/>
          </a:xfrm>
        </p:spPr>
        <p:txBody>
          <a:bodyPr anchor="ctr">
            <a:normAutofit/>
          </a:bodyPr>
          <a:lstStyle/>
          <a:p>
            <a:r>
              <a:rPr lang="en-IN" sz="1100" b="1" dirty="0"/>
              <a:t>Key Takeaways</a:t>
            </a:r>
            <a:endParaRPr lang="en-IN" sz="1100" dirty="0"/>
          </a:p>
          <a:p>
            <a:pPr lvl="0"/>
            <a:r>
              <a:rPr lang="en-IN" sz="1100" dirty="0"/>
              <a:t>Agentic AI extends a Foundation Model with </a:t>
            </a:r>
            <a:r>
              <a:rPr lang="en-IN" sz="1100" b="1" dirty="0"/>
              <a:t>memory, planning, instructions, and tools</a:t>
            </a:r>
            <a:r>
              <a:rPr lang="en-IN" sz="1100" dirty="0"/>
              <a:t>.</a:t>
            </a:r>
          </a:p>
          <a:p>
            <a:pPr lvl="0"/>
            <a:r>
              <a:rPr lang="en-IN" sz="1100" dirty="0"/>
              <a:t>Tools allow an agent to work with external systems such as APIs, Lambda functions, databases, and business applications.</a:t>
            </a:r>
          </a:p>
          <a:p>
            <a:pPr lvl="0"/>
            <a:r>
              <a:rPr lang="en-IN" sz="1100" dirty="0"/>
              <a:t>Amazon Bedrock </a:t>
            </a:r>
            <a:r>
              <a:rPr lang="en-IN" sz="1100" b="1" dirty="0"/>
              <a:t>Action Groups</a:t>
            </a:r>
            <a:r>
              <a:rPr lang="en-IN" sz="1100" dirty="0"/>
              <a:t> define the actions that an agent can perform.</a:t>
            </a:r>
          </a:p>
          <a:p>
            <a:pPr lvl="0"/>
            <a:r>
              <a:rPr lang="en-IN" sz="1100" dirty="0"/>
              <a:t>Clear tool descriptions and parameters help the Foundation Model choose and use tools correctly.</a:t>
            </a:r>
          </a:p>
          <a:p>
            <a:pPr lvl="0"/>
            <a:r>
              <a:rPr lang="en-IN" sz="1100" dirty="0"/>
              <a:t>If required information is missing, the agent can ask the user for it before performing an action.</a:t>
            </a:r>
          </a:p>
          <a:p>
            <a:pPr lvl="0"/>
            <a:r>
              <a:rPr lang="en-IN" sz="1100" dirty="0"/>
              <a:t>Amazon Bedrock Knowledge Bases can be connected to agents and used as trusted information sources.</a:t>
            </a:r>
          </a:p>
          <a:p>
            <a:pPr lvl="0"/>
            <a:r>
              <a:rPr lang="en-IN" sz="1100" b="1" dirty="0"/>
              <a:t>Agentic RAG</a:t>
            </a:r>
            <a:r>
              <a:rPr lang="en-IN" sz="1100" dirty="0"/>
              <a:t> allows the agent to decide when retrieval is necessary instead of always performing retrieval automatically.</a:t>
            </a:r>
          </a:p>
          <a:p>
            <a:pPr lvl="0"/>
            <a:r>
              <a:rPr lang="en-IN" sz="1100" dirty="0"/>
              <a:t>Larger AI applications can use specialized agents in a </a:t>
            </a:r>
            <a:r>
              <a:rPr lang="en-IN" sz="1100" b="1" dirty="0"/>
              <a:t>multi-agent system</a:t>
            </a:r>
            <a:r>
              <a:rPr lang="en-IN" sz="1100" dirty="0"/>
              <a:t>.</a:t>
            </a:r>
          </a:p>
          <a:p>
            <a:pPr marL="0" indent="0">
              <a:buNone/>
            </a:pPr>
            <a:endParaRPr lang="en-IN" sz="1100" b="1" dirty="0"/>
          </a:p>
          <a:p>
            <a:r>
              <a:rPr lang="en-IN" sz="1100" b="1" dirty="0"/>
              <a:t>Main Lesson:</a:t>
            </a:r>
            <a:endParaRPr lang="en-IN" sz="1100" dirty="0"/>
          </a:p>
          <a:p>
            <a:r>
              <a:rPr lang="en-IN" sz="1100" b="1" dirty="0"/>
              <a:t>The real power of an AI agent is not that the model knows everything. The power comes from recognizing what it needs, choosing the correct capability, using the result, and continuing toward the user’s goal.</a:t>
            </a:r>
            <a:endParaRPr lang="en-IN" sz="1100" dirty="0"/>
          </a:p>
          <a:p>
            <a:endParaRPr lang="en-IN" sz="1100" b="1" dirty="0"/>
          </a:p>
          <a:p>
            <a:r>
              <a:rPr lang="en-IN" sz="1100" b="1" dirty="0"/>
              <a:t>Thank You</a:t>
            </a:r>
            <a:endParaRPr lang="en-IN" sz="1100" dirty="0"/>
          </a:p>
          <a:p>
            <a:endParaRPr lang="en-IN" sz="1100" dirty="0"/>
          </a:p>
          <a:p>
            <a:r>
              <a:rPr lang="en-IN" sz="1100" dirty="0"/>
              <a:t>Presented by: </a:t>
            </a:r>
            <a:r>
              <a:rPr lang="en-IN" sz="1100" b="1" dirty="0"/>
              <a:t>Akash Patel</a:t>
            </a:r>
            <a:endParaRPr lang="en-IN" sz="1100" dirty="0"/>
          </a:p>
          <a:p>
            <a:r>
              <a:rPr lang="en-IN" sz="1100" b="1" dirty="0"/>
              <a:t>Concordia University Chicago</a:t>
            </a:r>
          </a:p>
          <a:p>
            <a:r>
              <a:rPr lang="en-IN" sz="1100" dirty="0"/>
              <a:t>Special thanks to </a:t>
            </a:r>
            <a:r>
              <a:rPr lang="en-IN" sz="1100" b="1" dirty="0"/>
              <a:t>Professor Dr. Victor </a:t>
            </a:r>
            <a:r>
              <a:rPr lang="en-IN" sz="1100" b="1" dirty="0" err="1"/>
              <a:t>Govindaswamy</a:t>
            </a:r>
            <a:r>
              <a:rPr lang="en-IN" sz="1100" dirty="0"/>
              <a:t> for his continued guidance and support throughout my AWS and Generative AI learning journey.</a:t>
            </a:r>
          </a:p>
        </p:txBody>
      </p:sp>
    </p:spTree>
    <p:extLst>
      <p:ext uri="{BB962C8B-B14F-4D97-AF65-F5344CB8AC3E}">
        <p14:creationId xmlns:p14="http://schemas.microsoft.com/office/powerpoint/2010/main" val="4435660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TotalTime>
  <Words>2123</Words>
  <Application>Microsoft Office PowerPoint</Application>
  <PresentationFormat>Widescreen</PresentationFormat>
  <Paragraphs>208</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Understanding Agentic AI Amazon Bedrock Agents, Tools, Action Groups, and Agentic RAG</vt:lpstr>
      <vt:lpstr>What Is Agentic AI?</vt:lpstr>
      <vt:lpstr>Normal LLM vs. AI Agent</vt:lpstr>
      <vt:lpstr>Main Parts of an AI Agent</vt:lpstr>
      <vt:lpstr>What Does Planning Mean?</vt:lpstr>
      <vt:lpstr>What Are Tools in Agentic AI?</vt:lpstr>
      <vt:lpstr>How Does an Agent Choose a Tool?</vt:lpstr>
      <vt:lpstr>Amazon Bedrock Action Groups</vt:lpstr>
      <vt:lpstr>Why Tool Parameters Matter</vt:lpstr>
      <vt:lpstr>What If Information Is Missing?</vt:lpstr>
      <vt:lpstr>Knowledge Bases as Agent Tools</vt:lpstr>
      <vt:lpstr>What Is Agentic RAG?</vt:lpstr>
      <vt:lpstr>Example: Employee Support Agent</vt:lpstr>
      <vt:lpstr>From One Agent to Multi-Agent Systems</vt:lpstr>
      <vt:lpstr>Key Takeaways &amp;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Akash Patel</dc:creator>
  <cp:lastModifiedBy>Akash Patel</cp:lastModifiedBy>
  <cp:revision>4</cp:revision>
  <dcterms:created xsi:type="dcterms:W3CDTF">2026-10-08T02:54:46Z</dcterms:created>
  <dcterms:modified xsi:type="dcterms:W3CDTF">2026-10-12T23:22:06Z</dcterms:modified>
</cp:coreProperties>
</file>